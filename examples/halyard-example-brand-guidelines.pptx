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731520" y="640080"/>
            <a:ext cx="2365048" cy="685799"/>
          </a:xfrm>
          <a:prstGeom prst="rect">
            <a:avLst/>
          </a:prstGeom>
        </p:spPr>
      </p:pic>
      <p:sp>
        <p:nvSpPr>
          <p:cNvPr id="3" name="TextBox 2"/>
          <p:cNvSpPr txBox="1"/>
          <p:nvPr/>
        </p:nvSpPr>
        <p:spPr>
          <a:xfrm>
            <a:off x="731520" y="2651760"/>
            <a:ext cx="8229600" cy="914400"/>
          </a:xfrm>
          <a:prstGeom prst="rect">
            <a:avLst/>
          </a:prstGeom>
          <a:noFill/>
        </p:spPr>
        <p:txBody>
          <a:bodyPr wrap="square" lIns="0" rIns="0" tIns="0" bIns="0" anchor="t">
            <a:spAutoFit/>
          </a:bodyPr>
          <a:lstStyle/>
          <a:p>
            <a:pPr algn="l">
              <a:spcAft>
                <a:spcPts val="400"/>
              </a:spcAft>
            </a:pPr>
            <a:r>
              <a:rPr sz="5400" b="0" i="0">
                <a:solidFill>
                  <a:srgbClr val="FFFFFF"/>
                </a:solidFill>
                <a:latin typeface="Inter Display"/>
              </a:rPr>
              <a:t>Brand Guidelines</a:t>
            </a:r>
          </a:p>
        </p:txBody>
      </p:sp>
      <p:sp>
        <p:nvSpPr>
          <p:cNvPr id="4" name="TextBox 3"/>
          <p:cNvSpPr txBox="1"/>
          <p:nvPr/>
        </p:nvSpPr>
        <p:spPr>
          <a:xfrm>
            <a:off x="749808" y="3703320"/>
            <a:ext cx="8229600" cy="548640"/>
          </a:xfrm>
          <a:prstGeom prst="rect">
            <a:avLst/>
          </a:prstGeom>
          <a:noFill/>
        </p:spPr>
        <p:txBody>
          <a:bodyPr wrap="square" lIns="0" rIns="0" tIns="0" bIns="0" anchor="t">
            <a:spAutoFit/>
          </a:bodyPr>
          <a:lstStyle/>
          <a:p>
            <a:pPr algn="l">
              <a:spcAft>
                <a:spcPts val="400"/>
              </a:spcAft>
            </a:pPr>
            <a:r>
              <a:rPr sz="1600" b="0" i="0">
                <a:solidFill>
                  <a:srgbClr val="B6C0D0"/>
                </a:solidFill>
                <a:latin typeface="Inter"/>
              </a:rPr>
              <a:t>Security that keeps its head above water</a:t>
            </a:r>
          </a:p>
        </p:txBody>
      </p:sp>
      <p:sp>
        <p:nvSpPr>
          <p:cNvPr id="5" name="Rectangle 4"/>
          <p:cNvSpPr/>
          <p:nvPr/>
        </p:nvSpPr>
        <p:spPr>
          <a:xfrm>
            <a:off x="749808" y="4434840"/>
            <a:ext cx="822960" cy="54864"/>
          </a:xfrm>
          <a:prstGeom prst="rect">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6035040"/>
            <a:ext cx="7315200" cy="274320"/>
          </a:xfrm>
          <a:prstGeom prst="rect">
            <a:avLst/>
          </a:prstGeom>
          <a:noFill/>
        </p:spPr>
        <p:txBody>
          <a:bodyPr wrap="square" lIns="0" rIns="0" tIns="0" bIns="0" anchor="t">
            <a:spAutoFit/>
          </a:bodyPr>
          <a:lstStyle/>
          <a:p>
            <a:pPr algn="l">
              <a:spcAft>
                <a:spcPts val="400"/>
              </a:spcAft>
            </a:pPr>
            <a:r>
              <a:rPr sz="900" b="0" i="0">
                <a:solidFill>
                  <a:srgbClr val="B6C0D0"/>
                </a:solidFill>
                <a:latin typeface="Inter"/>
              </a:rPr>
              <a:t>Version 1.0 | October 2026</a:t>
            </a:r>
          </a:p>
        </p:txBody>
      </p:sp>
      <p:sp>
        <p:nvSpPr>
          <p:cNvPr id="7" name="TextBox 6"/>
          <p:cNvSpPr txBox="1"/>
          <p:nvPr/>
        </p:nvSpPr>
        <p:spPr>
          <a:xfrm>
            <a:off x="7345375" y="6035040"/>
            <a:ext cx="4114800" cy="274320"/>
          </a:xfrm>
          <a:prstGeom prst="rect">
            <a:avLst/>
          </a:prstGeom>
          <a:noFill/>
        </p:spPr>
        <p:txBody>
          <a:bodyPr wrap="square" lIns="0" rIns="0" tIns="0" bIns="0" anchor="t">
            <a:spAutoFit/>
          </a:bodyPr>
          <a:lstStyle/>
          <a:p>
            <a:pPr algn="r">
              <a:spcAft>
                <a:spcPts val="400"/>
              </a:spcAft>
            </a:pPr>
            <a:r>
              <a:rPr sz="900" b="0" i="0">
                <a:solidFill>
                  <a:srgbClr val="B6C0D0"/>
                </a:solidFill>
                <a:latin typeface="Inter"/>
              </a:rPr>
              <a:t>© Halyard.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1097280"/>
            <a:ext cx="134599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31520" y="1097280"/>
            <a:ext cx="134599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ABOUT THIS GUIDE</a:t>
            </a:r>
          </a:p>
        </p:txBody>
      </p:sp>
      <p:sp>
        <p:nvSpPr>
          <p:cNvPr id="4" name="TextBox 3"/>
          <p:cNvSpPr txBox="1"/>
          <p:nvPr/>
        </p:nvSpPr>
        <p:spPr>
          <a:xfrm>
            <a:off x="731520" y="1508760"/>
            <a:ext cx="6949440" cy="3200400"/>
          </a:xfrm>
          <a:prstGeom prst="rect">
            <a:avLst/>
          </a:prstGeom>
          <a:noFill/>
        </p:spPr>
        <p:txBody>
          <a:bodyPr wrap="square" lIns="0" rIns="0" tIns="0" bIns="0" anchor="t">
            <a:spAutoFit/>
          </a:bodyPr>
          <a:lstStyle/>
          <a:p>
            <a:pPr algn="l">
              <a:lnSpc>
                <a:spcPct val="120000"/>
              </a:lnSpc>
              <a:spcAft>
                <a:spcPts val="400"/>
              </a:spcAft>
            </a:pPr>
            <a:r>
              <a:rPr sz="1700" b="0" i="0">
                <a:solidFill>
                  <a:srgbClr val="0E1525"/>
                </a:solidFill>
                <a:latin typeface="Inter Display"/>
              </a:rPr>
              <a:t>This guide shows how to present the Halyard brand consistently. It is for employees, agencies, partners, and AI design tools. The rules are fixed; creativity inside them is encouraged.</a:t>
            </a:r>
          </a:p>
        </p:txBody>
      </p:sp>
      <p:sp>
        <p:nvSpPr>
          <p:cNvPr id="5" name="TextBox 4"/>
          <p:cNvSpPr txBox="1"/>
          <p:nvPr/>
        </p:nvSpPr>
        <p:spPr>
          <a:xfrm>
            <a:off x="8412480" y="1554480"/>
            <a:ext cx="3108960" cy="4114800"/>
          </a:xfrm>
          <a:prstGeom prst="rect">
            <a:avLst/>
          </a:prstGeom>
          <a:noFill/>
        </p:spPr>
        <p:txBody>
          <a:bodyPr wrap="square" lIns="0" rIns="0" tIns="0" bIns="0" anchor="t">
            <a:spAutoFit/>
          </a:bodyPr>
          <a:lstStyle/>
          <a:p>
            <a:pPr algn="l">
              <a:spcAft>
                <a:spcPts val="600"/>
              </a:spcAft>
            </a:pPr>
            <a:r>
              <a:rPr sz="1050" b="1" i="0">
                <a:solidFill>
                  <a:srgbClr val="0E1525"/>
                </a:solidFill>
                <a:latin typeface="Inter"/>
              </a:rPr>
              <a:t>Who it is for</a:t>
            </a:r>
          </a:p>
          <a:p>
            <a:pPr algn="l">
              <a:spcAft>
                <a:spcPts val="600"/>
              </a:spcAft>
            </a:pPr>
            <a:r>
              <a:rPr sz="1050" b="0" i="0">
                <a:solidFill>
                  <a:srgbClr val="6B778C"/>
                </a:solidFill>
                <a:latin typeface="Inter"/>
              </a:rPr>
              <a:t>Marketing, sales, product, agencies, and partners producing anything with our name on it.</a:t>
            </a:r>
          </a:p>
          <a:p>
            <a:pPr algn="l">
              <a:spcAft>
                <a:spcPts val="600"/>
              </a:spcAft>
            </a:pPr>
            <a:r>
              <a:rPr sz="1050" b="1" i="0">
                <a:solidFill>
                  <a:srgbClr val="0E1525"/>
                </a:solidFill>
                <a:latin typeface="Inter"/>
              </a:rPr>
              <a:t>Where to get files</a:t>
            </a:r>
          </a:p>
          <a:p>
            <a:pPr algn="l">
              <a:spcAft>
                <a:spcPts val="600"/>
              </a:spcAft>
            </a:pPr>
            <a:r>
              <a:rPr sz="1050" b="0" i="0">
                <a:solidFill>
                  <a:srgbClr val="6B778C"/>
                </a:solidFill>
                <a:latin typeface="Inter"/>
              </a:rPr>
              <a:t>brand.halyard.example (logos, fonts, templates)</a:t>
            </a:r>
          </a:p>
        </p:txBody>
      </p:sp>
      <p:sp>
        <p:nvSpPr>
          <p:cNvPr id="6" name="TextBox 5"/>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Introduction</a:t>
            </a:r>
          </a:p>
        </p:txBody>
      </p:sp>
      <p:sp>
        <p:nvSpPr>
          <p:cNvPr id="7" name="TextBox 6"/>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 / 41</a:t>
            </a:r>
          </a:p>
        </p:txBody>
      </p:sp>
      <p:pic>
        <p:nvPicPr>
          <p:cNvPr id="8" name="Picture 7"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77639" cy="6858000"/>
          </a:xfrm>
          <a:prstGeom prst="rect">
            <a:avLst/>
          </a:prstGeom>
          <a:solidFill>
            <a:srgbClr val="0E1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1097280"/>
            <a:ext cx="3063239" cy="914400"/>
          </a:xfrm>
          <a:prstGeom prst="rect">
            <a:avLst/>
          </a:prstGeom>
          <a:noFill/>
        </p:spPr>
        <p:txBody>
          <a:bodyPr wrap="square" lIns="0" rIns="0" tIns="0" bIns="0" anchor="t">
            <a:spAutoFit/>
          </a:bodyPr>
          <a:lstStyle/>
          <a:p>
            <a:pPr algn="l">
              <a:spcAft>
                <a:spcPts val="400"/>
              </a:spcAft>
            </a:pPr>
            <a:r>
              <a:rPr sz="3400" b="0" i="0">
                <a:solidFill>
                  <a:srgbClr val="FFFFFF"/>
                </a:solidFill>
                <a:latin typeface="Inter Display"/>
              </a:rPr>
              <a:t>Contents</a:t>
            </a:r>
          </a:p>
        </p:txBody>
      </p:sp>
      <p:sp>
        <p:nvSpPr>
          <p:cNvPr id="4" name="TextBox 3"/>
          <p:cNvSpPr txBox="1"/>
          <p:nvPr/>
        </p:nvSpPr>
        <p:spPr>
          <a:xfrm>
            <a:off x="4572000" y="1005840"/>
            <a:ext cx="548640" cy="365760"/>
          </a:xfrm>
          <a:prstGeom prst="rect">
            <a:avLst/>
          </a:prstGeom>
          <a:noFill/>
        </p:spPr>
        <p:txBody>
          <a:bodyPr wrap="square" lIns="0" rIns="0" tIns="0" bIns="0" anchor="t">
            <a:spAutoFit/>
          </a:bodyPr>
          <a:lstStyle/>
          <a:p>
            <a:pPr algn="l">
              <a:spcAft>
                <a:spcPts val="400"/>
              </a:spcAft>
            </a:pPr>
            <a:r>
              <a:rPr sz="1300" b="1" i="0">
                <a:solidFill>
                  <a:srgbClr val="1F5EFF"/>
                </a:solidFill>
                <a:latin typeface="Inter"/>
              </a:rPr>
              <a:t>01</a:t>
            </a:r>
          </a:p>
        </p:txBody>
      </p:sp>
      <p:sp>
        <p:nvSpPr>
          <p:cNvPr id="5" name="TextBox 4"/>
          <p:cNvSpPr txBox="1"/>
          <p:nvPr/>
        </p:nvSpPr>
        <p:spPr>
          <a:xfrm>
            <a:off x="5120640" y="987552"/>
            <a:ext cx="2926080" cy="457200"/>
          </a:xfrm>
          <a:prstGeom prst="rect">
            <a:avLst/>
          </a:prstGeom>
          <a:noFill/>
        </p:spPr>
        <p:txBody>
          <a:bodyPr wrap="square" lIns="0" rIns="0" tIns="0" bIns="0" anchor="t">
            <a:spAutoFit/>
          </a:bodyPr>
          <a:lstStyle/>
          <a:p>
            <a:pPr algn="l">
              <a:spcAft>
                <a:spcPts val="400"/>
              </a:spcAft>
            </a:pPr>
            <a:r>
              <a:rPr sz="1700" b="0" i="0">
                <a:solidFill>
                  <a:srgbClr val="0E1525"/>
                </a:solidFill>
                <a:latin typeface="Inter Display"/>
              </a:rPr>
              <a:t>Brand Foundation</a:t>
            </a:r>
          </a:p>
        </p:txBody>
      </p:sp>
      <p:sp>
        <p:nvSpPr>
          <p:cNvPr id="6" name="Rectangle 5"/>
          <p:cNvSpPr/>
          <p:nvPr/>
        </p:nvSpPr>
        <p:spPr>
          <a:xfrm>
            <a:off x="4572000" y="1508760"/>
            <a:ext cx="3291840"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0" y="1783080"/>
            <a:ext cx="548640" cy="365760"/>
          </a:xfrm>
          <a:prstGeom prst="rect">
            <a:avLst/>
          </a:prstGeom>
          <a:noFill/>
        </p:spPr>
        <p:txBody>
          <a:bodyPr wrap="square" lIns="0" rIns="0" tIns="0" bIns="0" anchor="t">
            <a:spAutoFit/>
          </a:bodyPr>
          <a:lstStyle/>
          <a:p>
            <a:pPr algn="l">
              <a:spcAft>
                <a:spcPts val="400"/>
              </a:spcAft>
            </a:pPr>
            <a:r>
              <a:rPr sz="1300" b="1" i="0">
                <a:solidFill>
                  <a:srgbClr val="1F5EFF"/>
                </a:solidFill>
                <a:latin typeface="Inter"/>
              </a:rPr>
              <a:t>02</a:t>
            </a:r>
          </a:p>
        </p:txBody>
      </p:sp>
      <p:sp>
        <p:nvSpPr>
          <p:cNvPr id="8" name="TextBox 7"/>
          <p:cNvSpPr txBox="1"/>
          <p:nvPr/>
        </p:nvSpPr>
        <p:spPr>
          <a:xfrm>
            <a:off x="5120640" y="1764792"/>
            <a:ext cx="2926080" cy="457200"/>
          </a:xfrm>
          <a:prstGeom prst="rect">
            <a:avLst/>
          </a:prstGeom>
          <a:noFill/>
        </p:spPr>
        <p:txBody>
          <a:bodyPr wrap="square" lIns="0" rIns="0" tIns="0" bIns="0" anchor="t">
            <a:spAutoFit/>
          </a:bodyPr>
          <a:lstStyle/>
          <a:p>
            <a:pPr algn="l">
              <a:spcAft>
                <a:spcPts val="400"/>
              </a:spcAft>
            </a:pPr>
            <a:r>
              <a:rPr sz="1700" b="0" i="0">
                <a:solidFill>
                  <a:srgbClr val="0E1525"/>
                </a:solidFill>
                <a:latin typeface="Inter Display"/>
              </a:rPr>
              <a:t>Logo</a:t>
            </a:r>
          </a:p>
        </p:txBody>
      </p:sp>
      <p:sp>
        <p:nvSpPr>
          <p:cNvPr id="9" name="Rectangle 8"/>
          <p:cNvSpPr/>
          <p:nvPr/>
        </p:nvSpPr>
        <p:spPr>
          <a:xfrm>
            <a:off x="4572000" y="2286000"/>
            <a:ext cx="3291840"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0" y="2560320"/>
            <a:ext cx="548640" cy="365760"/>
          </a:xfrm>
          <a:prstGeom prst="rect">
            <a:avLst/>
          </a:prstGeom>
          <a:noFill/>
        </p:spPr>
        <p:txBody>
          <a:bodyPr wrap="square" lIns="0" rIns="0" tIns="0" bIns="0" anchor="t">
            <a:spAutoFit/>
          </a:bodyPr>
          <a:lstStyle/>
          <a:p>
            <a:pPr algn="l">
              <a:spcAft>
                <a:spcPts val="400"/>
              </a:spcAft>
            </a:pPr>
            <a:r>
              <a:rPr sz="1300" b="1" i="0">
                <a:solidFill>
                  <a:srgbClr val="1F5EFF"/>
                </a:solidFill>
                <a:latin typeface="Inter"/>
              </a:rPr>
              <a:t>03</a:t>
            </a:r>
          </a:p>
        </p:txBody>
      </p:sp>
      <p:sp>
        <p:nvSpPr>
          <p:cNvPr id="11" name="TextBox 10"/>
          <p:cNvSpPr txBox="1"/>
          <p:nvPr/>
        </p:nvSpPr>
        <p:spPr>
          <a:xfrm>
            <a:off x="5120640" y="2542032"/>
            <a:ext cx="2926080" cy="457200"/>
          </a:xfrm>
          <a:prstGeom prst="rect">
            <a:avLst/>
          </a:prstGeom>
          <a:noFill/>
        </p:spPr>
        <p:txBody>
          <a:bodyPr wrap="square" lIns="0" rIns="0" tIns="0" bIns="0" anchor="t">
            <a:spAutoFit/>
          </a:bodyPr>
          <a:lstStyle/>
          <a:p>
            <a:pPr algn="l">
              <a:spcAft>
                <a:spcPts val="400"/>
              </a:spcAft>
            </a:pPr>
            <a:r>
              <a:rPr sz="1700" b="0" i="0">
                <a:solidFill>
                  <a:srgbClr val="0E1525"/>
                </a:solidFill>
                <a:latin typeface="Inter Display"/>
              </a:rPr>
              <a:t>Color</a:t>
            </a:r>
          </a:p>
        </p:txBody>
      </p:sp>
      <p:sp>
        <p:nvSpPr>
          <p:cNvPr id="12" name="Rectangle 11"/>
          <p:cNvSpPr/>
          <p:nvPr/>
        </p:nvSpPr>
        <p:spPr>
          <a:xfrm>
            <a:off x="4572000" y="3063239"/>
            <a:ext cx="3291840"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0" y="3337560"/>
            <a:ext cx="548640" cy="365760"/>
          </a:xfrm>
          <a:prstGeom prst="rect">
            <a:avLst/>
          </a:prstGeom>
          <a:noFill/>
        </p:spPr>
        <p:txBody>
          <a:bodyPr wrap="square" lIns="0" rIns="0" tIns="0" bIns="0" anchor="t">
            <a:spAutoFit/>
          </a:bodyPr>
          <a:lstStyle/>
          <a:p>
            <a:pPr algn="l">
              <a:spcAft>
                <a:spcPts val="400"/>
              </a:spcAft>
            </a:pPr>
            <a:r>
              <a:rPr sz="1300" b="1" i="0">
                <a:solidFill>
                  <a:srgbClr val="1F5EFF"/>
                </a:solidFill>
                <a:latin typeface="Inter"/>
              </a:rPr>
              <a:t>04</a:t>
            </a:r>
          </a:p>
        </p:txBody>
      </p:sp>
      <p:sp>
        <p:nvSpPr>
          <p:cNvPr id="14" name="TextBox 13"/>
          <p:cNvSpPr txBox="1"/>
          <p:nvPr/>
        </p:nvSpPr>
        <p:spPr>
          <a:xfrm>
            <a:off x="5120640" y="3319272"/>
            <a:ext cx="2926080" cy="457200"/>
          </a:xfrm>
          <a:prstGeom prst="rect">
            <a:avLst/>
          </a:prstGeom>
          <a:noFill/>
        </p:spPr>
        <p:txBody>
          <a:bodyPr wrap="square" lIns="0" rIns="0" tIns="0" bIns="0" anchor="t">
            <a:spAutoFit/>
          </a:bodyPr>
          <a:lstStyle/>
          <a:p>
            <a:pPr algn="l">
              <a:spcAft>
                <a:spcPts val="400"/>
              </a:spcAft>
            </a:pPr>
            <a:r>
              <a:rPr sz="1700" b="0" i="0">
                <a:solidFill>
                  <a:srgbClr val="0E1525"/>
                </a:solidFill>
                <a:latin typeface="Inter Display"/>
              </a:rPr>
              <a:t>Typography</a:t>
            </a:r>
          </a:p>
        </p:txBody>
      </p:sp>
      <p:sp>
        <p:nvSpPr>
          <p:cNvPr id="15" name="Rectangle 14"/>
          <p:cNvSpPr/>
          <p:nvPr/>
        </p:nvSpPr>
        <p:spPr>
          <a:xfrm>
            <a:off x="4572000" y="3840480"/>
            <a:ext cx="3291840"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0" y="4114800"/>
            <a:ext cx="548640" cy="365760"/>
          </a:xfrm>
          <a:prstGeom prst="rect">
            <a:avLst/>
          </a:prstGeom>
          <a:noFill/>
        </p:spPr>
        <p:txBody>
          <a:bodyPr wrap="square" lIns="0" rIns="0" tIns="0" bIns="0" anchor="t">
            <a:spAutoFit/>
          </a:bodyPr>
          <a:lstStyle/>
          <a:p>
            <a:pPr algn="l">
              <a:spcAft>
                <a:spcPts val="400"/>
              </a:spcAft>
            </a:pPr>
            <a:r>
              <a:rPr sz="1300" b="1" i="0">
                <a:solidFill>
                  <a:srgbClr val="1F5EFF"/>
                </a:solidFill>
                <a:latin typeface="Inter"/>
              </a:rPr>
              <a:t>05</a:t>
            </a:r>
          </a:p>
        </p:txBody>
      </p:sp>
      <p:sp>
        <p:nvSpPr>
          <p:cNvPr id="17" name="TextBox 16"/>
          <p:cNvSpPr txBox="1"/>
          <p:nvPr/>
        </p:nvSpPr>
        <p:spPr>
          <a:xfrm>
            <a:off x="5120640" y="4096512"/>
            <a:ext cx="2926080" cy="457200"/>
          </a:xfrm>
          <a:prstGeom prst="rect">
            <a:avLst/>
          </a:prstGeom>
          <a:noFill/>
        </p:spPr>
        <p:txBody>
          <a:bodyPr wrap="square" lIns="0" rIns="0" tIns="0" bIns="0" anchor="t">
            <a:spAutoFit/>
          </a:bodyPr>
          <a:lstStyle/>
          <a:p>
            <a:pPr algn="l">
              <a:spcAft>
                <a:spcPts val="400"/>
              </a:spcAft>
            </a:pPr>
            <a:r>
              <a:rPr sz="1700" b="0" i="0">
                <a:solidFill>
                  <a:srgbClr val="0E1525"/>
                </a:solidFill>
                <a:latin typeface="Inter Display"/>
              </a:rPr>
              <a:t>Imagery</a:t>
            </a:r>
          </a:p>
        </p:txBody>
      </p:sp>
      <p:sp>
        <p:nvSpPr>
          <p:cNvPr id="18" name="Rectangle 17"/>
          <p:cNvSpPr/>
          <p:nvPr/>
        </p:nvSpPr>
        <p:spPr>
          <a:xfrm>
            <a:off x="4572000" y="4617720"/>
            <a:ext cx="3291840"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0" y="4892040"/>
            <a:ext cx="548640" cy="365760"/>
          </a:xfrm>
          <a:prstGeom prst="rect">
            <a:avLst/>
          </a:prstGeom>
          <a:noFill/>
        </p:spPr>
        <p:txBody>
          <a:bodyPr wrap="square" lIns="0" rIns="0" tIns="0" bIns="0" anchor="t">
            <a:spAutoFit/>
          </a:bodyPr>
          <a:lstStyle/>
          <a:p>
            <a:pPr algn="l">
              <a:spcAft>
                <a:spcPts val="400"/>
              </a:spcAft>
            </a:pPr>
            <a:r>
              <a:rPr sz="1300" b="1" i="0">
                <a:solidFill>
                  <a:srgbClr val="1F5EFF"/>
                </a:solidFill>
                <a:latin typeface="Inter"/>
              </a:rPr>
              <a:t>06</a:t>
            </a:r>
          </a:p>
        </p:txBody>
      </p:sp>
      <p:sp>
        <p:nvSpPr>
          <p:cNvPr id="20" name="TextBox 19"/>
          <p:cNvSpPr txBox="1"/>
          <p:nvPr/>
        </p:nvSpPr>
        <p:spPr>
          <a:xfrm>
            <a:off x="5120640" y="4873752"/>
            <a:ext cx="2926080" cy="457200"/>
          </a:xfrm>
          <a:prstGeom prst="rect">
            <a:avLst/>
          </a:prstGeom>
          <a:noFill/>
        </p:spPr>
        <p:txBody>
          <a:bodyPr wrap="square" lIns="0" rIns="0" tIns="0" bIns="0" anchor="t">
            <a:spAutoFit/>
          </a:bodyPr>
          <a:lstStyle/>
          <a:p>
            <a:pPr algn="l">
              <a:spcAft>
                <a:spcPts val="400"/>
              </a:spcAft>
            </a:pPr>
            <a:r>
              <a:rPr sz="1700" b="0" i="0">
                <a:solidFill>
                  <a:srgbClr val="0E1525"/>
                </a:solidFill>
                <a:latin typeface="Inter Display"/>
              </a:rPr>
              <a:t>Writing Style</a:t>
            </a:r>
          </a:p>
        </p:txBody>
      </p:sp>
      <p:sp>
        <p:nvSpPr>
          <p:cNvPr id="21" name="Rectangle 20"/>
          <p:cNvSpPr/>
          <p:nvPr/>
        </p:nvSpPr>
        <p:spPr>
          <a:xfrm>
            <a:off x="4572000" y="5394959"/>
            <a:ext cx="3291840"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0" y="1005840"/>
            <a:ext cx="548640" cy="365760"/>
          </a:xfrm>
          <a:prstGeom prst="rect">
            <a:avLst/>
          </a:prstGeom>
          <a:noFill/>
        </p:spPr>
        <p:txBody>
          <a:bodyPr wrap="square" lIns="0" rIns="0" tIns="0" bIns="0" anchor="t">
            <a:spAutoFit/>
          </a:bodyPr>
          <a:lstStyle/>
          <a:p>
            <a:pPr algn="l">
              <a:spcAft>
                <a:spcPts val="400"/>
              </a:spcAft>
            </a:pPr>
            <a:r>
              <a:rPr sz="1300" b="1" i="0">
                <a:solidFill>
                  <a:srgbClr val="1F5EFF"/>
                </a:solidFill>
                <a:latin typeface="Inter"/>
              </a:rPr>
              <a:t>07</a:t>
            </a:r>
          </a:p>
        </p:txBody>
      </p:sp>
      <p:sp>
        <p:nvSpPr>
          <p:cNvPr id="23" name="TextBox 22"/>
          <p:cNvSpPr txBox="1"/>
          <p:nvPr/>
        </p:nvSpPr>
        <p:spPr>
          <a:xfrm>
            <a:off x="8778240" y="987552"/>
            <a:ext cx="2926080" cy="457200"/>
          </a:xfrm>
          <a:prstGeom prst="rect">
            <a:avLst/>
          </a:prstGeom>
          <a:noFill/>
        </p:spPr>
        <p:txBody>
          <a:bodyPr wrap="square" lIns="0" rIns="0" tIns="0" bIns="0" anchor="t">
            <a:spAutoFit/>
          </a:bodyPr>
          <a:lstStyle/>
          <a:p>
            <a:pPr algn="l">
              <a:spcAft>
                <a:spcPts val="400"/>
              </a:spcAft>
            </a:pPr>
            <a:r>
              <a:rPr sz="1700" b="0" i="0">
                <a:solidFill>
                  <a:srgbClr val="0E1525"/>
                </a:solidFill>
                <a:latin typeface="Inter Display"/>
              </a:rPr>
              <a:t>Using This Guide</a:t>
            </a:r>
          </a:p>
        </p:txBody>
      </p:sp>
      <p:sp>
        <p:nvSpPr>
          <p:cNvPr id="24" name="Rectangle 23"/>
          <p:cNvSpPr/>
          <p:nvPr/>
        </p:nvSpPr>
        <p:spPr>
          <a:xfrm>
            <a:off x="8229600" y="1508760"/>
            <a:ext cx="3291840"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5EFF"/>
        </a:solidFill>
        <a:effectLst/>
      </p:bgPr>
    </p:bg>
    <p:spTree>
      <p:nvGrpSpPr>
        <p:cNvPr id="1" name=""/>
        <p:cNvGrpSpPr/>
        <p:nvPr/>
      </p:nvGrpSpPr>
      <p:grpSpPr/>
      <p:sp>
        <p:nvSpPr>
          <p:cNvPr id="2" name="Rounded Rectangle 1"/>
          <p:cNvSpPr/>
          <p:nvPr/>
        </p:nvSpPr>
        <p:spPr>
          <a:xfrm>
            <a:off x="822960" y="2240280"/>
            <a:ext cx="1016812" cy="237744"/>
          </a:xfrm>
          <a:prstGeom prst="roundRect">
            <a:avLst>
              <a:gd name="adj" fmla="val 15000"/>
            </a:avLst>
          </a:prstGeom>
          <a:solidFill>
            <a:srgbClr val="0E1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2240280"/>
            <a:ext cx="101681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OUR MISSION</a:t>
            </a:r>
          </a:p>
        </p:txBody>
      </p:sp>
      <p:sp>
        <p:nvSpPr>
          <p:cNvPr id="4" name="TextBox 3"/>
          <p:cNvSpPr txBox="1"/>
          <p:nvPr/>
        </p:nvSpPr>
        <p:spPr>
          <a:xfrm>
            <a:off x="822960" y="2606040"/>
            <a:ext cx="9601200" cy="2194560"/>
          </a:xfrm>
          <a:prstGeom prst="rect">
            <a:avLst/>
          </a:prstGeom>
          <a:noFill/>
        </p:spPr>
        <p:txBody>
          <a:bodyPr wrap="square" lIns="0" rIns="0" tIns="0" bIns="0" anchor="t">
            <a:spAutoFit/>
          </a:bodyPr>
          <a:lstStyle/>
          <a:p>
            <a:pPr algn="l">
              <a:lnSpc>
                <a:spcPct val="105000"/>
              </a:lnSpc>
              <a:spcAft>
                <a:spcPts val="400"/>
              </a:spcAft>
            </a:pPr>
            <a:r>
              <a:rPr sz="3800" b="0" i="0">
                <a:solidFill>
                  <a:srgbClr val="FFFFFF"/>
                </a:solidFill>
                <a:latin typeface="Inter Display"/>
              </a:rPr>
              <a:t>Give every security team the calm, clear signal they need to 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TextBox 1"/>
          <p:cNvSpPr txBox="1"/>
          <p:nvPr/>
        </p:nvSpPr>
        <p:spPr>
          <a:xfrm>
            <a:off x="731520" y="2331720"/>
            <a:ext cx="2743200" cy="457200"/>
          </a:xfrm>
          <a:prstGeom prst="rect">
            <a:avLst/>
          </a:prstGeom>
          <a:noFill/>
        </p:spPr>
        <p:txBody>
          <a:bodyPr wrap="square" lIns="0" rIns="0" tIns="0" bIns="0" anchor="t">
            <a:spAutoFit/>
          </a:bodyPr>
          <a:lstStyle/>
          <a:p>
            <a:pPr algn="l">
              <a:spcAft>
                <a:spcPts val="400"/>
              </a:spcAft>
            </a:pPr>
            <a:r>
              <a:rPr sz="1400" b="1" i="0" spc="200">
                <a:solidFill>
                  <a:srgbClr val="1F5EFF"/>
                </a:solidFill>
                <a:latin typeface="Inter"/>
              </a:rPr>
              <a:t>01</a:t>
            </a:r>
          </a:p>
        </p:txBody>
      </p:sp>
      <p:sp>
        <p:nvSpPr>
          <p:cNvPr id="3" name="TextBox 2"/>
          <p:cNvSpPr txBox="1"/>
          <p:nvPr/>
        </p:nvSpPr>
        <p:spPr>
          <a:xfrm>
            <a:off x="731520" y="2697480"/>
            <a:ext cx="8229600" cy="1097280"/>
          </a:xfrm>
          <a:prstGeom prst="rect">
            <a:avLst/>
          </a:prstGeom>
          <a:noFill/>
        </p:spPr>
        <p:txBody>
          <a:bodyPr wrap="square" lIns="0" rIns="0" tIns="0" bIns="0" anchor="t">
            <a:spAutoFit/>
          </a:bodyPr>
          <a:lstStyle/>
          <a:p>
            <a:pPr algn="l">
              <a:spcAft>
                <a:spcPts val="400"/>
              </a:spcAft>
            </a:pPr>
            <a:r>
              <a:rPr sz="4800" b="0" i="0">
                <a:solidFill>
                  <a:srgbClr val="FFFFFF"/>
                </a:solidFill>
                <a:latin typeface="Inter Display"/>
              </a:rPr>
              <a:t>Brand Foundation</a:t>
            </a:r>
          </a:p>
        </p:txBody>
      </p:sp>
      <p:sp>
        <p:nvSpPr>
          <p:cNvPr id="4" name="TextBox 3"/>
          <p:cNvSpPr txBox="1"/>
          <p:nvPr/>
        </p:nvSpPr>
        <p:spPr>
          <a:xfrm>
            <a:off x="731520" y="3840480"/>
            <a:ext cx="6858000" cy="1097280"/>
          </a:xfrm>
          <a:prstGeom prst="rect">
            <a:avLst/>
          </a:prstGeom>
          <a:noFill/>
        </p:spPr>
        <p:txBody>
          <a:bodyPr wrap="square" lIns="0" rIns="0" tIns="0" bIns="0" anchor="t">
            <a:spAutoFit/>
          </a:bodyPr>
          <a:lstStyle/>
          <a:p>
            <a:pPr algn="l">
              <a:spcAft>
                <a:spcPts val="400"/>
              </a:spcAft>
            </a:pPr>
            <a:r>
              <a:rPr sz="1300" b="0" i="0">
                <a:solidFill>
                  <a:srgbClr val="B6C0D0"/>
                </a:solidFill>
                <a:latin typeface="Inter"/>
              </a:rPr>
              <a:t>Who we are, what we stand for, and how we sound.</a:t>
            </a:r>
          </a:p>
        </p:txBody>
      </p:sp>
      <p:pic>
        <p:nvPicPr>
          <p:cNvPr id="5" name="Picture 4" descr="image.png"/>
          <p:cNvPicPr>
            <a:picLocks noChangeAspect="1"/>
          </p:cNvPicPr>
          <p:nvPr/>
        </p:nvPicPr>
        <p:blipFill>
          <a:blip r:embed="rId2"/>
          <a:stretch>
            <a:fillRect/>
          </a:stretch>
        </p:blipFill>
        <p:spPr>
          <a:xfrm>
            <a:off x="10957255" y="511159"/>
            <a:ext cx="731520" cy="212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134599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134599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BRAND FOUNDATION</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Who We Are</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Halyard is the detection platform that turns noisy telemetry into a short, ranked list of what matters, so lean security teams act first and explain later.</a:t>
            </a:r>
          </a:p>
        </p:txBody>
      </p:sp>
      <p:sp>
        <p:nvSpPr>
          <p:cNvPr id="7" name="TextBox 6"/>
          <p:cNvSpPr txBox="1"/>
          <p:nvPr/>
        </p:nvSpPr>
        <p:spPr>
          <a:xfrm>
            <a:off x="4343400" y="822960"/>
            <a:ext cx="7436815" cy="274320"/>
          </a:xfrm>
          <a:prstGeom prst="rect">
            <a:avLst/>
          </a:prstGeom>
          <a:noFill/>
        </p:spPr>
        <p:txBody>
          <a:bodyPr wrap="square" lIns="0" rIns="0" tIns="0" bIns="0" anchor="t">
            <a:spAutoFit/>
          </a:bodyPr>
          <a:lstStyle/>
          <a:p>
            <a:pPr algn="l">
              <a:spcAft>
                <a:spcPts val="400"/>
              </a:spcAft>
            </a:pPr>
            <a:r>
              <a:rPr sz="900" b="1" i="0" spc="150">
                <a:solidFill>
                  <a:srgbClr val="1F5EFF"/>
                </a:solidFill>
                <a:latin typeface="Inter"/>
              </a:rPr>
              <a:t>VISION</a:t>
            </a:r>
          </a:p>
        </p:txBody>
      </p:sp>
      <p:sp>
        <p:nvSpPr>
          <p:cNvPr id="8" name="TextBox 7"/>
          <p:cNvSpPr txBox="1"/>
          <p:nvPr/>
        </p:nvSpPr>
        <p:spPr>
          <a:xfrm>
            <a:off x="4343400" y="1115568"/>
            <a:ext cx="7436815" cy="1005840"/>
          </a:xfrm>
          <a:prstGeom prst="rect">
            <a:avLst/>
          </a:prstGeom>
          <a:noFill/>
        </p:spPr>
        <p:txBody>
          <a:bodyPr wrap="square" lIns="0" rIns="0" tIns="0" bIns="0" anchor="t">
            <a:spAutoFit/>
          </a:bodyPr>
          <a:lstStyle/>
          <a:p>
            <a:pPr algn="l">
              <a:spcAft>
                <a:spcPts val="400"/>
              </a:spcAft>
            </a:pPr>
            <a:r>
              <a:rPr sz="1800" b="0" i="0">
                <a:solidFill>
                  <a:srgbClr val="0E1525"/>
                </a:solidFill>
                <a:latin typeface="Inter Display"/>
              </a:rPr>
              <a:t>A world where security teams spend their time deciding, not searching.</a:t>
            </a:r>
          </a:p>
        </p:txBody>
      </p:sp>
      <p:sp>
        <p:nvSpPr>
          <p:cNvPr id="9" name="Rectangle 8"/>
          <p:cNvSpPr/>
          <p:nvPr/>
        </p:nvSpPr>
        <p:spPr>
          <a:xfrm>
            <a:off x="4343400" y="2423160"/>
            <a:ext cx="7436815" cy="1728216"/>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20" y="2651760"/>
            <a:ext cx="3657600" cy="274320"/>
          </a:xfrm>
          <a:prstGeom prst="rect">
            <a:avLst/>
          </a:prstGeom>
          <a:noFill/>
        </p:spPr>
        <p:txBody>
          <a:bodyPr wrap="square" lIns="0" rIns="0" tIns="0" bIns="0" anchor="t">
            <a:spAutoFit/>
          </a:bodyPr>
          <a:lstStyle/>
          <a:p>
            <a:pPr algn="l">
              <a:spcAft>
                <a:spcPts val="400"/>
              </a:spcAft>
            </a:pPr>
            <a:r>
              <a:rPr sz="850" b="1" i="0" spc="100">
                <a:solidFill>
                  <a:srgbClr val="1F5EFF"/>
                </a:solidFill>
                <a:latin typeface="Inter"/>
              </a:rPr>
              <a:t>BOILERPLATE  |  approved company description</a:t>
            </a:r>
          </a:p>
        </p:txBody>
      </p:sp>
      <p:sp>
        <p:nvSpPr>
          <p:cNvPr id="11" name="TextBox 10"/>
          <p:cNvSpPr txBox="1"/>
          <p:nvPr/>
        </p:nvSpPr>
        <p:spPr>
          <a:xfrm>
            <a:off x="4617720" y="2971800"/>
            <a:ext cx="6888175" cy="996696"/>
          </a:xfrm>
          <a:prstGeom prst="rect">
            <a:avLst/>
          </a:prstGeom>
          <a:noFill/>
        </p:spPr>
        <p:txBody>
          <a:bodyPr wrap="square" lIns="0" rIns="0" tIns="0" bIns="0" anchor="t">
            <a:spAutoFit/>
          </a:bodyPr>
          <a:lstStyle/>
          <a:p>
            <a:pPr algn="l">
              <a:lnSpc>
                <a:spcPct val="120000"/>
              </a:lnSpc>
              <a:spcAft>
                <a:spcPts val="400"/>
              </a:spcAft>
            </a:pPr>
            <a:r>
              <a:rPr sz="1100" b="0" i="0">
                <a:solidFill>
                  <a:srgbClr val="0E1525"/>
                </a:solidFill>
                <a:latin typeface="Inter"/>
              </a:rPr>
              <a:t>Halyard helps security teams cut through alert noise. The Halyard platform correlates signals across cloud, identity, and endpoint to surface the handful of threats that matter, ranked and explained. Founded in 2021 and headquartered in Denver, Colorado, Halyard protects more than 400 organizations. Learn more at halyard.example.</a:t>
            </a:r>
          </a:p>
        </p:txBody>
      </p:sp>
      <p:sp>
        <p:nvSpPr>
          <p:cNvPr id="12" name="TextBox 11"/>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Brand Foundation</a:t>
            </a:r>
          </a:p>
        </p:txBody>
      </p:sp>
      <p:sp>
        <p:nvSpPr>
          <p:cNvPr id="13" name="TextBox 12"/>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6 / 41</a:t>
            </a:r>
          </a:p>
        </p:txBody>
      </p:sp>
      <p:pic>
        <p:nvPicPr>
          <p:cNvPr id="14" name="Picture 13"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134599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134599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BRAND FOUNDATION</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Brand Pillars</a:t>
            </a:r>
          </a:p>
        </p:txBody>
      </p:sp>
      <p:sp>
        <p:nvSpPr>
          <p:cNvPr id="5" name="Rectangle 4"/>
          <p:cNvSpPr/>
          <p:nvPr/>
        </p:nvSpPr>
        <p:spPr>
          <a:xfrm>
            <a:off x="502920" y="2011680"/>
            <a:ext cx="3545738" cy="402336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2011680"/>
            <a:ext cx="3545738" cy="73152"/>
          </a:xfrm>
          <a:prstGeom prst="rect">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331720"/>
            <a:ext cx="2997098" cy="731520"/>
          </a:xfrm>
          <a:prstGeom prst="rect">
            <a:avLst/>
          </a:prstGeom>
          <a:noFill/>
        </p:spPr>
        <p:txBody>
          <a:bodyPr wrap="square" lIns="0" rIns="0" tIns="0" bIns="0" anchor="t">
            <a:spAutoFit/>
          </a:bodyPr>
          <a:lstStyle/>
          <a:p>
            <a:pPr algn="l">
              <a:spcAft>
                <a:spcPts val="400"/>
              </a:spcAft>
            </a:pPr>
            <a:r>
              <a:rPr sz="2000" b="0" i="0">
                <a:solidFill>
                  <a:srgbClr val="0E1525"/>
                </a:solidFill>
                <a:latin typeface="Inter Display"/>
              </a:rPr>
              <a:t>Clarity</a:t>
            </a:r>
          </a:p>
        </p:txBody>
      </p:sp>
      <p:sp>
        <p:nvSpPr>
          <p:cNvPr id="8" name="TextBox 7"/>
          <p:cNvSpPr txBox="1"/>
          <p:nvPr/>
        </p:nvSpPr>
        <p:spPr>
          <a:xfrm>
            <a:off x="777240" y="3017520"/>
            <a:ext cx="2997098" cy="1097280"/>
          </a:xfrm>
          <a:prstGeom prst="rect">
            <a:avLst/>
          </a:prstGeom>
          <a:noFill/>
        </p:spPr>
        <p:txBody>
          <a:bodyPr wrap="square" lIns="0" rIns="0" tIns="0" bIns="0" anchor="t">
            <a:spAutoFit/>
          </a:bodyPr>
          <a:lstStyle/>
          <a:p>
            <a:pPr algn="l">
              <a:spcAft>
                <a:spcPts val="400"/>
              </a:spcAft>
            </a:pPr>
            <a:r>
              <a:rPr sz="1050" b="0" i="0">
                <a:solidFill>
                  <a:srgbClr val="6B778C"/>
                </a:solidFill>
                <a:latin typeface="Inter"/>
              </a:rPr>
              <a:t>We say the useful thing first.</a:t>
            </a:r>
          </a:p>
        </p:txBody>
      </p:sp>
      <p:sp>
        <p:nvSpPr>
          <p:cNvPr id="9" name="TextBox 8"/>
          <p:cNvSpPr txBox="1"/>
          <p:nvPr/>
        </p:nvSpPr>
        <p:spPr>
          <a:xfrm>
            <a:off x="777240" y="3931920"/>
            <a:ext cx="2997098" cy="2011680"/>
          </a:xfrm>
          <a:prstGeom prst="rect">
            <a:avLst/>
          </a:prstGeom>
          <a:noFill/>
        </p:spPr>
        <p:txBody>
          <a:bodyPr wrap="square" lIns="0" rIns="0" tIns="0" bIns="0" anchor="t">
            <a:spAutoFit/>
          </a:bodyPr>
          <a:lstStyle/>
          <a:p>
            <a:pPr algn="l" marL="164592" indent="-164592">
              <a:spcAft>
                <a:spcPts val="400"/>
              </a:spcAft>
              <a:buClr>
                <a:srgbClr val="0E1525"/>
              </a:buClr>
              <a:buChar char="•"/>
            </a:pPr>
            <a:r>
              <a:rPr sz="1050" b="0" i="0">
                <a:solidFill>
                  <a:srgbClr val="0E1525"/>
                </a:solidFill>
                <a:latin typeface="Inter"/>
              </a:rPr>
              <a:t>Ranked, explained findings</a:t>
            </a:r>
          </a:p>
          <a:p>
            <a:pPr algn="l" marL="164592" indent="-164592">
              <a:spcAft>
                <a:spcPts val="400"/>
              </a:spcAft>
              <a:buClr>
                <a:srgbClr val="0E1525"/>
              </a:buClr>
              <a:buChar char="•"/>
            </a:pPr>
            <a:r>
              <a:rPr sz="1050" b="0" i="0">
                <a:solidFill>
                  <a:srgbClr val="0E1525"/>
                </a:solidFill>
                <a:latin typeface="Inter"/>
              </a:rPr>
              <a:t>Plain language over jargon</a:t>
            </a:r>
          </a:p>
          <a:p>
            <a:pPr algn="l" marL="164592" indent="-164592">
              <a:spcAft>
                <a:spcPts val="400"/>
              </a:spcAft>
              <a:buClr>
                <a:srgbClr val="0E1525"/>
              </a:buClr>
              <a:buChar char="•"/>
            </a:pPr>
            <a:r>
              <a:rPr sz="1050" b="0" i="0">
                <a:solidFill>
                  <a:srgbClr val="0E1525"/>
                </a:solidFill>
                <a:latin typeface="Inter"/>
              </a:rPr>
              <a:t>No dashboards for their own sake</a:t>
            </a:r>
          </a:p>
        </p:txBody>
      </p:sp>
      <p:sp>
        <p:nvSpPr>
          <p:cNvPr id="10" name="Rectangle 9"/>
          <p:cNvSpPr/>
          <p:nvPr/>
        </p:nvSpPr>
        <p:spPr>
          <a:xfrm>
            <a:off x="4322978" y="2011680"/>
            <a:ext cx="3545738" cy="402336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22978" y="2011680"/>
            <a:ext cx="3545738" cy="73152"/>
          </a:xfrm>
          <a:prstGeom prst="rect">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7298" y="2331720"/>
            <a:ext cx="2997098" cy="731520"/>
          </a:xfrm>
          <a:prstGeom prst="rect">
            <a:avLst/>
          </a:prstGeom>
          <a:noFill/>
        </p:spPr>
        <p:txBody>
          <a:bodyPr wrap="square" lIns="0" rIns="0" tIns="0" bIns="0" anchor="t">
            <a:spAutoFit/>
          </a:bodyPr>
          <a:lstStyle/>
          <a:p>
            <a:pPr algn="l">
              <a:spcAft>
                <a:spcPts val="400"/>
              </a:spcAft>
            </a:pPr>
            <a:r>
              <a:rPr sz="2000" b="0" i="0">
                <a:solidFill>
                  <a:srgbClr val="0E1525"/>
                </a:solidFill>
                <a:latin typeface="Inter Display"/>
              </a:rPr>
              <a:t>Calm</a:t>
            </a:r>
          </a:p>
        </p:txBody>
      </p:sp>
      <p:sp>
        <p:nvSpPr>
          <p:cNvPr id="13" name="TextBox 12"/>
          <p:cNvSpPr txBox="1"/>
          <p:nvPr/>
        </p:nvSpPr>
        <p:spPr>
          <a:xfrm>
            <a:off x="4597298" y="3017520"/>
            <a:ext cx="2997098" cy="1097280"/>
          </a:xfrm>
          <a:prstGeom prst="rect">
            <a:avLst/>
          </a:prstGeom>
          <a:noFill/>
        </p:spPr>
        <p:txBody>
          <a:bodyPr wrap="square" lIns="0" rIns="0" tIns="0" bIns="0" anchor="t">
            <a:spAutoFit/>
          </a:bodyPr>
          <a:lstStyle/>
          <a:p>
            <a:pPr algn="l">
              <a:spcAft>
                <a:spcPts val="400"/>
              </a:spcAft>
            </a:pPr>
            <a:r>
              <a:rPr sz="1050" b="0" i="0">
                <a:solidFill>
                  <a:srgbClr val="6B778C"/>
                </a:solidFill>
                <a:latin typeface="Inter"/>
              </a:rPr>
              <a:t>Security without the siren.</a:t>
            </a:r>
          </a:p>
        </p:txBody>
      </p:sp>
      <p:sp>
        <p:nvSpPr>
          <p:cNvPr id="14" name="TextBox 13"/>
          <p:cNvSpPr txBox="1"/>
          <p:nvPr/>
        </p:nvSpPr>
        <p:spPr>
          <a:xfrm>
            <a:off x="4597298" y="3931920"/>
            <a:ext cx="2997098" cy="2011680"/>
          </a:xfrm>
          <a:prstGeom prst="rect">
            <a:avLst/>
          </a:prstGeom>
          <a:noFill/>
        </p:spPr>
        <p:txBody>
          <a:bodyPr wrap="square" lIns="0" rIns="0" tIns="0" bIns="0" anchor="t">
            <a:spAutoFit/>
          </a:bodyPr>
          <a:lstStyle/>
          <a:p>
            <a:pPr algn="l" marL="164592" indent="-164592">
              <a:spcAft>
                <a:spcPts val="400"/>
              </a:spcAft>
              <a:buClr>
                <a:srgbClr val="0E1525"/>
              </a:buClr>
              <a:buChar char="•"/>
            </a:pPr>
            <a:r>
              <a:rPr sz="1050" b="0" i="0">
                <a:solidFill>
                  <a:srgbClr val="0E1525"/>
                </a:solidFill>
                <a:latin typeface="Inter"/>
              </a:rPr>
              <a:t>No fear-based selling</a:t>
            </a:r>
          </a:p>
          <a:p>
            <a:pPr algn="l" marL="164592" indent="-164592">
              <a:spcAft>
                <a:spcPts val="400"/>
              </a:spcAft>
              <a:buClr>
                <a:srgbClr val="0E1525"/>
              </a:buClr>
              <a:buChar char="•"/>
            </a:pPr>
            <a:r>
              <a:rPr sz="1050" b="0" i="0">
                <a:solidFill>
                  <a:srgbClr val="0E1525"/>
                </a:solidFill>
                <a:latin typeface="Inter"/>
              </a:rPr>
              <a:t>Confident, steady tone</a:t>
            </a:r>
          </a:p>
          <a:p>
            <a:pPr algn="l" marL="164592" indent="-164592">
              <a:spcAft>
                <a:spcPts val="400"/>
              </a:spcAft>
              <a:buClr>
                <a:srgbClr val="0E1525"/>
              </a:buClr>
              <a:buChar char="•"/>
            </a:pPr>
            <a:r>
              <a:rPr sz="1050" b="0" i="0">
                <a:solidFill>
                  <a:srgbClr val="0E1525"/>
                </a:solidFill>
                <a:latin typeface="Inter"/>
              </a:rPr>
              <a:t>Evidence over adjectives</a:t>
            </a:r>
          </a:p>
        </p:txBody>
      </p:sp>
      <p:sp>
        <p:nvSpPr>
          <p:cNvPr id="15" name="Rectangle 14"/>
          <p:cNvSpPr/>
          <p:nvPr/>
        </p:nvSpPr>
        <p:spPr>
          <a:xfrm>
            <a:off x="8143036" y="2011680"/>
            <a:ext cx="3545738" cy="402336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143036" y="2011680"/>
            <a:ext cx="3545738" cy="73152"/>
          </a:xfrm>
          <a:prstGeom prst="rect">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17356" y="2331720"/>
            <a:ext cx="2997098" cy="731520"/>
          </a:xfrm>
          <a:prstGeom prst="rect">
            <a:avLst/>
          </a:prstGeom>
          <a:noFill/>
        </p:spPr>
        <p:txBody>
          <a:bodyPr wrap="square" lIns="0" rIns="0" tIns="0" bIns="0" anchor="t">
            <a:spAutoFit/>
          </a:bodyPr>
          <a:lstStyle/>
          <a:p>
            <a:pPr algn="l">
              <a:spcAft>
                <a:spcPts val="400"/>
              </a:spcAft>
            </a:pPr>
            <a:r>
              <a:rPr sz="2000" b="0" i="0">
                <a:solidFill>
                  <a:srgbClr val="0E1525"/>
                </a:solidFill>
                <a:latin typeface="Inter Display"/>
              </a:rPr>
              <a:t>Craft</a:t>
            </a:r>
          </a:p>
        </p:txBody>
      </p:sp>
      <p:sp>
        <p:nvSpPr>
          <p:cNvPr id="18" name="TextBox 17"/>
          <p:cNvSpPr txBox="1"/>
          <p:nvPr/>
        </p:nvSpPr>
        <p:spPr>
          <a:xfrm>
            <a:off x="8417356" y="3017520"/>
            <a:ext cx="2997098" cy="1097280"/>
          </a:xfrm>
          <a:prstGeom prst="rect">
            <a:avLst/>
          </a:prstGeom>
          <a:noFill/>
        </p:spPr>
        <p:txBody>
          <a:bodyPr wrap="square" lIns="0" rIns="0" tIns="0" bIns="0" anchor="t">
            <a:spAutoFit/>
          </a:bodyPr>
          <a:lstStyle/>
          <a:p>
            <a:pPr algn="l">
              <a:spcAft>
                <a:spcPts val="400"/>
              </a:spcAft>
            </a:pPr>
            <a:r>
              <a:rPr sz="1050" b="0" i="0">
                <a:solidFill>
                  <a:srgbClr val="6B778C"/>
                </a:solidFill>
                <a:latin typeface="Inter"/>
              </a:rPr>
              <a:t>Built by practitioners.</a:t>
            </a:r>
          </a:p>
        </p:txBody>
      </p:sp>
      <p:sp>
        <p:nvSpPr>
          <p:cNvPr id="19" name="TextBox 18"/>
          <p:cNvSpPr txBox="1"/>
          <p:nvPr/>
        </p:nvSpPr>
        <p:spPr>
          <a:xfrm>
            <a:off x="8417356" y="3931920"/>
            <a:ext cx="2997098" cy="2011680"/>
          </a:xfrm>
          <a:prstGeom prst="rect">
            <a:avLst/>
          </a:prstGeom>
          <a:noFill/>
        </p:spPr>
        <p:txBody>
          <a:bodyPr wrap="square" lIns="0" rIns="0" tIns="0" bIns="0" anchor="t">
            <a:spAutoFit/>
          </a:bodyPr>
          <a:lstStyle/>
          <a:p>
            <a:pPr algn="l" marL="164592" indent="-164592">
              <a:spcAft>
                <a:spcPts val="400"/>
              </a:spcAft>
              <a:buClr>
                <a:srgbClr val="0E1525"/>
              </a:buClr>
              <a:buChar char="•"/>
            </a:pPr>
            <a:r>
              <a:rPr sz="1050" b="0" i="0">
                <a:solidFill>
                  <a:srgbClr val="0E1525"/>
                </a:solidFill>
                <a:latin typeface="Inter"/>
              </a:rPr>
              <a:t>Designed with SOC analysts</a:t>
            </a:r>
          </a:p>
          <a:p>
            <a:pPr algn="l" marL="164592" indent="-164592">
              <a:spcAft>
                <a:spcPts val="400"/>
              </a:spcAft>
              <a:buClr>
                <a:srgbClr val="0E1525"/>
              </a:buClr>
              <a:buChar char="•"/>
            </a:pPr>
            <a:r>
              <a:rPr sz="1050" b="0" i="0">
                <a:solidFill>
                  <a:srgbClr val="0E1525"/>
                </a:solidFill>
                <a:latin typeface="Inter"/>
              </a:rPr>
              <a:t>Opinionated defaults</a:t>
            </a:r>
          </a:p>
          <a:p>
            <a:pPr algn="l" marL="164592" indent="-164592">
              <a:spcAft>
                <a:spcPts val="400"/>
              </a:spcAft>
              <a:buClr>
                <a:srgbClr val="0E1525"/>
              </a:buClr>
              <a:buChar char="•"/>
            </a:pPr>
            <a:r>
              <a:rPr sz="1050" b="0" i="0">
                <a:solidFill>
                  <a:srgbClr val="0E1525"/>
                </a:solidFill>
                <a:latin typeface="Inter"/>
              </a:rPr>
              <a:t>Fast to deploy</a:t>
            </a:r>
          </a:p>
        </p:txBody>
      </p:sp>
      <p:sp>
        <p:nvSpPr>
          <p:cNvPr id="20" name="TextBox 19"/>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Brand Foundation</a:t>
            </a:r>
          </a:p>
        </p:txBody>
      </p:sp>
      <p:sp>
        <p:nvSpPr>
          <p:cNvPr id="21" name="TextBox 20"/>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7 / 41</a:t>
            </a:r>
          </a:p>
        </p:txBody>
      </p:sp>
      <p:pic>
        <p:nvPicPr>
          <p:cNvPr id="22" name="Picture 21"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134599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134599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BRAND FOUNDATION</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Where We Are Going</a:t>
            </a:r>
          </a:p>
        </p:txBody>
      </p:sp>
      <p:sp>
        <p:nvSpPr>
          <p:cNvPr id="6" name="TextBox 5"/>
          <p:cNvSpPr txBox="1"/>
          <p:nvPr/>
        </p:nvSpPr>
        <p:spPr>
          <a:xfrm>
            <a:off x="502920" y="233172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Our direction shapes how the brand shows up. Use it to judge whether new work moves us forward.</a:t>
            </a:r>
          </a:p>
        </p:txBody>
      </p:sp>
      <p:sp>
        <p:nvSpPr>
          <p:cNvPr id="7" name="TextBox 6"/>
          <p:cNvSpPr txBox="1"/>
          <p:nvPr/>
        </p:nvSpPr>
        <p:spPr>
          <a:xfrm>
            <a:off x="4617720" y="822960"/>
            <a:ext cx="6888175" cy="5120640"/>
          </a:xfrm>
          <a:prstGeom prst="rect">
            <a:avLst/>
          </a:prstGeom>
          <a:noFill/>
        </p:spPr>
        <p:txBody>
          <a:bodyPr wrap="square" lIns="0" rIns="0" tIns="0" bIns="0" anchor="ctr">
            <a:spAutoFit/>
          </a:bodyPr>
          <a:lstStyle/>
          <a:p>
            <a:pPr algn="l">
              <a:lnSpc>
                <a:spcPct val="115000"/>
              </a:lnSpc>
              <a:spcAft>
                <a:spcPts val="1400"/>
              </a:spcAft>
            </a:pPr>
            <a:r>
              <a:rPr sz="2400" b="0" i="0">
                <a:solidFill>
                  <a:srgbClr val="0E1525"/>
                </a:solidFill>
                <a:latin typeface="Inter Display"/>
              </a:rPr>
              <a:t>Over the next two years we are moving from a detection tool to the system of record for security decisions. The brand should feel more like a trusted instrument than a startup.</a:t>
            </a:r>
          </a:p>
        </p:txBody>
      </p:sp>
      <p:sp>
        <p:nvSpPr>
          <p:cNvPr id="8" name="TextBox 7"/>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Brand Foundation</a:t>
            </a:r>
          </a:p>
        </p:txBody>
      </p:sp>
      <p:sp>
        <p:nvSpPr>
          <p:cNvPr id="9" name="TextBox 8"/>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8 / 41</a:t>
            </a:r>
          </a:p>
        </p:txBody>
      </p:sp>
      <p:pic>
        <p:nvPicPr>
          <p:cNvPr id="10" name="Picture 9"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134599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134599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BRAND FOUNDATION</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Voice and Tone</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We sound like the most senior analyst on the team: direct, unhurried, and specific.</a:t>
            </a:r>
          </a:p>
        </p:txBody>
      </p:sp>
      <p:sp>
        <p:nvSpPr>
          <p:cNvPr id="7" name="TextBox 6"/>
          <p:cNvSpPr txBox="1"/>
          <p:nvPr/>
        </p:nvSpPr>
        <p:spPr>
          <a:xfrm>
            <a:off x="502920" y="2633472"/>
            <a:ext cx="3108959" cy="3401568"/>
          </a:xfrm>
          <a:prstGeom prst="rect">
            <a:avLst/>
          </a:prstGeom>
          <a:noFill/>
        </p:spPr>
        <p:txBody>
          <a:bodyPr wrap="square" lIns="0" rIns="0" tIns="0" bIns="0" anchor="t">
            <a:spAutoFit/>
          </a:bodyPr>
          <a:lstStyle/>
          <a:p>
            <a:pPr algn="l" marL="164592" indent="-164592">
              <a:spcAft>
                <a:spcPts val="500"/>
              </a:spcAft>
              <a:buClr>
                <a:srgbClr val="0E1525"/>
              </a:buClr>
              <a:buChar char="•"/>
            </a:pPr>
            <a:r>
              <a:rPr sz="1050" b="0" i="0">
                <a:solidFill>
                  <a:srgbClr val="0E1525"/>
                </a:solidFill>
                <a:latin typeface="Inter"/>
              </a:rPr>
              <a:t>Lead with the outcome, then the evidence</a:t>
            </a:r>
          </a:p>
          <a:p>
            <a:pPr algn="l" marL="164592" indent="-164592">
              <a:spcAft>
                <a:spcPts val="500"/>
              </a:spcAft>
              <a:buClr>
                <a:srgbClr val="0E1525"/>
              </a:buClr>
              <a:buChar char="•"/>
            </a:pPr>
            <a:r>
              <a:rPr sz="1050" b="0" i="0">
                <a:solidFill>
                  <a:srgbClr val="0E1525"/>
                </a:solidFill>
                <a:latin typeface="Inter"/>
              </a:rPr>
              <a:t>Cite a source for every number</a:t>
            </a:r>
          </a:p>
          <a:p>
            <a:pPr algn="l" marL="164592" indent="-164592">
              <a:spcAft>
                <a:spcPts val="500"/>
              </a:spcAft>
              <a:buClr>
                <a:srgbClr val="0E1525"/>
              </a:buClr>
              <a:buChar char="•"/>
            </a:pPr>
            <a:r>
              <a:rPr sz="1050" b="0" i="0">
                <a:solidFill>
                  <a:srgbClr val="0E1525"/>
                </a:solidFill>
                <a:latin typeface="Inter"/>
              </a:rPr>
              <a:t>Never use breach headlines to sell</a:t>
            </a:r>
          </a:p>
        </p:txBody>
      </p:sp>
      <p:sp>
        <p:nvSpPr>
          <p:cNvPr id="8" name="TextBox 7"/>
          <p:cNvSpPr txBox="1"/>
          <p:nvPr/>
        </p:nvSpPr>
        <p:spPr>
          <a:xfrm>
            <a:off x="4526280" y="777240"/>
            <a:ext cx="3474720" cy="274320"/>
          </a:xfrm>
          <a:prstGeom prst="rect">
            <a:avLst/>
          </a:prstGeom>
          <a:noFill/>
        </p:spPr>
        <p:txBody>
          <a:bodyPr wrap="square" lIns="0" rIns="0" tIns="0" bIns="0" anchor="t">
            <a:spAutoFit/>
          </a:bodyPr>
          <a:lstStyle/>
          <a:p>
            <a:pPr algn="l">
              <a:spcAft>
                <a:spcPts val="400"/>
              </a:spcAft>
            </a:pPr>
            <a:r>
              <a:rPr sz="900" b="1" i="0" spc="150">
                <a:solidFill>
                  <a:srgbClr val="1F5EFF"/>
                </a:solidFill>
                <a:latin typeface="Inter"/>
              </a:rPr>
              <a:t>WE ARE</a:t>
            </a:r>
          </a:p>
        </p:txBody>
      </p:sp>
      <p:sp>
        <p:nvSpPr>
          <p:cNvPr id="9" name="TextBox 8"/>
          <p:cNvSpPr txBox="1"/>
          <p:nvPr/>
        </p:nvSpPr>
        <p:spPr>
          <a:xfrm>
            <a:off x="8275320" y="777240"/>
            <a:ext cx="3474720" cy="274320"/>
          </a:xfrm>
          <a:prstGeom prst="rect">
            <a:avLst/>
          </a:prstGeom>
          <a:noFill/>
        </p:spPr>
        <p:txBody>
          <a:bodyPr wrap="square" lIns="0" rIns="0" tIns="0" bIns="0" anchor="t">
            <a:spAutoFit/>
          </a:bodyPr>
          <a:lstStyle/>
          <a:p>
            <a:pPr algn="l">
              <a:spcAft>
                <a:spcPts val="400"/>
              </a:spcAft>
            </a:pPr>
            <a:r>
              <a:rPr sz="900" b="1" i="0" spc="150">
                <a:solidFill>
                  <a:srgbClr val="C0392B"/>
                </a:solidFill>
                <a:latin typeface="Inter"/>
              </a:rPr>
              <a:t>WE ARE NOT</a:t>
            </a:r>
          </a:p>
        </p:txBody>
      </p:sp>
      <p:sp>
        <p:nvSpPr>
          <p:cNvPr id="10" name="Rectangle 9"/>
          <p:cNvSpPr/>
          <p:nvPr/>
        </p:nvSpPr>
        <p:spPr>
          <a:xfrm>
            <a:off x="4343400" y="1143000"/>
            <a:ext cx="7436815"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26280" y="1216152"/>
            <a:ext cx="3566160" cy="594360"/>
          </a:xfrm>
          <a:prstGeom prst="rect">
            <a:avLst/>
          </a:prstGeom>
          <a:noFill/>
        </p:spPr>
        <p:txBody>
          <a:bodyPr wrap="square" lIns="0" rIns="0" tIns="0" bIns="0" anchor="ctr">
            <a:spAutoFit/>
          </a:bodyPr>
          <a:lstStyle/>
          <a:p>
            <a:pPr algn="l">
              <a:spcAft>
                <a:spcPts val="100"/>
              </a:spcAft>
            </a:pPr>
            <a:r>
              <a:rPr sz="1300" b="1" i="0">
                <a:solidFill>
                  <a:srgbClr val="0E1525"/>
                </a:solidFill>
                <a:latin typeface="Inter"/>
              </a:rPr>
              <a:t>Direct</a:t>
            </a:r>
          </a:p>
        </p:txBody>
      </p:sp>
      <p:sp>
        <p:nvSpPr>
          <p:cNvPr id="12" name="TextBox 11"/>
          <p:cNvSpPr txBox="1"/>
          <p:nvPr/>
        </p:nvSpPr>
        <p:spPr>
          <a:xfrm>
            <a:off x="8275320" y="1216152"/>
            <a:ext cx="3566160" cy="594360"/>
          </a:xfrm>
          <a:prstGeom prst="rect">
            <a:avLst/>
          </a:prstGeom>
          <a:noFill/>
        </p:spPr>
        <p:txBody>
          <a:bodyPr wrap="square" lIns="0" rIns="0" tIns="0" bIns="0" anchor="ctr">
            <a:spAutoFit/>
          </a:bodyPr>
          <a:lstStyle/>
          <a:p>
            <a:pPr algn="l">
              <a:spcAft>
                <a:spcPts val="400"/>
              </a:spcAft>
            </a:pPr>
            <a:r>
              <a:rPr sz="1300" b="0" i="0">
                <a:solidFill>
                  <a:srgbClr val="6B778C"/>
                </a:solidFill>
                <a:latin typeface="Inter"/>
              </a:rPr>
              <a:t>Blunt or cold</a:t>
            </a:r>
          </a:p>
        </p:txBody>
      </p:sp>
      <p:sp>
        <p:nvSpPr>
          <p:cNvPr id="13" name="Rectangle 12"/>
          <p:cNvSpPr/>
          <p:nvPr/>
        </p:nvSpPr>
        <p:spPr>
          <a:xfrm>
            <a:off x="4343400" y="1965960"/>
            <a:ext cx="7436815"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6280" y="2039112"/>
            <a:ext cx="3566160" cy="594360"/>
          </a:xfrm>
          <a:prstGeom prst="rect">
            <a:avLst/>
          </a:prstGeom>
          <a:noFill/>
        </p:spPr>
        <p:txBody>
          <a:bodyPr wrap="square" lIns="0" rIns="0" tIns="0" bIns="0" anchor="ctr">
            <a:spAutoFit/>
          </a:bodyPr>
          <a:lstStyle/>
          <a:p>
            <a:pPr algn="l">
              <a:spcAft>
                <a:spcPts val="100"/>
              </a:spcAft>
            </a:pPr>
            <a:r>
              <a:rPr sz="1300" b="1" i="0">
                <a:solidFill>
                  <a:srgbClr val="0E1525"/>
                </a:solidFill>
                <a:latin typeface="Inter"/>
              </a:rPr>
              <a:t>Confident</a:t>
            </a:r>
          </a:p>
        </p:txBody>
      </p:sp>
      <p:sp>
        <p:nvSpPr>
          <p:cNvPr id="15" name="TextBox 14"/>
          <p:cNvSpPr txBox="1"/>
          <p:nvPr/>
        </p:nvSpPr>
        <p:spPr>
          <a:xfrm>
            <a:off x="8275320" y="2039112"/>
            <a:ext cx="3566160" cy="594360"/>
          </a:xfrm>
          <a:prstGeom prst="rect">
            <a:avLst/>
          </a:prstGeom>
          <a:noFill/>
        </p:spPr>
        <p:txBody>
          <a:bodyPr wrap="square" lIns="0" rIns="0" tIns="0" bIns="0" anchor="ctr">
            <a:spAutoFit/>
          </a:bodyPr>
          <a:lstStyle/>
          <a:p>
            <a:pPr algn="l">
              <a:spcAft>
                <a:spcPts val="400"/>
              </a:spcAft>
            </a:pPr>
            <a:r>
              <a:rPr sz="1300" b="0" i="0">
                <a:solidFill>
                  <a:srgbClr val="6B778C"/>
                </a:solidFill>
                <a:latin typeface="Inter"/>
              </a:rPr>
              <a:t>Arrogant or absolute</a:t>
            </a:r>
          </a:p>
        </p:txBody>
      </p:sp>
      <p:sp>
        <p:nvSpPr>
          <p:cNvPr id="16" name="Rectangle 15"/>
          <p:cNvSpPr/>
          <p:nvPr/>
        </p:nvSpPr>
        <p:spPr>
          <a:xfrm>
            <a:off x="4343400" y="2788920"/>
            <a:ext cx="7436815"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26280" y="2862072"/>
            <a:ext cx="3566160" cy="594360"/>
          </a:xfrm>
          <a:prstGeom prst="rect">
            <a:avLst/>
          </a:prstGeom>
          <a:noFill/>
        </p:spPr>
        <p:txBody>
          <a:bodyPr wrap="square" lIns="0" rIns="0" tIns="0" bIns="0" anchor="ctr">
            <a:spAutoFit/>
          </a:bodyPr>
          <a:lstStyle/>
          <a:p>
            <a:pPr algn="l">
              <a:spcAft>
                <a:spcPts val="100"/>
              </a:spcAft>
            </a:pPr>
            <a:r>
              <a:rPr sz="1300" b="1" i="0">
                <a:solidFill>
                  <a:srgbClr val="0E1525"/>
                </a:solidFill>
                <a:latin typeface="Inter"/>
              </a:rPr>
              <a:t>Plainspoken</a:t>
            </a:r>
          </a:p>
        </p:txBody>
      </p:sp>
      <p:sp>
        <p:nvSpPr>
          <p:cNvPr id="18" name="TextBox 17"/>
          <p:cNvSpPr txBox="1"/>
          <p:nvPr/>
        </p:nvSpPr>
        <p:spPr>
          <a:xfrm>
            <a:off x="8275320" y="2862072"/>
            <a:ext cx="3566160" cy="594360"/>
          </a:xfrm>
          <a:prstGeom prst="rect">
            <a:avLst/>
          </a:prstGeom>
          <a:noFill/>
        </p:spPr>
        <p:txBody>
          <a:bodyPr wrap="square" lIns="0" rIns="0" tIns="0" bIns="0" anchor="ctr">
            <a:spAutoFit/>
          </a:bodyPr>
          <a:lstStyle/>
          <a:p>
            <a:pPr algn="l">
              <a:spcAft>
                <a:spcPts val="400"/>
              </a:spcAft>
            </a:pPr>
            <a:r>
              <a:rPr sz="1300" b="0" i="0">
                <a:solidFill>
                  <a:srgbClr val="6B778C"/>
                </a:solidFill>
                <a:latin typeface="Inter"/>
              </a:rPr>
              <a:t>Jargon-heavy</a:t>
            </a:r>
          </a:p>
        </p:txBody>
      </p:sp>
      <p:sp>
        <p:nvSpPr>
          <p:cNvPr id="19" name="Rectangle 18"/>
          <p:cNvSpPr/>
          <p:nvPr/>
        </p:nvSpPr>
        <p:spPr>
          <a:xfrm>
            <a:off x="4343400" y="3611880"/>
            <a:ext cx="7436815"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26280" y="3685032"/>
            <a:ext cx="3566160" cy="594360"/>
          </a:xfrm>
          <a:prstGeom prst="rect">
            <a:avLst/>
          </a:prstGeom>
          <a:noFill/>
        </p:spPr>
        <p:txBody>
          <a:bodyPr wrap="square" lIns="0" rIns="0" tIns="0" bIns="0" anchor="ctr">
            <a:spAutoFit/>
          </a:bodyPr>
          <a:lstStyle/>
          <a:p>
            <a:pPr algn="l">
              <a:spcAft>
                <a:spcPts val="100"/>
              </a:spcAft>
            </a:pPr>
            <a:r>
              <a:rPr sz="1300" b="1" i="0">
                <a:solidFill>
                  <a:srgbClr val="0E1525"/>
                </a:solidFill>
                <a:latin typeface="Inter"/>
              </a:rPr>
              <a:t>Calm</a:t>
            </a:r>
          </a:p>
        </p:txBody>
      </p:sp>
      <p:sp>
        <p:nvSpPr>
          <p:cNvPr id="21" name="TextBox 20"/>
          <p:cNvSpPr txBox="1"/>
          <p:nvPr/>
        </p:nvSpPr>
        <p:spPr>
          <a:xfrm>
            <a:off x="8275320" y="3685032"/>
            <a:ext cx="3566160" cy="594360"/>
          </a:xfrm>
          <a:prstGeom prst="rect">
            <a:avLst/>
          </a:prstGeom>
          <a:noFill/>
        </p:spPr>
        <p:txBody>
          <a:bodyPr wrap="square" lIns="0" rIns="0" tIns="0" bIns="0" anchor="ctr">
            <a:spAutoFit/>
          </a:bodyPr>
          <a:lstStyle/>
          <a:p>
            <a:pPr algn="l">
              <a:spcAft>
                <a:spcPts val="400"/>
              </a:spcAft>
            </a:pPr>
            <a:r>
              <a:rPr sz="1300" b="0" i="0">
                <a:solidFill>
                  <a:srgbClr val="6B778C"/>
                </a:solidFill>
                <a:latin typeface="Inter"/>
              </a:rPr>
              <a:t>Alarmist</a:t>
            </a:r>
          </a:p>
        </p:txBody>
      </p:sp>
      <p:sp>
        <p:nvSpPr>
          <p:cNvPr id="22" name="TextBox 21"/>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Brand Foundation</a:t>
            </a:r>
          </a:p>
        </p:txBody>
      </p:sp>
      <p:sp>
        <p:nvSpPr>
          <p:cNvPr id="23" name="TextBox 22"/>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9 / 41</a:t>
            </a:r>
          </a:p>
        </p:txBody>
      </p:sp>
      <p:pic>
        <p:nvPicPr>
          <p:cNvPr id="24" name="Picture 23"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TextBox 1"/>
          <p:cNvSpPr txBox="1"/>
          <p:nvPr/>
        </p:nvSpPr>
        <p:spPr>
          <a:xfrm>
            <a:off x="731520" y="2331720"/>
            <a:ext cx="2743200" cy="457200"/>
          </a:xfrm>
          <a:prstGeom prst="rect">
            <a:avLst/>
          </a:prstGeom>
          <a:noFill/>
        </p:spPr>
        <p:txBody>
          <a:bodyPr wrap="square" lIns="0" rIns="0" tIns="0" bIns="0" anchor="t">
            <a:spAutoFit/>
          </a:bodyPr>
          <a:lstStyle/>
          <a:p>
            <a:pPr algn="l">
              <a:spcAft>
                <a:spcPts val="400"/>
              </a:spcAft>
            </a:pPr>
            <a:r>
              <a:rPr sz="1400" b="1" i="0" spc="200">
                <a:solidFill>
                  <a:srgbClr val="1F5EFF"/>
                </a:solidFill>
                <a:latin typeface="Inter"/>
              </a:rPr>
              <a:t>02</a:t>
            </a:r>
          </a:p>
        </p:txBody>
      </p:sp>
      <p:sp>
        <p:nvSpPr>
          <p:cNvPr id="3" name="TextBox 2"/>
          <p:cNvSpPr txBox="1"/>
          <p:nvPr/>
        </p:nvSpPr>
        <p:spPr>
          <a:xfrm>
            <a:off x="731520" y="2697480"/>
            <a:ext cx="8229600" cy="1097280"/>
          </a:xfrm>
          <a:prstGeom prst="rect">
            <a:avLst/>
          </a:prstGeom>
          <a:noFill/>
        </p:spPr>
        <p:txBody>
          <a:bodyPr wrap="square" lIns="0" rIns="0" tIns="0" bIns="0" anchor="t">
            <a:spAutoFit/>
          </a:bodyPr>
          <a:lstStyle/>
          <a:p>
            <a:pPr algn="l">
              <a:spcAft>
                <a:spcPts val="400"/>
              </a:spcAft>
            </a:pPr>
            <a:r>
              <a:rPr sz="4800" b="0" i="0">
                <a:solidFill>
                  <a:srgbClr val="FFFFFF"/>
                </a:solidFill>
                <a:latin typeface="Inter Display"/>
              </a:rPr>
              <a:t>Logo</a:t>
            </a:r>
          </a:p>
        </p:txBody>
      </p:sp>
      <p:sp>
        <p:nvSpPr>
          <p:cNvPr id="4" name="TextBox 3"/>
          <p:cNvSpPr txBox="1"/>
          <p:nvPr/>
        </p:nvSpPr>
        <p:spPr>
          <a:xfrm>
            <a:off x="731520" y="3840480"/>
            <a:ext cx="6858000" cy="1097280"/>
          </a:xfrm>
          <a:prstGeom prst="rect">
            <a:avLst/>
          </a:prstGeom>
          <a:noFill/>
        </p:spPr>
        <p:txBody>
          <a:bodyPr wrap="square" lIns="0" rIns="0" tIns="0" bIns="0" anchor="t">
            <a:spAutoFit/>
          </a:bodyPr>
          <a:lstStyle/>
          <a:p>
            <a:pPr algn="l">
              <a:spcAft>
                <a:spcPts val="400"/>
              </a:spcAft>
            </a:pPr>
            <a:r>
              <a:rPr sz="1300" b="0" i="0">
                <a:solidFill>
                  <a:srgbClr val="B6C0D0"/>
                </a:solidFill>
                <a:latin typeface="Inter"/>
              </a:rPr>
              <a:t>Our most recognizable asset. Use only approved files, exactly as supplied.</a:t>
            </a:r>
          </a:p>
        </p:txBody>
      </p:sp>
      <p:pic>
        <p:nvPicPr>
          <p:cNvPr id="5" name="Picture 4" descr="image.png"/>
          <p:cNvPicPr>
            <a:picLocks noChangeAspect="1"/>
          </p:cNvPicPr>
          <p:nvPr/>
        </p:nvPicPr>
        <p:blipFill>
          <a:blip r:embed="rId2"/>
          <a:stretch>
            <a:fillRect/>
          </a:stretch>
        </p:blipFill>
        <p:spPr>
          <a:xfrm>
            <a:off x="10957255" y="511159"/>
            <a:ext cx="731520" cy="2121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555955"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555955"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LOGO</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Our Logo</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The Halyard logo pairs the Signal mark, a wave rising inside a circle, with our wordmark. The two always appear together in the approved relationship.</a:t>
            </a:r>
          </a:p>
        </p:txBody>
      </p:sp>
      <p:sp>
        <p:nvSpPr>
          <p:cNvPr id="7" name="TextBox 6"/>
          <p:cNvSpPr txBox="1"/>
          <p:nvPr/>
        </p:nvSpPr>
        <p:spPr>
          <a:xfrm>
            <a:off x="502920" y="2980944"/>
            <a:ext cx="3108959" cy="3054096"/>
          </a:xfrm>
          <a:prstGeom prst="rect">
            <a:avLst/>
          </a:prstGeom>
          <a:noFill/>
        </p:spPr>
        <p:txBody>
          <a:bodyPr wrap="square" lIns="0" rIns="0" tIns="0" bIns="0" anchor="t">
            <a:spAutoFit/>
          </a:bodyPr>
          <a:lstStyle/>
          <a:p>
            <a:pPr algn="l" marL="164592" indent="-164592">
              <a:spcAft>
                <a:spcPts val="500"/>
              </a:spcAft>
              <a:buClr>
                <a:srgbClr val="0E1525"/>
              </a:buClr>
              <a:buChar char="•"/>
            </a:pPr>
            <a:r>
              <a:rPr sz="1050" b="0" i="0">
                <a:solidFill>
                  <a:srgbClr val="0E1525"/>
                </a:solidFill>
                <a:latin typeface="Inter"/>
              </a:rPr>
              <a:t>Signal mark: the circle and wave</a:t>
            </a:r>
          </a:p>
          <a:p>
            <a:pPr algn="l" marL="164592" indent="-164592">
              <a:spcAft>
                <a:spcPts val="500"/>
              </a:spcAft>
              <a:buClr>
                <a:srgbClr val="0E1525"/>
              </a:buClr>
              <a:buChar char="•"/>
            </a:pPr>
            <a:r>
              <a:rPr sz="1050" b="0" i="0">
                <a:solidFill>
                  <a:srgbClr val="0E1525"/>
                </a:solidFill>
                <a:latin typeface="Inter"/>
              </a:rPr>
              <a:t>Wordmark: custom-drawn lowercase lettering</a:t>
            </a:r>
          </a:p>
          <a:p>
            <a:pPr algn="l" marL="164592" indent="-164592">
              <a:spcAft>
                <a:spcPts val="500"/>
              </a:spcAft>
              <a:buClr>
                <a:srgbClr val="0E1525"/>
              </a:buClr>
              <a:buChar char="•"/>
            </a:pPr>
            <a:r>
              <a:rPr sz="1050" b="0" i="0">
                <a:solidFill>
                  <a:srgbClr val="0E1525"/>
                </a:solidFill>
                <a:latin typeface="Inter"/>
              </a:rPr>
              <a:t>The mark and wordmark are one lockup and are never redrawn</a:t>
            </a:r>
          </a:p>
        </p:txBody>
      </p:sp>
      <p:pic>
        <p:nvPicPr>
          <p:cNvPr id="8" name="Picture 7" descr="image.png"/>
          <p:cNvPicPr>
            <a:picLocks noChangeAspect="1"/>
          </p:cNvPicPr>
          <p:nvPr/>
        </p:nvPicPr>
        <p:blipFill>
          <a:blip r:embed="rId2"/>
          <a:stretch>
            <a:fillRect/>
          </a:stretch>
        </p:blipFill>
        <p:spPr>
          <a:xfrm>
            <a:off x="5257800" y="2609285"/>
            <a:ext cx="5653735" cy="1639429"/>
          </a:xfrm>
          <a:prstGeom prst="rect">
            <a:avLst/>
          </a:prstGeom>
        </p:spPr>
      </p:pic>
      <p:sp>
        <p:nvSpPr>
          <p:cNvPr id="9" name="TextBox 8"/>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Logo</a:t>
            </a:r>
          </a:p>
        </p:txBody>
      </p:sp>
      <p:sp>
        <p:nvSpPr>
          <p:cNvPr id="10" name="TextBox 9"/>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11 / 41</a:t>
            </a:r>
          </a:p>
        </p:txBody>
      </p:sp>
      <p:pic>
        <p:nvPicPr>
          <p:cNvPr id="11" name="Picture 10" descr="image.png"/>
          <p:cNvPicPr>
            <a:picLocks noChangeAspect="1"/>
          </p:cNvPicPr>
          <p:nvPr/>
        </p:nvPicPr>
        <p:blipFill>
          <a:blip r:embed="rId3"/>
          <a:stretch>
            <a:fillRect/>
          </a:stretch>
        </p:blipFill>
        <p:spPr>
          <a:xfrm>
            <a:off x="11441887" y="365760"/>
            <a:ext cx="292608" cy="29260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555955"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555955"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LOGO</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Logo Variations</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Choose the version by the background it sits on, not by taste.</a:t>
            </a:r>
          </a:p>
        </p:txBody>
      </p:sp>
      <p:sp>
        <p:nvSpPr>
          <p:cNvPr id="7" name="Rectangle 6"/>
          <p:cNvSpPr/>
          <p:nvPr/>
        </p:nvSpPr>
        <p:spPr>
          <a:xfrm>
            <a:off x="4343400" y="731520"/>
            <a:ext cx="2326538" cy="189738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mage.png"/>
          <p:cNvPicPr>
            <a:picLocks noChangeAspect="1"/>
          </p:cNvPicPr>
          <p:nvPr/>
        </p:nvPicPr>
        <p:blipFill>
          <a:blip r:embed="rId2"/>
          <a:stretch>
            <a:fillRect/>
          </a:stretch>
        </p:blipFill>
        <p:spPr>
          <a:xfrm>
            <a:off x="4762176" y="1464327"/>
            <a:ext cx="1488984" cy="431765"/>
          </a:xfrm>
          <a:prstGeom prst="rect">
            <a:avLst/>
          </a:prstGeom>
        </p:spPr>
      </p:pic>
      <p:sp>
        <p:nvSpPr>
          <p:cNvPr id="9" name="TextBox 8"/>
          <p:cNvSpPr txBox="1"/>
          <p:nvPr/>
        </p:nvSpPr>
        <p:spPr>
          <a:xfrm>
            <a:off x="4343400" y="2692908"/>
            <a:ext cx="2326538" cy="228600"/>
          </a:xfrm>
          <a:prstGeom prst="rect">
            <a:avLst/>
          </a:prstGeom>
          <a:noFill/>
        </p:spPr>
        <p:txBody>
          <a:bodyPr wrap="square" lIns="0" rIns="0" tIns="0" bIns="0" anchor="t">
            <a:spAutoFit/>
          </a:bodyPr>
          <a:lstStyle/>
          <a:p>
            <a:pPr algn="l">
              <a:spcAft>
                <a:spcPts val="400"/>
              </a:spcAft>
            </a:pPr>
            <a:r>
              <a:rPr sz="950" b="1" i="0">
                <a:solidFill>
                  <a:srgbClr val="0E1525"/>
                </a:solidFill>
                <a:latin typeface="Inter"/>
              </a:rPr>
              <a:t>Full color  (preferred)</a:t>
            </a:r>
          </a:p>
        </p:txBody>
      </p:sp>
      <p:sp>
        <p:nvSpPr>
          <p:cNvPr id="10" name="TextBox 9"/>
          <p:cNvSpPr txBox="1"/>
          <p:nvPr/>
        </p:nvSpPr>
        <p:spPr>
          <a:xfrm>
            <a:off x="4343400" y="2903220"/>
            <a:ext cx="2326538" cy="411480"/>
          </a:xfrm>
          <a:prstGeom prst="rect">
            <a:avLst/>
          </a:prstGeom>
          <a:noFill/>
        </p:spPr>
        <p:txBody>
          <a:bodyPr wrap="square" lIns="0" rIns="0" tIns="0" bIns="0" anchor="t">
            <a:spAutoFit/>
          </a:bodyPr>
          <a:lstStyle/>
          <a:p>
            <a:pPr algn="l">
              <a:spcAft>
                <a:spcPts val="400"/>
              </a:spcAft>
            </a:pPr>
            <a:r>
              <a:rPr sz="800" b="0" i="0">
                <a:solidFill>
                  <a:srgbClr val="6B778C"/>
                </a:solidFill>
                <a:latin typeface="Inter"/>
              </a:rPr>
              <a:t>Default. White and light gray backgrounds.</a:t>
            </a:r>
          </a:p>
        </p:txBody>
      </p:sp>
      <p:sp>
        <p:nvSpPr>
          <p:cNvPr id="11" name="Rectangle 10"/>
          <p:cNvSpPr/>
          <p:nvPr/>
        </p:nvSpPr>
        <p:spPr>
          <a:xfrm>
            <a:off x="6898538" y="731520"/>
            <a:ext cx="2326538" cy="1897380"/>
          </a:xfrm>
          <a:prstGeom prst="rect">
            <a:avLst/>
          </a:prstGeom>
          <a:solidFill>
            <a:srgbClr val="0E1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png"/>
          <p:cNvPicPr>
            <a:picLocks noChangeAspect="1"/>
          </p:cNvPicPr>
          <p:nvPr/>
        </p:nvPicPr>
        <p:blipFill>
          <a:blip r:embed="rId3"/>
          <a:stretch>
            <a:fillRect/>
          </a:stretch>
        </p:blipFill>
        <p:spPr>
          <a:xfrm>
            <a:off x="7317315" y="1464327"/>
            <a:ext cx="1488984" cy="431765"/>
          </a:xfrm>
          <a:prstGeom prst="rect">
            <a:avLst/>
          </a:prstGeom>
        </p:spPr>
      </p:pic>
      <p:sp>
        <p:nvSpPr>
          <p:cNvPr id="13" name="TextBox 12"/>
          <p:cNvSpPr txBox="1"/>
          <p:nvPr/>
        </p:nvSpPr>
        <p:spPr>
          <a:xfrm>
            <a:off x="6898538" y="2692908"/>
            <a:ext cx="2326538" cy="228600"/>
          </a:xfrm>
          <a:prstGeom prst="rect">
            <a:avLst/>
          </a:prstGeom>
          <a:noFill/>
        </p:spPr>
        <p:txBody>
          <a:bodyPr wrap="square" lIns="0" rIns="0" tIns="0" bIns="0" anchor="t">
            <a:spAutoFit/>
          </a:bodyPr>
          <a:lstStyle/>
          <a:p>
            <a:pPr algn="l">
              <a:spcAft>
                <a:spcPts val="400"/>
              </a:spcAft>
            </a:pPr>
            <a:r>
              <a:rPr sz="950" b="1" i="0">
                <a:solidFill>
                  <a:srgbClr val="0E1525"/>
                </a:solidFill>
                <a:latin typeface="Inter"/>
              </a:rPr>
              <a:t>Knockout</a:t>
            </a:r>
          </a:p>
        </p:txBody>
      </p:sp>
      <p:sp>
        <p:nvSpPr>
          <p:cNvPr id="14" name="TextBox 13"/>
          <p:cNvSpPr txBox="1"/>
          <p:nvPr/>
        </p:nvSpPr>
        <p:spPr>
          <a:xfrm>
            <a:off x="6898538" y="2903220"/>
            <a:ext cx="2326538" cy="411480"/>
          </a:xfrm>
          <a:prstGeom prst="rect">
            <a:avLst/>
          </a:prstGeom>
          <a:noFill/>
        </p:spPr>
        <p:txBody>
          <a:bodyPr wrap="square" lIns="0" rIns="0" tIns="0" bIns="0" anchor="t">
            <a:spAutoFit/>
          </a:bodyPr>
          <a:lstStyle/>
          <a:p>
            <a:pPr algn="l">
              <a:spcAft>
                <a:spcPts val="400"/>
              </a:spcAft>
            </a:pPr>
            <a:r>
              <a:rPr sz="800" b="0" i="0">
                <a:solidFill>
                  <a:srgbClr val="6B778C"/>
                </a:solidFill>
                <a:latin typeface="Inter"/>
              </a:rPr>
              <a:t>Ink and other dark backgrounds.</a:t>
            </a:r>
          </a:p>
        </p:txBody>
      </p:sp>
      <p:sp>
        <p:nvSpPr>
          <p:cNvPr id="15" name="Rectangle 14"/>
          <p:cNvSpPr/>
          <p:nvPr/>
        </p:nvSpPr>
        <p:spPr>
          <a:xfrm>
            <a:off x="9453676" y="731520"/>
            <a:ext cx="2326538" cy="1897380"/>
          </a:xfrm>
          <a:prstGeom prst="rect">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image.png"/>
          <p:cNvPicPr>
            <a:picLocks noChangeAspect="1"/>
          </p:cNvPicPr>
          <p:nvPr/>
        </p:nvPicPr>
        <p:blipFill>
          <a:blip r:embed="rId4"/>
          <a:stretch>
            <a:fillRect/>
          </a:stretch>
        </p:blipFill>
        <p:spPr>
          <a:xfrm>
            <a:off x="9872453" y="1464327"/>
            <a:ext cx="1488984" cy="431765"/>
          </a:xfrm>
          <a:prstGeom prst="rect">
            <a:avLst/>
          </a:prstGeom>
        </p:spPr>
      </p:pic>
      <p:sp>
        <p:nvSpPr>
          <p:cNvPr id="17" name="TextBox 16"/>
          <p:cNvSpPr txBox="1"/>
          <p:nvPr/>
        </p:nvSpPr>
        <p:spPr>
          <a:xfrm>
            <a:off x="9453676" y="2692908"/>
            <a:ext cx="2326538" cy="228600"/>
          </a:xfrm>
          <a:prstGeom prst="rect">
            <a:avLst/>
          </a:prstGeom>
          <a:noFill/>
        </p:spPr>
        <p:txBody>
          <a:bodyPr wrap="square" lIns="0" rIns="0" tIns="0" bIns="0" anchor="t">
            <a:spAutoFit/>
          </a:bodyPr>
          <a:lstStyle/>
          <a:p>
            <a:pPr algn="l">
              <a:spcAft>
                <a:spcPts val="400"/>
              </a:spcAft>
            </a:pPr>
            <a:r>
              <a:rPr sz="950" b="1" i="0">
                <a:solidFill>
                  <a:srgbClr val="0E1525"/>
                </a:solidFill>
                <a:latin typeface="Inter"/>
              </a:rPr>
              <a:t>All white</a:t>
            </a:r>
          </a:p>
        </p:txBody>
      </p:sp>
      <p:sp>
        <p:nvSpPr>
          <p:cNvPr id="18" name="TextBox 17"/>
          <p:cNvSpPr txBox="1"/>
          <p:nvPr/>
        </p:nvSpPr>
        <p:spPr>
          <a:xfrm>
            <a:off x="9453676" y="2903220"/>
            <a:ext cx="2326538" cy="411480"/>
          </a:xfrm>
          <a:prstGeom prst="rect">
            <a:avLst/>
          </a:prstGeom>
          <a:noFill/>
        </p:spPr>
        <p:txBody>
          <a:bodyPr wrap="square" lIns="0" rIns="0" tIns="0" bIns="0" anchor="t">
            <a:spAutoFit/>
          </a:bodyPr>
          <a:lstStyle/>
          <a:p>
            <a:pPr algn="l">
              <a:spcAft>
                <a:spcPts val="400"/>
              </a:spcAft>
            </a:pPr>
            <a:r>
              <a:rPr sz="800" b="0" i="0">
                <a:solidFill>
                  <a:srgbClr val="6B778C"/>
                </a:solidFill>
                <a:latin typeface="Inter"/>
              </a:rPr>
              <a:t>On Halyard Blue only.</a:t>
            </a:r>
          </a:p>
        </p:txBody>
      </p:sp>
      <p:sp>
        <p:nvSpPr>
          <p:cNvPr id="19" name="Rectangle 18"/>
          <p:cNvSpPr/>
          <p:nvPr/>
        </p:nvSpPr>
        <p:spPr>
          <a:xfrm>
            <a:off x="4343400" y="3543300"/>
            <a:ext cx="2326538" cy="189738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png"/>
          <p:cNvPicPr>
            <a:picLocks noChangeAspect="1"/>
          </p:cNvPicPr>
          <p:nvPr/>
        </p:nvPicPr>
        <p:blipFill>
          <a:blip r:embed="rId5"/>
          <a:stretch>
            <a:fillRect/>
          </a:stretch>
        </p:blipFill>
        <p:spPr>
          <a:xfrm>
            <a:off x="4762176" y="4276107"/>
            <a:ext cx="1488984" cy="431765"/>
          </a:xfrm>
          <a:prstGeom prst="rect">
            <a:avLst/>
          </a:prstGeom>
        </p:spPr>
      </p:pic>
      <p:sp>
        <p:nvSpPr>
          <p:cNvPr id="21" name="TextBox 20"/>
          <p:cNvSpPr txBox="1"/>
          <p:nvPr/>
        </p:nvSpPr>
        <p:spPr>
          <a:xfrm>
            <a:off x="4343400" y="5504688"/>
            <a:ext cx="2326538" cy="228600"/>
          </a:xfrm>
          <a:prstGeom prst="rect">
            <a:avLst/>
          </a:prstGeom>
          <a:noFill/>
        </p:spPr>
        <p:txBody>
          <a:bodyPr wrap="square" lIns="0" rIns="0" tIns="0" bIns="0" anchor="t">
            <a:spAutoFit/>
          </a:bodyPr>
          <a:lstStyle/>
          <a:p>
            <a:pPr algn="l">
              <a:spcAft>
                <a:spcPts val="400"/>
              </a:spcAft>
            </a:pPr>
            <a:r>
              <a:rPr sz="950" b="1" i="0">
                <a:solidFill>
                  <a:srgbClr val="0E1525"/>
                </a:solidFill>
                <a:latin typeface="Inter"/>
              </a:rPr>
              <a:t>All ink</a:t>
            </a:r>
          </a:p>
        </p:txBody>
      </p:sp>
      <p:sp>
        <p:nvSpPr>
          <p:cNvPr id="22" name="TextBox 21"/>
          <p:cNvSpPr txBox="1"/>
          <p:nvPr/>
        </p:nvSpPr>
        <p:spPr>
          <a:xfrm>
            <a:off x="4343400" y="5715000"/>
            <a:ext cx="2326538" cy="411480"/>
          </a:xfrm>
          <a:prstGeom prst="rect">
            <a:avLst/>
          </a:prstGeom>
          <a:noFill/>
        </p:spPr>
        <p:txBody>
          <a:bodyPr wrap="square" lIns="0" rIns="0" tIns="0" bIns="0" anchor="t">
            <a:spAutoFit/>
          </a:bodyPr>
          <a:lstStyle/>
          <a:p>
            <a:pPr algn="l">
              <a:spcAft>
                <a:spcPts val="400"/>
              </a:spcAft>
            </a:pPr>
            <a:r>
              <a:rPr sz="800" b="0" i="0">
                <a:solidFill>
                  <a:srgbClr val="6B778C"/>
                </a:solidFill>
                <a:latin typeface="Inter"/>
              </a:rPr>
              <a:t>One-color print and engraving.</a:t>
            </a:r>
          </a:p>
        </p:txBody>
      </p:sp>
      <p:sp>
        <p:nvSpPr>
          <p:cNvPr id="23" name="Rectangle 22"/>
          <p:cNvSpPr/>
          <p:nvPr/>
        </p:nvSpPr>
        <p:spPr>
          <a:xfrm>
            <a:off x="6898538" y="3543300"/>
            <a:ext cx="2326538" cy="189738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image.png"/>
          <p:cNvPicPr>
            <a:picLocks noChangeAspect="1"/>
          </p:cNvPicPr>
          <p:nvPr/>
        </p:nvPicPr>
        <p:blipFill>
          <a:blip r:embed="rId6"/>
          <a:stretch>
            <a:fillRect/>
          </a:stretch>
        </p:blipFill>
        <p:spPr>
          <a:xfrm>
            <a:off x="7341717" y="3771900"/>
            <a:ext cx="1440180" cy="1440180"/>
          </a:xfrm>
          <a:prstGeom prst="rect">
            <a:avLst/>
          </a:prstGeom>
        </p:spPr>
      </p:pic>
      <p:sp>
        <p:nvSpPr>
          <p:cNvPr id="25" name="TextBox 24"/>
          <p:cNvSpPr txBox="1"/>
          <p:nvPr/>
        </p:nvSpPr>
        <p:spPr>
          <a:xfrm>
            <a:off x="6898538" y="5504688"/>
            <a:ext cx="2326538" cy="228600"/>
          </a:xfrm>
          <a:prstGeom prst="rect">
            <a:avLst/>
          </a:prstGeom>
          <a:noFill/>
        </p:spPr>
        <p:txBody>
          <a:bodyPr wrap="square" lIns="0" rIns="0" tIns="0" bIns="0" anchor="t">
            <a:spAutoFit/>
          </a:bodyPr>
          <a:lstStyle/>
          <a:p>
            <a:pPr algn="l">
              <a:spcAft>
                <a:spcPts val="400"/>
              </a:spcAft>
            </a:pPr>
            <a:r>
              <a:rPr sz="950" b="1" i="0">
                <a:solidFill>
                  <a:srgbClr val="0E1525"/>
                </a:solidFill>
                <a:latin typeface="Inter"/>
              </a:rPr>
              <a:t>Signal mark</a:t>
            </a:r>
          </a:p>
        </p:txBody>
      </p:sp>
      <p:sp>
        <p:nvSpPr>
          <p:cNvPr id="26" name="TextBox 25"/>
          <p:cNvSpPr txBox="1"/>
          <p:nvPr/>
        </p:nvSpPr>
        <p:spPr>
          <a:xfrm>
            <a:off x="6898538" y="5715000"/>
            <a:ext cx="2326538" cy="411480"/>
          </a:xfrm>
          <a:prstGeom prst="rect">
            <a:avLst/>
          </a:prstGeom>
          <a:noFill/>
        </p:spPr>
        <p:txBody>
          <a:bodyPr wrap="square" lIns="0" rIns="0" tIns="0" bIns="0" anchor="t">
            <a:spAutoFit/>
          </a:bodyPr>
          <a:lstStyle/>
          <a:p>
            <a:pPr algn="l">
              <a:spcAft>
                <a:spcPts val="400"/>
              </a:spcAft>
            </a:pPr>
            <a:r>
              <a:rPr sz="800" b="0" i="0">
                <a:solidFill>
                  <a:srgbClr val="6B778C"/>
                </a:solidFill>
                <a:latin typeface="Inter"/>
              </a:rPr>
              <a:t>Favicons and avatars where the full logo will not fit.</a:t>
            </a:r>
          </a:p>
        </p:txBody>
      </p:sp>
      <p:sp>
        <p:nvSpPr>
          <p:cNvPr id="27" name="TextBox 26"/>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Logo</a:t>
            </a:r>
          </a:p>
        </p:txBody>
      </p:sp>
      <p:sp>
        <p:nvSpPr>
          <p:cNvPr id="28" name="TextBox 27"/>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12 / 41</a:t>
            </a:r>
          </a:p>
        </p:txBody>
      </p:sp>
      <p:pic>
        <p:nvPicPr>
          <p:cNvPr id="29" name="Picture 28" descr="image.png"/>
          <p:cNvPicPr>
            <a:picLocks noChangeAspect="1"/>
          </p:cNvPicPr>
          <p:nvPr/>
        </p:nvPicPr>
        <p:blipFill>
          <a:blip r:embed="rId6"/>
          <a:stretch>
            <a:fillRect/>
          </a:stretch>
        </p:blipFill>
        <p:spPr>
          <a:xfrm>
            <a:off x="11441887" y="365760"/>
            <a:ext cx="292608" cy="29260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555955"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555955"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LOGO</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Clear Space and Minimum Size</a:t>
            </a:r>
          </a:p>
        </p:txBody>
      </p:sp>
      <p:sp>
        <p:nvSpPr>
          <p:cNvPr id="6" name="TextBox 5"/>
          <p:cNvSpPr txBox="1"/>
          <p:nvPr/>
        </p:nvSpPr>
        <p:spPr>
          <a:xfrm>
            <a:off x="502920" y="233172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Keep a clear zone of x on every side of the logo, where x is half the height of the Signal mark. No text, imagery, or edges inside it.</a:t>
            </a:r>
          </a:p>
        </p:txBody>
      </p:sp>
      <p:pic>
        <p:nvPicPr>
          <p:cNvPr id="7" name="Picture 6" descr="image.png"/>
          <p:cNvPicPr>
            <a:picLocks noChangeAspect="1"/>
          </p:cNvPicPr>
          <p:nvPr/>
        </p:nvPicPr>
        <p:blipFill>
          <a:blip r:embed="rId2"/>
          <a:stretch>
            <a:fillRect/>
          </a:stretch>
        </p:blipFill>
        <p:spPr>
          <a:xfrm>
            <a:off x="4590553" y="731520"/>
            <a:ext cx="6942508" cy="3566160"/>
          </a:xfrm>
          <a:prstGeom prst="rect">
            <a:avLst/>
          </a:prstGeom>
        </p:spPr>
      </p:pic>
      <p:sp>
        <p:nvSpPr>
          <p:cNvPr id="8" name="TextBox 7"/>
          <p:cNvSpPr txBox="1"/>
          <p:nvPr/>
        </p:nvSpPr>
        <p:spPr>
          <a:xfrm>
            <a:off x="4343400" y="4343400"/>
            <a:ext cx="7436815" cy="365760"/>
          </a:xfrm>
          <a:prstGeom prst="rect">
            <a:avLst/>
          </a:prstGeom>
          <a:noFill/>
        </p:spPr>
        <p:txBody>
          <a:bodyPr wrap="square" lIns="0" rIns="0" tIns="0" bIns="0" anchor="t">
            <a:spAutoFit/>
          </a:bodyPr>
          <a:lstStyle/>
          <a:p>
            <a:pPr algn="ctr">
              <a:spcAft>
                <a:spcPts val="400"/>
              </a:spcAft>
            </a:pPr>
            <a:r>
              <a:rPr sz="1000" b="0" i="0">
                <a:solidFill>
                  <a:srgbClr val="6B778C"/>
                </a:solidFill>
                <a:latin typeface="Inter"/>
              </a:rPr>
              <a:t>x = half the height of the Signal mark</a:t>
            </a:r>
          </a:p>
        </p:txBody>
      </p:sp>
      <p:sp>
        <p:nvSpPr>
          <p:cNvPr id="9" name="Rectangle 8"/>
          <p:cNvSpPr/>
          <p:nvPr/>
        </p:nvSpPr>
        <p:spPr>
          <a:xfrm>
            <a:off x="4343400" y="4892040"/>
            <a:ext cx="2341778" cy="10515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26280" y="5029200"/>
            <a:ext cx="2021738" cy="274320"/>
          </a:xfrm>
          <a:prstGeom prst="rect">
            <a:avLst/>
          </a:prstGeom>
          <a:noFill/>
        </p:spPr>
        <p:txBody>
          <a:bodyPr wrap="square" lIns="0" rIns="0" tIns="0" bIns="0" anchor="t">
            <a:spAutoFit/>
          </a:bodyPr>
          <a:lstStyle/>
          <a:p>
            <a:pPr algn="l">
              <a:spcAft>
                <a:spcPts val="400"/>
              </a:spcAft>
            </a:pPr>
            <a:r>
              <a:rPr sz="800" b="1" i="0" spc="100">
                <a:solidFill>
                  <a:srgbClr val="1F5EFF"/>
                </a:solidFill>
                <a:latin typeface="Inter"/>
              </a:rPr>
              <a:t>PRINT</a:t>
            </a:r>
          </a:p>
        </p:txBody>
      </p:sp>
      <p:sp>
        <p:nvSpPr>
          <p:cNvPr id="11" name="TextBox 10"/>
          <p:cNvSpPr txBox="1"/>
          <p:nvPr/>
        </p:nvSpPr>
        <p:spPr>
          <a:xfrm>
            <a:off x="4526280" y="5303520"/>
            <a:ext cx="2021738" cy="548640"/>
          </a:xfrm>
          <a:prstGeom prst="rect">
            <a:avLst/>
          </a:prstGeom>
          <a:noFill/>
        </p:spPr>
        <p:txBody>
          <a:bodyPr wrap="square" lIns="0" rIns="0" tIns="0" bIns="0" anchor="t">
            <a:spAutoFit/>
          </a:bodyPr>
          <a:lstStyle/>
          <a:p>
            <a:pPr algn="l">
              <a:spcAft>
                <a:spcPts val="400"/>
              </a:spcAft>
            </a:pPr>
            <a:r>
              <a:rPr sz="1400" b="0" i="0">
                <a:solidFill>
                  <a:srgbClr val="0E1525"/>
                </a:solidFill>
                <a:latin typeface="Inter Display"/>
              </a:rPr>
              <a:t>1 in / 25 mm wide</a:t>
            </a:r>
          </a:p>
        </p:txBody>
      </p:sp>
      <p:sp>
        <p:nvSpPr>
          <p:cNvPr id="12" name="Rectangle 11"/>
          <p:cNvSpPr/>
          <p:nvPr/>
        </p:nvSpPr>
        <p:spPr>
          <a:xfrm>
            <a:off x="6822338" y="4892040"/>
            <a:ext cx="2341778" cy="10515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05218" y="5029200"/>
            <a:ext cx="2021738" cy="274320"/>
          </a:xfrm>
          <a:prstGeom prst="rect">
            <a:avLst/>
          </a:prstGeom>
          <a:noFill/>
        </p:spPr>
        <p:txBody>
          <a:bodyPr wrap="square" lIns="0" rIns="0" tIns="0" bIns="0" anchor="t">
            <a:spAutoFit/>
          </a:bodyPr>
          <a:lstStyle/>
          <a:p>
            <a:pPr algn="l">
              <a:spcAft>
                <a:spcPts val="400"/>
              </a:spcAft>
            </a:pPr>
            <a:r>
              <a:rPr sz="800" b="1" i="0" spc="100">
                <a:solidFill>
                  <a:srgbClr val="1F5EFF"/>
                </a:solidFill>
                <a:latin typeface="Inter"/>
              </a:rPr>
              <a:t>DIGITAL</a:t>
            </a:r>
          </a:p>
        </p:txBody>
      </p:sp>
      <p:sp>
        <p:nvSpPr>
          <p:cNvPr id="14" name="TextBox 13"/>
          <p:cNvSpPr txBox="1"/>
          <p:nvPr/>
        </p:nvSpPr>
        <p:spPr>
          <a:xfrm>
            <a:off x="7005218" y="5303520"/>
            <a:ext cx="2021738" cy="548640"/>
          </a:xfrm>
          <a:prstGeom prst="rect">
            <a:avLst/>
          </a:prstGeom>
          <a:noFill/>
        </p:spPr>
        <p:txBody>
          <a:bodyPr wrap="square" lIns="0" rIns="0" tIns="0" bIns="0" anchor="t">
            <a:spAutoFit/>
          </a:bodyPr>
          <a:lstStyle/>
          <a:p>
            <a:pPr algn="l">
              <a:spcAft>
                <a:spcPts val="400"/>
              </a:spcAft>
            </a:pPr>
            <a:r>
              <a:rPr sz="1400" b="0" i="0">
                <a:solidFill>
                  <a:srgbClr val="0E1525"/>
                </a:solidFill>
                <a:latin typeface="Inter Display"/>
              </a:rPr>
              <a:t>120 px wide</a:t>
            </a:r>
          </a:p>
        </p:txBody>
      </p:sp>
      <p:sp>
        <p:nvSpPr>
          <p:cNvPr id="15" name="Rectangle 14"/>
          <p:cNvSpPr/>
          <p:nvPr/>
        </p:nvSpPr>
        <p:spPr>
          <a:xfrm>
            <a:off x="9301276" y="4892040"/>
            <a:ext cx="2341778" cy="10515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484156" y="5029200"/>
            <a:ext cx="2021738" cy="274320"/>
          </a:xfrm>
          <a:prstGeom prst="rect">
            <a:avLst/>
          </a:prstGeom>
          <a:noFill/>
        </p:spPr>
        <p:txBody>
          <a:bodyPr wrap="square" lIns="0" rIns="0" tIns="0" bIns="0" anchor="t">
            <a:spAutoFit/>
          </a:bodyPr>
          <a:lstStyle/>
          <a:p>
            <a:pPr algn="l">
              <a:spcAft>
                <a:spcPts val="400"/>
              </a:spcAft>
            </a:pPr>
            <a:r>
              <a:rPr sz="800" b="1" i="0" spc="100">
                <a:solidFill>
                  <a:srgbClr val="1F5EFF"/>
                </a:solidFill>
                <a:latin typeface="Inter"/>
              </a:rPr>
              <a:t>MARK ONLY</a:t>
            </a:r>
          </a:p>
        </p:txBody>
      </p:sp>
      <p:sp>
        <p:nvSpPr>
          <p:cNvPr id="17" name="TextBox 16"/>
          <p:cNvSpPr txBox="1"/>
          <p:nvPr/>
        </p:nvSpPr>
        <p:spPr>
          <a:xfrm>
            <a:off x="9484156" y="5303520"/>
            <a:ext cx="2021738" cy="548640"/>
          </a:xfrm>
          <a:prstGeom prst="rect">
            <a:avLst/>
          </a:prstGeom>
          <a:noFill/>
        </p:spPr>
        <p:txBody>
          <a:bodyPr wrap="square" lIns="0" rIns="0" tIns="0" bIns="0" anchor="t">
            <a:spAutoFit/>
          </a:bodyPr>
          <a:lstStyle/>
          <a:p>
            <a:pPr algn="l">
              <a:spcAft>
                <a:spcPts val="400"/>
              </a:spcAft>
            </a:pPr>
            <a:r>
              <a:rPr sz="1400" b="0" i="0">
                <a:solidFill>
                  <a:srgbClr val="0E1525"/>
                </a:solidFill>
                <a:latin typeface="Inter Display"/>
              </a:rPr>
              <a:t>16 px</a:t>
            </a:r>
          </a:p>
        </p:txBody>
      </p:sp>
      <p:sp>
        <p:nvSpPr>
          <p:cNvPr id="18" name="TextBox 17"/>
          <p:cNvSpPr txBox="1"/>
          <p:nvPr/>
        </p:nvSpPr>
        <p:spPr>
          <a:xfrm>
            <a:off x="502920" y="4846320"/>
            <a:ext cx="3108959" cy="1280160"/>
          </a:xfrm>
          <a:prstGeom prst="rect">
            <a:avLst/>
          </a:prstGeom>
          <a:noFill/>
        </p:spPr>
        <p:txBody>
          <a:bodyPr wrap="square" lIns="0" rIns="0" tIns="0" bIns="0" anchor="t">
            <a:spAutoFit/>
          </a:bodyPr>
          <a:lstStyle/>
          <a:p>
            <a:pPr algn="l">
              <a:spcAft>
                <a:spcPts val="400"/>
              </a:spcAft>
            </a:pPr>
            <a:r>
              <a:rPr sz="950" b="0" i="1">
                <a:solidFill>
                  <a:srgbClr val="6B778C"/>
                </a:solidFill>
                <a:latin typeface="Inter"/>
              </a:rPr>
              <a:t>At favicon sizes the mark may fill up to 90% of the canvas.</a:t>
            </a:r>
          </a:p>
        </p:txBody>
      </p:sp>
      <p:sp>
        <p:nvSpPr>
          <p:cNvPr id="19" name="TextBox 18"/>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Logo</a:t>
            </a:r>
          </a:p>
        </p:txBody>
      </p:sp>
      <p:sp>
        <p:nvSpPr>
          <p:cNvPr id="20" name="TextBox 19"/>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13 / 41</a:t>
            </a:r>
          </a:p>
        </p:txBody>
      </p:sp>
      <p:pic>
        <p:nvPicPr>
          <p:cNvPr id="21" name="Picture 20" descr="image.png"/>
          <p:cNvPicPr>
            <a:picLocks noChangeAspect="1"/>
          </p:cNvPicPr>
          <p:nvPr/>
        </p:nvPicPr>
        <p:blipFill>
          <a:blip r:embed="rId3"/>
          <a:stretch>
            <a:fillRect/>
          </a:stretch>
        </p:blipFill>
        <p:spPr>
          <a:xfrm>
            <a:off x="11441887" y="365760"/>
            <a:ext cx="292608" cy="29260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555955"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555955"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LOGO</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Incorrect Logo Usage</a:t>
            </a:r>
          </a:p>
        </p:txBody>
      </p:sp>
      <p:sp>
        <p:nvSpPr>
          <p:cNvPr id="5" name="TextBox 4"/>
          <p:cNvSpPr txBox="1"/>
          <p:nvPr/>
        </p:nvSpPr>
        <p:spPr>
          <a:xfrm>
            <a:off x="502920" y="1371600"/>
            <a:ext cx="11185855" cy="457200"/>
          </a:xfrm>
          <a:prstGeom prst="rect">
            <a:avLst/>
          </a:prstGeom>
          <a:noFill/>
        </p:spPr>
        <p:txBody>
          <a:bodyPr wrap="square" lIns="0" rIns="0" tIns="0" bIns="0" anchor="t">
            <a:spAutoFit/>
          </a:bodyPr>
          <a:lstStyle/>
          <a:p>
            <a:pPr algn="l">
              <a:spcAft>
                <a:spcPts val="400"/>
              </a:spcAft>
            </a:pPr>
            <a:r>
              <a:rPr sz="1100" b="0" i="0">
                <a:solidFill>
                  <a:srgbClr val="6B778C"/>
                </a:solidFill>
                <a:latin typeface="Inter"/>
              </a:rPr>
              <a:t>Never alter the logo. These examples use our real logo to show what not to do.</a:t>
            </a:r>
          </a:p>
        </p:txBody>
      </p:sp>
      <p:sp>
        <p:nvSpPr>
          <p:cNvPr id="6" name="Rectangle 5"/>
          <p:cNvSpPr/>
          <p:nvPr/>
        </p:nvSpPr>
        <p:spPr>
          <a:xfrm>
            <a:off x="493776" y="1865376"/>
            <a:ext cx="2643301" cy="153496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mage.png"/>
          <p:cNvPicPr>
            <a:picLocks noChangeAspect="1"/>
          </p:cNvPicPr>
          <p:nvPr/>
        </p:nvPicPr>
        <p:blipFill>
          <a:blip r:embed="rId2"/>
          <a:stretch>
            <a:fillRect/>
          </a:stretch>
        </p:blipFill>
        <p:spPr>
          <a:xfrm>
            <a:off x="502920" y="1874519"/>
            <a:ext cx="2625013" cy="1516674"/>
          </a:xfrm>
          <a:prstGeom prst="rect">
            <a:avLst/>
          </a:prstGeom>
        </p:spPr>
      </p:pic>
      <p:sp>
        <p:nvSpPr>
          <p:cNvPr id="8" name="Oval 7"/>
          <p:cNvSpPr/>
          <p:nvPr/>
        </p:nvSpPr>
        <p:spPr>
          <a:xfrm>
            <a:off x="576072" y="1947672"/>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76072" y="1938528"/>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0" name="TextBox 9"/>
          <p:cNvSpPr txBox="1"/>
          <p:nvPr/>
        </p:nvSpPr>
        <p:spPr>
          <a:xfrm>
            <a:off x="502920" y="3464346"/>
            <a:ext cx="2625013" cy="502920"/>
          </a:xfrm>
          <a:prstGeom prst="rect">
            <a:avLst/>
          </a:prstGeom>
          <a:noFill/>
        </p:spPr>
        <p:txBody>
          <a:bodyPr wrap="square" lIns="0" rIns="0" tIns="0" bIns="0" anchor="t">
            <a:spAutoFit/>
          </a:bodyPr>
          <a:lstStyle/>
          <a:p>
            <a:pPr algn="l">
              <a:spcAft>
                <a:spcPts val="400"/>
              </a:spcAft>
            </a:pPr>
            <a:r>
              <a:rPr sz="900" b="0" i="0">
                <a:solidFill>
                  <a:srgbClr val="0E1525"/>
                </a:solidFill>
                <a:latin typeface="Inter"/>
              </a:rPr>
              <a:t>Do not stretch or distort the logo</a:t>
            </a:r>
          </a:p>
        </p:txBody>
      </p:sp>
      <p:sp>
        <p:nvSpPr>
          <p:cNvPr id="11" name="Rectangle 10"/>
          <p:cNvSpPr/>
          <p:nvPr/>
        </p:nvSpPr>
        <p:spPr>
          <a:xfrm>
            <a:off x="3347389" y="1865376"/>
            <a:ext cx="2643301" cy="153496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png"/>
          <p:cNvPicPr>
            <a:picLocks noChangeAspect="1"/>
          </p:cNvPicPr>
          <p:nvPr/>
        </p:nvPicPr>
        <p:blipFill>
          <a:blip r:embed="rId3"/>
          <a:stretch>
            <a:fillRect/>
          </a:stretch>
        </p:blipFill>
        <p:spPr>
          <a:xfrm>
            <a:off x="3356533" y="1874519"/>
            <a:ext cx="2625013" cy="1516674"/>
          </a:xfrm>
          <a:prstGeom prst="rect">
            <a:avLst/>
          </a:prstGeom>
        </p:spPr>
      </p:pic>
      <p:sp>
        <p:nvSpPr>
          <p:cNvPr id="13" name="Oval 12"/>
          <p:cNvSpPr/>
          <p:nvPr/>
        </p:nvSpPr>
        <p:spPr>
          <a:xfrm>
            <a:off x="3429685" y="1947672"/>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29685" y="1938528"/>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5" name="TextBox 14"/>
          <p:cNvSpPr txBox="1"/>
          <p:nvPr/>
        </p:nvSpPr>
        <p:spPr>
          <a:xfrm>
            <a:off x="3356533" y="3464346"/>
            <a:ext cx="2625013" cy="502920"/>
          </a:xfrm>
          <a:prstGeom prst="rect">
            <a:avLst/>
          </a:prstGeom>
          <a:noFill/>
        </p:spPr>
        <p:txBody>
          <a:bodyPr wrap="square" lIns="0" rIns="0" tIns="0" bIns="0" anchor="t">
            <a:spAutoFit/>
          </a:bodyPr>
          <a:lstStyle/>
          <a:p>
            <a:pPr algn="l">
              <a:spcAft>
                <a:spcPts val="400"/>
              </a:spcAft>
            </a:pPr>
            <a:r>
              <a:rPr sz="900" b="0" i="0">
                <a:solidFill>
                  <a:srgbClr val="0E1525"/>
                </a:solidFill>
                <a:latin typeface="Inter"/>
              </a:rPr>
              <a:t>Do not rotate, angle, or skew the logo</a:t>
            </a:r>
          </a:p>
        </p:txBody>
      </p:sp>
      <p:sp>
        <p:nvSpPr>
          <p:cNvPr id="16" name="Rectangle 15"/>
          <p:cNvSpPr/>
          <p:nvPr/>
        </p:nvSpPr>
        <p:spPr>
          <a:xfrm>
            <a:off x="6201003" y="1865376"/>
            <a:ext cx="2643301" cy="153496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mage.png"/>
          <p:cNvPicPr>
            <a:picLocks noChangeAspect="1"/>
          </p:cNvPicPr>
          <p:nvPr/>
        </p:nvPicPr>
        <p:blipFill>
          <a:blip r:embed="rId4"/>
          <a:stretch>
            <a:fillRect/>
          </a:stretch>
        </p:blipFill>
        <p:spPr>
          <a:xfrm>
            <a:off x="6210147" y="1874519"/>
            <a:ext cx="2625013" cy="1516674"/>
          </a:xfrm>
          <a:prstGeom prst="rect">
            <a:avLst/>
          </a:prstGeom>
        </p:spPr>
      </p:pic>
      <p:sp>
        <p:nvSpPr>
          <p:cNvPr id="18" name="Oval 17"/>
          <p:cNvSpPr/>
          <p:nvPr/>
        </p:nvSpPr>
        <p:spPr>
          <a:xfrm>
            <a:off x="6283299" y="1947672"/>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83299" y="1938528"/>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20" name="TextBox 19"/>
          <p:cNvSpPr txBox="1"/>
          <p:nvPr/>
        </p:nvSpPr>
        <p:spPr>
          <a:xfrm>
            <a:off x="6210147" y="3464346"/>
            <a:ext cx="2625013" cy="502920"/>
          </a:xfrm>
          <a:prstGeom prst="rect">
            <a:avLst/>
          </a:prstGeom>
          <a:noFill/>
        </p:spPr>
        <p:txBody>
          <a:bodyPr wrap="square" lIns="0" rIns="0" tIns="0" bIns="0" anchor="t">
            <a:spAutoFit/>
          </a:bodyPr>
          <a:lstStyle/>
          <a:p>
            <a:pPr algn="l">
              <a:spcAft>
                <a:spcPts val="400"/>
              </a:spcAft>
            </a:pPr>
            <a:r>
              <a:rPr sz="900" b="0" i="0">
                <a:solidFill>
                  <a:srgbClr val="0E1525"/>
                </a:solidFill>
                <a:latin typeface="Inter"/>
              </a:rPr>
              <a:t>Do not recolor the logo or use unapproved colors</a:t>
            </a:r>
          </a:p>
        </p:txBody>
      </p:sp>
      <p:sp>
        <p:nvSpPr>
          <p:cNvPr id="21" name="Rectangle 20"/>
          <p:cNvSpPr/>
          <p:nvPr/>
        </p:nvSpPr>
        <p:spPr>
          <a:xfrm>
            <a:off x="9054617" y="1865376"/>
            <a:ext cx="2643301" cy="153496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png"/>
          <p:cNvPicPr>
            <a:picLocks noChangeAspect="1"/>
          </p:cNvPicPr>
          <p:nvPr/>
        </p:nvPicPr>
        <p:blipFill>
          <a:blip r:embed="rId5"/>
          <a:stretch>
            <a:fillRect/>
          </a:stretch>
        </p:blipFill>
        <p:spPr>
          <a:xfrm>
            <a:off x="9063761" y="1874519"/>
            <a:ext cx="2625013" cy="1516674"/>
          </a:xfrm>
          <a:prstGeom prst="rect">
            <a:avLst/>
          </a:prstGeom>
        </p:spPr>
      </p:pic>
      <p:sp>
        <p:nvSpPr>
          <p:cNvPr id="23" name="Oval 22"/>
          <p:cNvSpPr/>
          <p:nvPr/>
        </p:nvSpPr>
        <p:spPr>
          <a:xfrm>
            <a:off x="9136913" y="1947672"/>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36913" y="1938528"/>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25" name="TextBox 24"/>
          <p:cNvSpPr txBox="1"/>
          <p:nvPr/>
        </p:nvSpPr>
        <p:spPr>
          <a:xfrm>
            <a:off x="9063761" y="3464346"/>
            <a:ext cx="2625013" cy="502920"/>
          </a:xfrm>
          <a:prstGeom prst="rect">
            <a:avLst/>
          </a:prstGeom>
          <a:noFill/>
        </p:spPr>
        <p:txBody>
          <a:bodyPr wrap="square" lIns="0" rIns="0" tIns="0" bIns="0" anchor="t">
            <a:spAutoFit/>
          </a:bodyPr>
          <a:lstStyle/>
          <a:p>
            <a:pPr algn="l">
              <a:spcAft>
                <a:spcPts val="400"/>
              </a:spcAft>
            </a:pPr>
            <a:r>
              <a:rPr sz="900" b="0" i="0">
                <a:solidFill>
                  <a:srgbClr val="0E1525"/>
                </a:solidFill>
                <a:latin typeface="Inter"/>
              </a:rPr>
              <a:t>Do not add drop shadows, glows, or other effects</a:t>
            </a:r>
          </a:p>
        </p:txBody>
      </p:sp>
      <p:sp>
        <p:nvSpPr>
          <p:cNvPr id="26" name="Rectangle 25"/>
          <p:cNvSpPr/>
          <p:nvPr/>
        </p:nvSpPr>
        <p:spPr>
          <a:xfrm>
            <a:off x="493776" y="4067850"/>
            <a:ext cx="2643301" cy="153496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image.png"/>
          <p:cNvPicPr>
            <a:picLocks noChangeAspect="1"/>
          </p:cNvPicPr>
          <p:nvPr/>
        </p:nvPicPr>
        <p:blipFill>
          <a:blip r:embed="rId6"/>
          <a:stretch>
            <a:fillRect/>
          </a:stretch>
        </p:blipFill>
        <p:spPr>
          <a:xfrm>
            <a:off x="502920" y="4076994"/>
            <a:ext cx="2625013" cy="1516674"/>
          </a:xfrm>
          <a:prstGeom prst="rect">
            <a:avLst/>
          </a:prstGeom>
        </p:spPr>
      </p:pic>
      <p:sp>
        <p:nvSpPr>
          <p:cNvPr id="28" name="Oval 27"/>
          <p:cNvSpPr/>
          <p:nvPr/>
        </p:nvSpPr>
        <p:spPr>
          <a:xfrm>
            <a:off x="576072" y="4150146"/>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76072" y="4141002"/>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30" name="TextBox 29"/>
          <p:cNvSpPr txBox="1"/>
          <p:nvPr/>
        </p:nvSpPr>
        <p:spPr>
          <a:xfrm>
            <a:off x="502920" y="5666821"/>
            <a:ext cx="2625013" cy="502920"/>
          </a:xfrm>
          <a:prstGeom prst="rect">
            <a:avLst/>
          </a:prstGeom>
          <a:noFill/>
        </p:spPr>
        <p:txBody>
          <a:bodyPr wrap="square" lIns="0" rIns="0" tIns="0" bIns="0" anchor="t">
            <a:spAutoFit/>
          </a:bodyPr>
          <a:lstStyle/>
          <a:p>
            <a:pPr algn="l">
              <a:spcAft>
                <a:spcPts val="400"/>
              </a:spcAft>
            </a:pPr>
            <a:r>
              <a:rPr sz="900" b="0" i="0">
                <a:solidFill>
                  <a:srgbClr val="0E1525"/>
                </a:solidFill>
                <a:latin typeface="Inter"/>
              </a:rPr>
              <a:t>Do not outline or stroke the logo</a:t>
            </a:r>
          </a:p>
        </p:txBody>
      </p:sp>
      <p:sp>
        <p:nvSpPr>
          <p:cNvPr id="31" name="Rectangle 30"/>
          <p:cNvSpPr/>
          <p:nvPr/>
        </p:nvSpPr>
        <p:spPr>
          <a:xfrm>
            <a:off x="3347389" y="4067850"/>
            <a:ext cx="2643301" cy="153496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image.png"/>
          <p:cNvPicPr>
            <a:picLocks noChangeAspect="1"/>
          </p:cNvPicPr>
          <p:nvPr/>
        </p:nvPicPr>
        <p:blipFill>
          <a:blip r:embed="rId7"/>
          <a:stretch>
            <a:fillRect/>
          </a:stretch>
        </p:blipFill>
        <p:spPr>
          <a:xfrm>
            <a:off x="3356533" y="4076994"/>
            <a:ext cx="2625013" cy="1516674"/>
          </a:xfrm>
          <a:prstGeom prst="rect">
            <a:avLst/>
          </a:prstGeom>
        </p:spPr>
      </p:pic>
      <p:sp>
        <p:nvSpPr>
          <p:cNvPr id="33" name="Oval 32"/>
          <p:cNvSpPr/>
          <p:nvPr/>
        </p:nvSpPr>
        <p:spPr>
          <a:xfrm>
            <a:off x="3429685" y="4150146"/>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429685" y="4141002"/>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35" name="TextBox 34"/>
          <p:cNvSpPr txBox="1"/>
          <p:nvPr/>
        </p:nvSpPr>
        <p:spPr>
          <a:xfrm>
            <a:off x="3356533" y="5666821"/>
            <a:ext cx="2625013" cy="502920"/>
          </a:xfrm>
          <a:prstGeom prst="rect">
            <a:avLst/>
          </a:prstGeom>
          <a:noFill/>
        </p:spPr>
        <p:txBody>
          <a:bodyPr wrap="square" lIns="0" rIns="0" tIns="0" bIns="0" anchor="t">
            <a:spAutoFit/>
          </a:bodyPr>
          <a:lstStyle/>
          <a:p>
            <a:pPr algn="l">
              <a:spcAft>
                <a:spcPts val="400"/>
              </a:spcAft>
            </a:pPr>
            <a:r>
              <a:rPr sz="900" b="0" i="0">
                <a:solidFill>
                  <a:srgbClr val="0E1525"/>
                </a:solidFill>
                <a:latin typeface="Inter"/>
              </a:rPr>
              <a:t>Do not place the logo on busy backgrounds or patterns</a:t>
            </a:r>
          </a:p>
        </p:txBody>
      </p:sp>
      <p:sp>
        <p:nvSpPr>
          <p:cNvPr id="36" name="Rectangle 35"/>
          <p:cNvSpPr/>
          <p:nvPr/>
        </p:nvSpPr>
        <p:spPr>
          <a:xfrm>
            <a:off x="6201003" y="4067850"/>
            <a:ext cx="2643301" cy="153496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image.png"/>
          <p:cNvPicPr>
            <a:picLocks noChangeAspect="1"/>
          </p:cNvPicPr>
          <p:nvPr/>
        </p:nvPicPr>
        <p:blipFill>
          <a:blip r:embed="rId8"/>
          <a:stretch>
            <a:fillRect/>
          </a:stretch>
        </p:blipFill>
        <p:spPr>
          <a:xfrm>
            <a:off x="6210147" y="4076994"/>
            <a:ext cx="2625013" cy="1516674"/>
          </a:xfrm>
          <a:prstGeom prst="rect">
            <a:avLst/>
          </a:prstGeom>
        </p:spPr>
      </p:pic>
      <p:sp>
        <p:nvSpPr>
          <p:cNvPr id="38" name="Oval 37"/>
          <p:cNvSpPr/>
          <p:nvPr/>
        </p:nvSpPr>
        <p:spPr>
          <a:xfrm>
            <a:off x="6283299" y="4150146"/>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283299" y="4141002"/>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40" name="TextBox 39"/>
          <p:cNvSpPr txBox="1"/>
          <p:nvPr/>
        </p:nvSpPr>
        <p:spPr>
          <a:xfrm>
            <a:off x="6210147" y="5666821"/>
            <a:ext cx="2625013" cy="502920"/>
          </a:xfrm>
          <a:prstGeom prst="rect">
            <a:avLst/>
          </a:prstGeom>
          <a:noFill/>
        </p:spPr>
        <p:txBody>
          <a:bodyPr wrap="square" lIns="0" rIns="0" tIns="0" bIns="0" anchor="t">
            <a:spAutoFit/>
          </a:bodyPr>
          <a:lstStyle/>
          <a:p>
            <a:pPr algn="l">
              <a:spcAft>
                <a:spcPts val="400"/>
              </a:spcAft>
            </a:pPr>
            <a:r>
              <a:rPr sz="900" b="0" i="0">
                <a:solidFill>
                  <a:srgbClr val="0E1525"/>
                </a:solidFill>
                <a:latin typeface="Inter"/>
              </a:rPr>
              <a:t>Do not use the light-mode logo on dark backgrounds</a:t>
            </a:r>
          </a:p>
        </p:txBody>
      </p:sp>
      <p:sp>
        <p:nvSpPr>
          <p:cNvPr id="41" name="Rectangle 40"/>
          <p:cNvSpPr/>
          <p:nvPr/>
        </p:nvSpPr>
        <p:spPr>
          <a:xfrm>
            <a:off x="9054617" y="4067850"/>
            <a:ext cx="2643301" cy="153496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image.png"/>
          <p:cNvPicPr>
            <a:picLocks noChangeAspect="1"/>
          </p:cNvPicPr>
          <p:nvPr/>
        </p:nvPicPr>
        <p:blipFill>
          <a:blip r:embed="rId9"/>
          <a:stretch>
            <a:fillRect/>
          </a:stretch>
        </p:blipFill>
        <p:spPr>
          <a:xfrm>
            <a:off x="9063761" y="4076994"/>
            <a:ext cx="2625013" cy="1516674"/>
          </a:xfrm>
          <a:prstGeom prst="rect">
            <a:avLst/>
          </a:prstGeom>
        </p:spPr>
      </p:pic>
      <p:sp>
        <p:nvSpPr>
          <p:cNvPr id="43" name="Oval 42"/>
          <p:cNvSpPr/>
          <p:nvPr/>
        </p:nvSpPr>
        <p:spPr>
          <a:xfrm>
            <a:off x="9136913" y="4150146"/>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136913" y="4141002"/>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45" name="TextBox 44"/>
          <p:cNvSpPr txBox="1"/>
          <p:nvPr/>
        </p:nvSpPr>
        <p:spPr>
          <a:xfrm>
            <a:off x="9063761" y="5666821"/>
            <a:ext cx="2625013" cy="502920"/>
          </a:xfrm>
          <a:prstGeom prst="rect">
            <a:avLst/>
          </a:prstGeom>
          <a:noFill/>
        </p:spPr>
        <p:txBody>
          <a:bodyPr wrap="square" lIns="0" rIns="0" tIns="0" bIns="0" anchor="t">
            <a:spAutoFit/>
          </a:bodyPr>
          <a:lstStyle/>
          <a:p>
            <a:pPr algn="l">
              <a:spcAft>
                <a:spcPts val="400"/>
              </a:spcAft>
            </a:pPr>
            <a:r>
              <a:rPr sz="900" b="0" i="0">
                <a:solidFill>
                  <a:srgbClr val="0E1525"/>
                </a:solidFill>
                <a:latin typeface="Inter"/>
              </a:rPr>
              <a:t>Do not crowd the logo or ignore its clear space</a:t>
            </a:r>
          </a:p>
        </p:txBody>
      </p:sp>
      <p:sp>
        <p:nvSpPr>
          <p:cNvPr id="46" name="TextBox 45"/>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Logo</a:t>
            </a:r>
          </a:p>
        </p:txBody>
      </p:sp>
      <p:sp>
        <p:nvSpPr>
          <p:cNvPr id="47" name="TextBox 46"/>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14 / 41</a:t>
            </a:r>
          </a:p>
        </p:txBody>
      </p:sp>
      <p:pic>
        <p:nvPicPr>
          <p:cNvPr id="48" name="Picture 47" descr="image.png"/>
          <p:cNvPicPr>
            <a:picLocks noChangeAspect="1"/>
          </p:cNvPicPr>
          <p:nvPr/>
        </p:nvPicPr>
        <p:blipFill>
          <a:blip r:embed="rId10"/>
          <a:stretch>
            <a:fillRect/>
          </a:stretch>
        </p:blipFill>
        <p:spPr>
          <a:xfrm>
            <a:off x="11441887" y="365760"/>
            <a:ext cx="292608" cy="29260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555955"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555955"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LOGO</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Brand-Specific Rules</a:t>
            </a:r>
          </a:p>
        </p:txBody>
      </p:sp>
      <p:sp>
        <p:nvSpPr>
          <p:cNvPr id="6" name="TextBox 5"/>
          <p:cNvSpPr txBox="1"/>
          <p:nvPr/>
        </p:nvSpPr>
        <p:spPr>
          <a:xfrm>
            <a:off x="502920" y="233172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These go beyond the generic rules above. They exist because of how our brand has actually been misused.</a:t>
            </a:r>
          </a:p>
        </p:txBody>
      </p:sp>
      <p:sp>
        <p:nvSpPr>
          <p:cNvPr id="7" name="TextBox 6"/>
          <p:cNvSpPr txBox="1"/>
          <p:nvPr/>
        </p:nvSpPr>
        <p:spPr>
          <a:xfrm>
            <a:off x="4343400" y="777240"/>
            <a:ext cx="7436815" cy="274320"/>
          </a:xfrm>
          <a:prstGeom prst="rect">
            <a:avLst/>
          </a:prstGeom>
          <a:noFill/>
        </p:spPr>
        <p:txBody>
          <a:bodyPr wrap="square" lIns="0" rIns="0" tIns="0" bIns="0" anchor="t">
            <a:spAutoFit/>
          </a:bodyPr>
          <a:lstStyle/>
          <a:p>
            <a:pPr algn="l">
              <a:spcAft>
                <a:spcPts val="400"/>
              </a:spcAft>
            </a:pPr>
            <a:r>
              <a:rPr sz="900" b="1" i="0" spc="120">
                <a:solidFill>
                  <a:srgbClr val="C0392B"/>
                </a:solidFill>
                <a:latin typeface="Inter"/>
              </a:rPr>
              <a:t>WHERE OUR LOGO DOES NOT APPEAR</a:t>
            </a:r>
          </a:p>
        </p:txBody>
      </p:sp>
      <p:sp>
        <p:nvSpPr>
          <p:cNvPr id="8" name="TextBox 7"/>
          <p:cNvSpPr txBox="1"/>
          <p:nvPr/>
        </p:nvSpPr>
        <p:spPr>
          <a:xfrm>
            <a:off x="4343400" y="1097280"/>
            <a:ext cx="7436815" cy="2194560"/>
          </a:xfrm>
          <a:prstGeom prst="rect">
            <a:avLst/>
          </a:prstGeom>
          <a:noFill/>
        </p:spPr>
        <p:txBody>
          <a:bodyPr wrap="square" lIns="0" rIns="0" tIns="0" bIns="0" anchor="t">
            <a:spAutoFit/>
          </a:bodyPr>
          <a:lstStyle/>
          <a:p>
            <a:pPr algn="l" marL="164592" indent="-164592">
              <a:spcAft>
                <a:spcPts val="400"/>
              </a:spcAft>
              <a:buClr>
                <a:srgbClr val="0E1525"/>
              </a:buClr>
              <a:buChar char="•"/>
            </a:pPr>
            <a:r>
              <a:rPr sz="1100" b="0" i="0">
                <a:solidFill>
                  <a:srgbClr val="0E1525"/>
                </a:solidFill>
                <a:latin typeface="Inter"/>
              </a:rPr>
              <a:t>On competitor-hosted or competitor-sponsored materials</a:t>
            </a:r>
          </a:p>
          <a:p>
            <a:pPr algn="l" marL="164592" indent="-164592">
              <a:spcAft>
                <a:spcPts val="400"/>
              </a:spcAft>
              <a:buClr>
                <a:srgbClr val="0E1525"/>
              </a:buClr>
              <a:buChar char="•"/>
            </a:pPr>
            <a:r>
              <a:rPr sz="1100" b="0" i="0">
                <a:solidFill>
                  <a:srgbClr val="0E1525"/>
                </a:solidFill>
                <a:latin typeface="Inter"/>
              </a:rPr>
              <a:t>On merchandise without marketing approval</a:t>
            </a:r>
          </a:p>
          <a:p>
            <a:pPr algn="l" marL="164592" indent="-164592">
              <a:spcAft>
                <a:spcPts val="400"/>
              </a:spcAft>
              <a:buClr>
                <a:srgbClr val="0E1525"/>
              </a:buClr>
              <a:buChar char="•"/>
            </a:pPr>
            <a:r>
              <a:rPr sz="1100" b="0" i="0">
                <a:solidFill>
                  <a:srgbClr val="0E1525"/>
                </a:solidFill>
                <a:latin typeface="Inter"/>
              </a:rPr>
              <a:t>Next to breach news imagery or hacker stock photos</a:t>
            </a:r>
          </a:p>
          <a:p>
            <a:pPr algn="l" marL="164592" indent="-164592">
              <a:spcAft>
                <a:spcPts val="400"/>
              </a:spcAft>
              <a:buClr>
                <a:srgbClr val="0E1525"/>
              </a:buClr>
              <a:buChar char="•"/>
            </a:pPr>
            <a:r>
              <a:rPr sz="1100" b="0" i="0">
                <a:solidFill>
                  <a:srgbClr val="0E1525"/>
                </a:solidFill>
                <a:latin typeface="Inter"/>
              </a:rPr>
              <a:t>In a partner's product UI without a signed agreement</a:t>
            </a:r>
          </a:p>
        </p:txBody>
      </p:sp>
      <p:sp>
        <p:nvSpPr>
          <p:cNvPr id="9" name="TextBox 8"/>
          <p:cNvSpPr txBox="1"/>
          <p:nvPr/>
        </p:nvSpPr>
        <p:spPr>
          <a:xfrm>
            <a:off x="4343400" y="2542032"/>
            <a:ext cx="7436815" cy="274320"/>
          </a:xfrm>
          <a:prstGeom prst="rect">
            <a:avLst/>
          </a:prstGeom>
          <a:noFill/>
        </p:spPr>
        <p:txBody>
          <a:bodyPr wrap="square" lIns="0" rIns="0" tIns="0" bIns="0" anchor="t">
            <a:spAutoFit/>
          </a:bodyPr>
          <a:lstStyle/>
          <a:p>
            <a:pPr algn="l">
              <a:spcAft>
                <a:spcPts val="400"/>
              </a:spcAft>
            </a:pPr>
            <a:r>
              <a:rPr sz="900" b="1" i="0" spc="120">
                <a:solidFill>
                  <a:srgbClr val="C0392B"/>
                </a:solidFill>
                <a:latin typeface="Inter"/>
              </a:rPr>
              <a:t>ALSO DO NOT</a:t>
            </a:r>
          </a:p>
        </p:txBody>
      </p:sp>
      <p:sp>
        <p:nvSpPr>
          <p:cNvPr id="10" name="TextBox 9"/>
          <p:cNvSpPr txBox="1"/>
          <p:nvPr/>
        </p:nvSpPr>
        <p:spPr>
          <a:xfrm>
            <a:off x="4343400" y="2862072"/>
            <a:ext cx="7436815" cy="2194560"/>
          </a:xfrm>
          <a:prstGeom prst="rect">
            <a:avLst/>
          </a:prstGeom>
          <a:noFill/>
        </p:spPr>
        <p:txBody>
          <a:bodyPr wrap="square" lIns="0" rIns="0" tIns="0" bIns="0" anchor="t">
            <a:spAutoFit/>
          </a:bodyPr>
          <a:lstStyle/>
          <a:p>
            <a:pPr algn="l" marL="164592" indent="-164592">
              <a:spcAft>
                <a:spcPts val="400"/>
              </a:spcAft>
              <a:buClr>
                <a:srgbClr val="0E1525"/>
              </a:buClr>
              <a:buChar char="•"/>
            </a:pPr>
            <a:r>
              <a:rPr sz="1100" b="0" i="0">
                <a:solidFill>
                  <a:srgbClr val="0E1525"/>
                </a:solidFill>
                <a:latin typeface="Inter"/>
              </a:rPr>
              <a:t>Do not use the Signal mark as a bullet point or decorative icon</a:t>
            </a:r>
          </a:p>
          <a:p>
            <a:pPr algn="l" marL="164592" indent="-164592">
              <a:spcAft>
                <a:spcPts val="400"/>
              </a:spcAft>
              <a:buClr>
                <a:srgbClr val="0E1525"/>
              </a:buClr>
              <a:buChar char="•"/>
            </a:pPr>
            <a:r>
              <a:rPr sz="1100" b="0" i="0">
                <a:solidFill>
                  <a:srgbClr val="0E1525"/>
                </a:solidFill>
                <a:latin typeface="Inter"/>
              </a:rPr>
              <a:t>Do not animate the wave without the approved motion file</a:t>
            </a:r>
          </a:p>
        </p:txBody>
      </p:sp>
      <p:sp>
        <p:nvSpPr>
          <p:cNvPr id="11" name="TextBox 10"/>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Logo</a:t>
            </a:r>
          </a:p>
        </p:txBody>
      </p:sp>
      <p:sp>
        <p:nvSpPr>
          <p:cNvPr id="12" name="TextBox 11"/>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15 / 41</a:t>
            </a:r>
          </a:p>
        </p:txBody>
      </p:sp>
      <p:pic>
        <p:nvPicPr>
          <p:cNvPr id="13" name="Picture 12"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555955"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555955"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LOGO</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Partner Co-branding</a:t>
            </a:r>
          </a:p>
        </p:txBody>
      </p:sp>
      <p:sp>
        <p:nvSpPr>
          <p:cNvPr id="6" name="TextBox 5"/>
          <p:cNvSpPr txBox="1"/>
          <p:nvPr/>
        </p:nvSpPr>
        <p:spPr>
          <a:xfrm>
            <a:off x="502920" y="233172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When Halyard appears with a partner, both brands should look like equals.</a:t>
            </a:r>
          </a:p>
        </p:txBody>
      </p:sp>
      <p:sp>
        <p:nvSpPr>
          <p:cNvPr id="7" name="TextBox 6"/>
          <p:cNvSpPr txBox="1"/>
          <p:nvPr/>
        </p:nvSpPr>
        <p:spPr>
          <a:xfrm>
            <a:off x="502920" y="3044951"/>
            <a:ext cx="3108959" cy="2990088"/>
          </a:xfrm>
          <a:prstGeom prst="rect">
            <a:avLst/>
          </a:prstGeom>
          <a:noFill/>
        </p:spPr>
        <p:txBody>
          <a:bodyPr wrap="square" lIns="0" rIns="0" tIns="0" bIns="0" anchor="t">
            <a:spAutoFit/>
          </a:bodyPr>
          <a:lstStyle/>
          <a:p>
            <a:pPr algn="l" marL="164592" indent="-164592">
              <a:spcAft>
                <a:spcPts val="500"/>
              </a:spcAft>
              <a:buClr>
                <a:srgbClr val="0E1525"/>
              </a:buClr>
              <a:buChar char="•"/>
            </a:pPr>
            <a:r>
              <a:rPr sz="1050" b="0" i="0">
                <a:solidFill>
                  <a:srgbClr val="0E1525"/>
                </a:solidFill>
                <a:latin typeface="Inter"/>
              </a:rPr>
              <a:t>Order: Halyard first in Halyard-led materials; partner first in theirs.</a:t>
            </a:r>
          </a:p>
          <a:p>
            <a:pPr algn="l" marL="164592" indent="-164592">
              <a:spcAft>
                <a:spcPts val="500"/>
              </a:spcAft>
              <a:buClr>
                <a:srgbClr val="0E1525"/>
              </a:buClr>
              <a:buChar char="•"/>
            </a:pPr>
            <a:r>
              <a:rPr sz="1050" b="0" i="0">
                <a:solidFill>
                  <a:srgbClr val="0E1525"/>
                </a:solidFill>
                <a:latin typeface="Inter"/>
              </a:rPr>
              <a:t>Balance: Match visual weight, not pixel width.</a:t>
            </a:r>
          </a:p>
          <a:p>
            <a:pPr algn="l" marL="164592" indent="-164592">
              <a:spcAft>
                <a:spcPts val="500"/>
              </a:spcAft>
              <a:buClr>
                <a:srgbClr val="0E1525"/>
              </a:buClr>
              <a:buChar char="•"/>
            </a:pPr>
            <a:r>
              <a:rPr sz="1050" b="0" i="0">
                <a:solidFill>
                  <a:srgbClr val="0E1525"/>
                </a:solidFill>
                <a:latin typeface="Inter"/>
              </a:rPr>
              <a:t>Alignment: Center-align on a shared axis.</a:t>
            </a:r>
          </a:p>
          <a:p>
            <a:pPr algn="l" marL="164592" indent="-164592">
              <a:spcAft>
                <a:spcPts val="500"/>
              </a:spcAft>
              <a:buClr>
                <a:srgbClr val="0E1525"/>
              </a:buClr>
              <a:buChar char="•"/>
            </a:pPr>
            <a:r>
              <a:rPr sz="1050" b="0" i="0">
                <a:solidFill>
                  <a:srgbClr val="0E1525"/>
                </a:solidFill>
                <a:latin typeface="Inter"/>
              </a:rPr>
              <a:t>Mode: Both logos in the same mode.</a:t>
            </a:r>
          </a:p>
        </p:txBody>
      </p:sp>
      <p:sp>
        <p:nvSpPr>
          <p:cNvPr id="8" name="Rectangle 7"/>
          <p:cNvSpPr/>
          <p:nvPr/>
        </p:nvSpPr>
        <p:spPr>
          <a:xfrm>
            <a:off x="4343400" y="822960"/>
            <a:ext cx="7436815" cy="210312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mage.png"/>
          <p:cNvPicPr>
            <a:picLocks noChangeAspect="1"/>
          </p:cNvPicPr>
          <p:nvPr/>
        </p:nvPicPr>
        <p:blipFill>
          <a:blip r:embed="rId2"/>
          <a:stretch>
            <a:fillRect/>
          </a:stretch>
        </p:blipFill>
        <p:spPr>
          <a:xfrm>
            <a:off x="5166359" y="1534264"/>
            <a:ext cx="2346807" cy="680510"/>
          </a:xfrm>
          <a:prstGeom prst="rect">
            <a:avLst/>
          </a:prstGeom>
        </p:spPr>
      </p:pic>
      <p:sp>
        <p:nvSpPr>
          <p:cNvPr id="10" name="Rectangle 9"/>
          <p:cNvSpPr/>
          <p:nvPr/>
        </p:nvSpPr>
        <p:spPr>
          <a:xfrm>
            <a:off x="8052663" y="1325880"/>
            <a:ext cx="18288" cy="1097279"/>
          </a:xfrm>
          <a:prstGeom prst="rect">
            <a:avLst/>
          </a:prstGeom>
          <a:solidFill>
            <a:srgbClr val="0E1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610447" y="1508760"/>
            <a:ext cx="2346807" cy="731519"/>
          </a:xfrm>
          <a:prstGeom prst="roundRect">
            <a:avLst>
              <a:gd name="adj" fmla="val 10000"/>
            </a:avLst>
          </a:prstGeom>
          <a:noFill/>
          <a:ln w="9525">
            <a:solidFill>
              <a:srgbClr val="0E15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10447" y="1508760"/>
            <a:ext cx="2346807" cy="731519"/>
          </a:xfrm>
          <a:prstGeom prst="rect">
            <a:avLst/>
          </a:prstGeom>
          <a:noFill/>
        </p:spPr>
        <p:txBody>
          <a:bodyPr wrap="square" lIns="0" rIns="0" tIns="0" bIns="0" anchor="ctr">
            <a:spAutoFit/>
          </a:bodyPr>
          <a:lstStyle/>
          <a:p>
            <a:pPr algn="ctr">
              <a:spcAft>
                <a:spcPts val="400"/>
              </a:spcAft>
            </a:pPr>
            <a:r>
              <a:rPr sz="1000" b="0" i="0" spc="200">
                <a:solidFill>
                  <a:srgbClr val="0E1525"/>
                </a:solidFill>
                <a:latin typeface="Inter"/>
              </a:rPr>
              <a:t>PARTNER LOGO</a:t>
            </a:r>
          </a:p>
        </p:txBody>
      </p:sp>
      <p:sp>
        <p:nvSpPr>
          <p:cNvPr id="13" name="Rectangle 12"/>
          <p:cNvSpPr/>
          <p:nvPr/>
        </p:nvSpPr>
        <p:spPr>
          <a:xfrm>
            <a:off x="4343400" y="3246120"/>
            <a:ext cx="7436815" cy="2103120"/>
          </a:xfrm>
          <a:prstGeom prst="rect">
            <a:avLst/>
          </a:prstGeom>
          <a:solidFill>
            <a:srgbClr val="0E1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image.png"/>
          <p:cNvPicPr>
            <a:picLocks noChangeAspect="1"/>
          </p:cNvPicPr>
          <p:nvPr/>
        </p:nvPicPr>
        <p:blipFill>
          <a:blip r:embed="rId3"/>
          <a:stretch>
            <a:fillRect/>
          </a:stretch>
        </p:blipFill>
        <p:spPr>
          <a:xfrm>
            <a:off x="5166359" y="3957424"/>
            <a:ext cx="2346807" cy="680510"/>
          </a:xfrm>
          <a:prstGeom prst="rect">
            <a:avLst/>
          </a:prstGeom>
        </p:spPr>
      </p:pic>
      <p:sp>
        <p:nvSpPr>
          <p:cNvPr id="15" name="Rectangle 14"/>
          <p:cNvSpPr/>
          <p:nvPr/>
        </p:nvSpPr>
        <p:spPr>
          <a:xfrm>
            <a:off x="8052663" y="3749039"/>
            <a:ext cx="18288" cy="10972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610447" y="3931920"/>
            <a:ext cx="2346807" cy="731519"/>
          </a:xfrm>
          <a:prstGeom prst="roundRect">
            <a:avLst>
              <a:gd name="adj" fmla="val 10000"/>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10447" y="3931920"/>
            <a:ext cx="2346807" cy="731519"/>
          </a:xfrm>
          <a:prstGeom prst="rect">
            <a:avLst/>
          </a:prstGeom>
          <a:noFill/>
        </p:spPr>
        <p:txBody>
          <a:bodyPr wrap="square" lIns="0" rIns="0" tIns="0" bIns="0" anchor="ctr">
            <a:spAutoFit/>
          </a:bodyPr>
          <a:lstStyle/>
          <a:p>
            <a:pPr algn="ctr">
              <a:spcAft>
                <a:spcPts val="400"/>
              </a:spcAft>
            </a:pPr>
            <a:r>
              <a:rPr sz="1000" b="0" i="0" spc="200">
                <a:solidFill>
                  <a:srgbClr val="FFFFFF"/>
                </a:solidFill>
                <a:latin typeface="Inter"/>
              </a:rPr>
              <a:t>PARTNER LOGO</a:t>
            </a:r>
          </a:p>
        </p:txBody>
      </p:sp>
      <p:sp>
        <p:nvSpPr>
          <p:cNvPr id="18" name="TextBox 17"/>
          <p:cNvSpPr txBox="1"/>
          <p:nvPr/>
        </p:nvSpPr>
        <p:spPr>
          <a:xfrm>
            <a:off x="4343400" y="5669280"/>
            <a:ext cx="7436815" cy="274320"/>
          </a:xfrm>
          <a:prstGeom prst="rect">
            <a:avLst/>
          </a:prstGeom>
          <a:noFill/>
        </p:spPr>
        <p:txBody>
          <a:bodyPr wrap="square" lIns="0" rIns="0" tIns="0" bIns="0" anchor="t">
            <a:spAutoFit/>
          </a:bodyPr>
          <a:lstStyle/>
          <a:p>
            <a:pPr algn="l">
              <a:spcAft>
                <a:spcPts val="400"/>
              </a:spcAft>
            </a:pPr>
            <a:r>
              <a:rPr sz="950" b="0" i="0">
                <a:solidFill>
                  <a:srgbClr val="6B778C"/>
                </a:solidFill>
                <a:latin typeface="Inter"/>
              </a:rPr>
              <a:t>Minimum space between logos: 0.5 in / 48 px between logos</a:t>
            </a:r>
          </a:p>
        </p:txBody>
      </p:sp>
      <p:sp>
        <p:nvSpPr>
          <p:cNvPr id="19" name="TextBox 18"/>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Co-branding</a:t>
            </a:r>
          </a:p>
        </p:txBody>
      </p:sp>
      <p:sp>
        <p:nvSpPr>
          <p:cNvPr id="20" name="TextBox 19"/>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16 / 41</a:t>
            </a:r>
          </a:p>
        </p:txBody>
      </p:sp>
      <p:pic>
        <p:nvPicPr>
          <p:cNvPr id="21" name="Picture 20" descr="image.png"/>
          <p:cNvPicPr>
            <a:picLocks noChangeAspect="1"/>
          </p:cNvPicPr>
          <p:nvPr/>
        </p:nvPicPr>
        <p:blipFill>
          <a:blip r:embed="rId4"/>
          <a:stretch>
            <a:fillRect/>
          </a:stretch>
        </p:blipFill>
        <p:spPr>
          <a:xfrm>
            <a:off x="11441887" y="365760"/>
            <a:ext cx="292608" cy="29260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101681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101681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CO-BRANDING</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Co-branding: What Not To Do</a:t>
            </a:r>
          </a:p>
        </p:txBody>
      </p:sp>
      <p:sp>
        <p:nvSpPr>
          <p:cNvPr id="5" name="Rectangle 4"/>
          <p:cNvSpPr/>
          <p:nvPr/>
        </p:nvSpPr>
        <p:spPr>
          <a:xfrm>
            <a:off x="502920" y="1645920"/>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22376" y="1965960"/>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22376" y="195681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8" name="TextBox 7"/>
          <p:cNvSpPr txBox="1"/>
          <p:nvPr/>
        </p:nvSpPr>
        <p:spPr>
          <a:xfrm>
            <a:off x="1188720" y="1719072"/>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Do not convert the Halyard logo to grayscale to match a partner</a:t>
            </a:r>
          </a:p>
        </p:txBody>
      </p:sp>
      <p:sp>
        <p:nvSpPr>
          <p:cNvPr id="9" name="Rectangle 8"/>
          <p:cNvSpPr/>
          <p:nvPr/>
        </p:nvSpPr>
        <p:spPr>
          <a:xfrm>
            <a:off x="502920" y="2697480"/>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22376" y="3017520"/>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2376" y="300837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2" name="TextBox 11"/>
          <p:cNvSpPr txBox="1"/>
          <p:nvPr/>
        </p:nvSpPr>
        <p:spPr>
          <a:xfrm>
            <a:off x="1188720" y="2770632"/>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Do not give either logo visual dominance</a:t>
            </a:r>
          </a:p>
        </p:txBody>
      </p:sp>
      <p:sp>
        <p:nvSpPr>
          <p:cNvPr id="13" name="Rectangle 12"/>
          <p:cNvSpPr/>
          <p:nvPr/>
        </p:nvSpPr>
        <p:spPr>
          <a:xfrm>
            <a:off x="502920" y="3749039"/>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22376" y="4069079"/>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2376" y="4059935"/>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6" name="TextBox 15"/>
          <p:cNvSpPr txBox="1"/>
          <p:nvPr/>
        </p:nvSpPr>
        <p:spPr>
          <a:xfrm>
            <a:off x="1188720" y="3822191"/>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Do not create a combined lockup</a:t>
            </a:r>
          </a:p>
        </p:txBody>
      </p:sp>
      <p:sp>
        <p:nvSpPr>
          <p:cNvPr id="17" name="TextBox 16"/>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Co-branding</a:t>
            </a:r>
          </a:p>
        </p:txBody>
      </p:sp>
      <p:sp>
        <p:nvSpPr>
          <p:cNvPr id="18" name="TextBox 17"/>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17 / 41</a:t>
            </a:r>
          </a:p>
        </p:txBody>
      </p:sp>
      <p:pic>
        <p:nvPicPr>
          <p:cNvPr id="19" name="Picture 18"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TextBox 1"/>
          <p:cNvSpPr txBox="1"/>
          <p:nvPr/>
        </p:nvSpPr>
        <p:spPr>
          <a:xfrm>
            <a:off x="731520" y="2331720"/>
            <a:ext cx="2743200" cy="457200"/>
          </a:xfrm>
          <a:prstGeom prst="rect">
            <a:avLst/>
          </a:prstGeom>
          <a:noFill/>
        </p:spPr>
        <p:txBody>
          <a:bodyPr wrap="square" lIns="0" rIns="0" tIns="0" bIns="0" anchor="t">
            <a:spAutoFit/>
          </a:bodyPr>
          <a:lstStyle/>
          <a:p>
            <a:pPr algn="l">
              <a:spcAft>
                <a:spcPts val="400"/>
              </a:spcAft>
            </a:pPr>
            <a:r>
              <a:rPr sz="1400" b="1" i="0" spc="200">
                <a:solidFill>
                  <a:srgbClr val="1F5EFF"/>
                </a:solidFill>
                <a:latin typeface="Inter"/>
              </a:rPr>
              <a:t>03</a:t>
            </a:r>
          </a:p>
        </p:txBody>
      </p:sp>
      <p:sp>
        <p:nvSpPr>
          <p:cNvPr id="3" name="TextBox 2"/>
          <p:cNvSpPr txBox="1"/>
          <p:nvPr/>
        </p:nvSpPr>
        <p:spPr>
          <a:xfrm>
            <a:off x="731520" y="2697480"/>
            <a:ext cx="8229600" cy="1097280"/>
          </a:xfrm>
          <a:prstGeom prst="rect">
            <a:avLst/>
          </a:prstGeom>
          <a:noFill/>
        </p:spPr>
        <p:txBody>
          <a:bodyPr wrap="square" lIns="0" rIns="0" tIns="0" bIns="0" anchor="t">
            <a:spAutoFit/>
          </a:bodyPr>
          <a:lstStyle/>
          <a:p>
            <a:pPr algn="l">
              <a:spcAft>
                <a:spcPts val="400"/>
              </a:spcAft>
            </a:pPr>
            <a:r>
              <a:rPr sz="4800" b="0" i="0">
                <a:solidFill>
                  <a:srgbClr val="FFFFFF"/>
                </a:solidFill>
                <a:latin typeface="Inter Display"/>
              </a:rPr>
              <a:t>Color</a:t>
            </a:r>
          </a:p>
        </p:txBody>
      </p:sp>
      <p:sp>
        <p:nvSpPr>
          <p:cNvPr id="4" name="TextBox 3"/>
          <p:cNvSpPr txBox="1"/>
          <p:nvPr/>
        </p:nvSpPr>
        <p:spPr>
          <a:xfrm>
            <a:off x="731520" y="3840480"/>
            <a:ext cx="6858000" cy="1097280"/>
          </a:xfrm>
          <a:prstGeom prst="rect">
            <a:avLst/>
          </a:prstGeom>
          <a:noFill/>
        </p:spPr>
        <p:txBody>
          <a:bodyPr wrap="square" lIns="0" rIns="0" tIns="0" bIns="0" anchor="t">
            <a:spAutoFit/>
          </a:bodyPr>
          <a:lstStyle/>
          <a:p>
            <a:pPr algn="l">
              <a:spcAft>
                <a:spcPts val="400"/>
              </a:spcAft>
            </a:pPr>
            <a:r>
              <a:rPr sz="1300" b="0" i="0">
                <a:solidFill>
                  <a:srgbClr val="B6C0D0"/>
                </a:solidFill>
                <a:latin typeface="Inter"/>
              </a:rPr>
              <a:t>Color is one of the fastest ways people recognize us.</a:t>
            </a:r>
          </a:p>
        </p:txBody>
      </p:sp>
      <p:pic>
        <p:nvPicPr>
          <p:cNvPr id="5" name="Picture 4" descr="image.png"/>
          <p:cNvPicPr>
            <a:picLocks noChangeAspect="1"/>
          </p:cNvPicPr>
          <p:nvPr/>
        </p:nvPicPr>
        <p:blipFill>
          <a:blip r:embed="rId2"/>
          <a:stretch>
            <a:fillRect/>
          </a:stretch>
        </p:blipFill>
        <p:spPr>
          <a:xfrm>
            <a:off x="10957255" y="511159"/>
            <a:ext cx="731520" cy="2121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62179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62179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COLOR</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Primary Palette</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Halyard Blue and Ink carry the brand. Use them for logo, headlines, and large color fields.</a:t>
            </a:r>
          </a:p>
        </p:txBody>
      </p:sp>
      <p:sp>
        <p:nvSpPr>
          <p:cNvPr id="7" name="Rectangle 6"/>
          <p:cNvSpPr/>
          <p:nvPr/>
        </p:nvSpPr>
        <p:spPr>
          <a:xfrm>
            <a:off x="4343400" y="731520"/>
            <a:ext cx="1735759" cy="31089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43400" y="731520"/>
            <a:ext cx="1735759" cy="1554480"/>
          </a:xfrm>
          <a:prstGeom prst="rect">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53128" y="2377440"/>
            <a:ext cx="1552879" cy="1417320"/>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Halyard Blue</a:t>
            </a:r>
          </a:p>
          <a:p>
            <a:pPr algn="l">
              <a:spcAft>
                <a:spcPts val="100"/>
              </a:spcAft>
            </a:pPr>
            <a:r>
              <a:rPr sz="900" b="0" i="0">
                <a:solidFill>
                  <a:srgbClr val="6B778C"/>
                </a:solidFill>
                <a:latin typeface="Inter"/>
              </a:rPr>
              <a:t>HEX  #1F5EFF</a:t>
            </a:r>
          </a:p>
          <a:p>
            <a:pPr algn="l">
              <a:spcAft>
                <a:spcPts val="100"/>
              </a:spcAft>
            </a:pPr>
            <a:r>
              <a:rPr sz="900" b="0" i="0">
                <a:solidFill>
                  <a:srgbClr val="6B778C"/>
                </a:solidFill>
                <a:latin typeface="Inter"/>
              </a:rPr>
              <a:t>RGB  31, 94, 255</a:t>
            </a:r>
          </a:p>
          <a:p>
            <a:pPr algn="l">
              <a:spcAft>
                <a:spcPts val="100"/>
              </a:spcAft>
            </a:pPr>
            <a:r>
              <a:rPr sz="900" b="0" i="0">
                <a:solidFill>
                  <a:srgbClr val="6B778C"/>
                </a:solidFill>
                <a:latin typeface="Inter"/>
              </a:rPr>
              <a:t>CMYK  85, 63, 0, 0</a:t>
            </a:r>
          </a:p>
          <a:p>
            <a:pPr algn="l">
              <a:spcAft>
                <a:spcPts val="100"/>
              </a:spcAft>
            </a:pPr>
            <a:r>
              <a:rPr sz="900" b="0" i="0">
                <a:solidFill>
                  <a:srgbClr val="6B778C"/>
                </a:solidFill>
                <a:latin typeface="Inter"/>
              </a:rPr>
              <a:t>PMS  2728 C</a:t>
            </a:r>
          </a:p>
        </p:txBody>
      </p:sp>
      <p:sp>
        <p:nvSpPr>
          <p:cNvPr id="10" name="Rectangle 9"/>
          <p:cNvSpPr/>
          <p:nvPr/>
        </p:nvSpPr>
        <p:spPr>
          <a:xfrm>
            <a:off x="6243751" y="731520"/>
            <a:ext cx="1735759" cy="31089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243751" y="731520"/>
            <a:ext cx="1735759" cy="1554480"/>
          </a:xfrm>
          <a:prstGeom prst="rect">
            <a:avLst/>
          </a:prstGeom>
          <a:solidFill>
            <a:srgbClr val="0E1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53479" y="2377440"/>
            <a:ext cx="1552879" cy="1417320"/>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Ink</a:t>
            </a:r>
          </a:p>
          <a:p>
            <a:pPr algn="l">
              <a:spcAft>
                <a:spcPts val="100"/>
              </a:spcAft>
            </a:pPr>
            <a:r>
              <a:rPr sz="900" b="0" i="0">
                <a:solidFill>
                  <a:srgbClr val="6B778C"/>
                </a:solidFill>
                <a:latin typeface="Inter"/>
              </a:rPr>
              <a:t>HEX  #0E1525</a:t>
            </a:r>
          </a:p>
          <a:p>
            <a:pPr algn="l">
              <a:spcAft>
                <a:spcPts val="100"/>
              </a:spcAft>
            </a:pPr>
            <a:r>
              <a:rPr sz="900" b="0" i="0">
                <a:solidFill>
                  <a:srgbClr val="6B778C"/>
                </a:solidFill>
                <a:latin typeface="Inter"/>
              </a:rPr>
              <a:t>RGB  14, 21, 37</a:t>
            </a:r>
          </a:p>
          <a:p>
            <a:pPr algn="l">
              <a:spcAft>
                <a:spcPts val="100"/>
              </a:spcAft>
            </a:pPr>
            <a:r>
              <a:rPr sz="900" b="0" i="0">
                <a:solidFill>
                  <a:srgbClr val="6B778C"/>
                </a:solidFill>
                <a:latin typeface="Inter"/>
              </a:rPr>
              <a:t>CMYK  86, 75, 49, 72</a:t>
            </a:r>
          </a:p>
          <a:p>
            <a:pPr algn="l">
              <a:spcAft>
                <a:spcPts val="100"/>
              </a:spcAft>
            </a:pPr>
            <a:r>
              <a:rPr sz="900" b="0" i="0">
                <a:solidFill>
                  <a:srgbClr val="6B778C"/>
                </a:solidFill>
                <a:latin typeface="Inter"/>
              </a:rPr>
              <a:t>PMS  Black 6 C</a:t>
            </a:r>
          </a:p>
        </p:txBody>
      </p:sp>
      <p:sp>
        <p:nvSpPr>
          <p:cNvPr id="13" name="Rectangle 12"/>
          <p:cNvSpPr/>
          <p:nvPr/>
        </p:nvSpPr>
        <p:spPr>
          <a:xfrm>
            <a:off x="8144103" y="731520"/>
            <a:ext cx="1735759" cy="31089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44103" y="731520"/>
            <a:ext cx="1735759" cy="155448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53831" y="2377440"/>
            <a:ext cx="1552879" cy="1417320"/>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White</a:t>
            </a:r>
          </a:p>
          <a:p>
            <a:pPr algn="l">
              <a:spcAft>
                <a:spcPts val="100"/>
              </a:spcAft>
            </a:pPr>
            <a:r>
              <a:rPr sz="900" b="0" i="0">
                <a:solidFill>
                  <a:srgbClr val="6B778C"/>
                </a:solidFill>
                <a:latin typeface="Inter"/>
              </a:rPr>
              <a:t>HEX  #FFFFFF</a:t>
            </a:r>
          </a:p>
          <a:p>
            <a:pPr algn="l">
              <a:spcAft>
                <a:spcPts val="100"/>
              </a:spcAft>
            </a:pPr>
            <a:r>
              <a:rPr sz="900" b="0" i="0">
                <a:solidFill>
                  <a:srgbClr val="6B778C"/>
                </a:solidFill>
                <a:latin typeface="Inter"/>
              </a:rPr>
              <a:t>RGB  255, 255, 255</a:t>
            </a:r>
          </a:p>
          <a:p>
            <a:pPr algn="l">
              <a:spcAft>
                <a:spcPts val="100"/>
              </a:spcAft>
            </a:pPr>
            <a:r>
              <a:rPr sz="900" b="0" i="0">
                <a:solidFill>
                  <a:srgbClr val="6B778C"/>
                </a:solidFill>
                <a:latin typeface="Inter"/>
              </a:rPr>
              <a:t>CMYK  0, 0, 0, 0</a:t>
            </a:r>
          </a:p>
        </p:txBody>
      </p:sp>
      <p:sp>
        <p:nvSpPr>
          <p:cNvPr id="16" name="TextBox 15"/>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Color</a:t>
            </a:r>
          </a:p>
        </p:txBody>
      </p:sp>
      <p:sp>
        <p:nvSpPr>
          <p:cNvPr id="17" name="TextBox 16"/>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19 / 41</a:t>
            </a:r>
          </a:p>
        </p:txBody>
      </p:sp>
      <p:pic>
        <p:nvPicPr>
          <p:cNvPr id="18" name="Picture 17"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62179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62179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COLOR</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Accent Palette</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Use sparingly for calls to action, highlights, and charts. Never as a background behind body text.</a:t>
            </a:r>
          </a:p>
        </p:txBody>
      </p:sp>
      <p:sp>
        <p:nvSpPr>
          <p:cNvPr id="7" name="Rectangle 6"/>
          <p:cNvSpPr/>
          <p:nvPr/>
        </p:nvSpPr>
        <p:spPr>
          <a:xfrm>
            <a:off x="4343400" y="731520"/>
            <a:ext cx="1735759" cy="31089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43400" y="731520"/>
            <a:ext cx="1735759" cy="1554480"/>
          </a:xfrm>
          <a:prstGeom prst="rect">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53128" y="2377440"/>
            <a:ext cx="1552879" cy="1417320"/>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Signal Coral</a:t>
            </a:r>
          </a:p>
          <a:p>
            <a:pPr algn="l">
              <a:spcAft>
                <a:spcPts val="100"/>
              </a:spcAft>
            </a:pPr>
            <a:r>
              <a:rPr sz="900" b="0" i="0">
                <a:solidFill>
                  <a:srgbClr val="6B778C"/>
                </a:solidFill>
                <a:latin typeface="Inter"/>
              </a:rPr>
              <a:t>HEX  #FF6B4A</a:t>
            </a:r>
          </a:p>
          <a:p>
            <a:pPr algn="l">
              <a:spcAft>
                <a:spcPts val="100"/>
              </a:spcAft>
            </a:pPr>
            <a:r>
              <a:rPr sz="900" b="0" i="0">
                <a:solidFill>
                  <a:srgbClr val="6B778C"/>
                </a:solidFill>
                <a:latin typeface="Inter"/>
              </a:rPr>
              <a:t>RGB  255, 107, 74</a:t>
            </a:r>
          </a:p>
          <a:p>
            <a:pPr algn="l">
              <a:spcAft>
                <a:spcPts val="100"/>
              </a:spcAft>
            </a:pPr>
            <a:r>
              <a:rPr sz="900" b="0" i="0">
                <a:solidFill>
                  <a:srgbClr val="6B778C"/>
                </a:solidFill>
                <a:latin typeface="Inter"/>
              </a:rPr>
              <a:t>PMS  2028 C</a:t>
            </a:r>
          </a:p>
          <a:p>
            <a:pPr algn="l">
              <a:spcAft>
                <a:spcPts val="100"/>
              </a:spcAft>
            </a:pPr>
            <a:r>
              <a:rPr sz="900" b="0" i="1">
                <a:solidFill>
                  <a:srgbClr val="6B778C"/>
                </a:solidFill>
                <a:latin typeface="Inter"/>
              </a:rPr>
              <a:t>CTAs and highlights</a:t>
            </a:r>
          </a:p>
        </p:txBody>
      </p:sp>
      <p:sp>
        <p:nvSpPr>
          <p:cNvPr id="10" name="Rectangle 9"/>
          <p:cNvSpPr/>
          <p:nvPr/>
        </p:nvSpPr>
        <p:spPr>
          <a:xfrm>
            <a:off x="6243751" y="731520"/>
            <a:ext cx="1735759" cy="31089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243751" y="731520"/>
            <a:ext cx="1735759" cy="155448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53479" y="2377440"/>
            <a:ext cx="1552879" cy="1417320"/>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Tide</a:t>
            </a:r>
          </a:p>
          <a:p>
            <a:pPr algn="l">
              <a:spcAft>
                <a:spcPts val="100"/>
              </a:spcAft>
            </a:pPr>
            <a:r>
              <a:rPr sz="900" b="0" i="0">
                <a:solidFill>
                  <a:srgbClr val="6B778C"/>
                </a:solidFill>
                <a:latin typeface="Inter"/>
              </a:rPr>
              <a:t>HEX  #14B8A6</a:t>
            </a:r>
          </a:p>
          <a:p>
            <a:pPr algn="l">
              <a:spcAft>
                <a:spcPts val="100"/>
              </a:spcAft>
            </a:pPr>
            <a:r>
              <a:rPr sz="900" b="0" i="0">
                <a:solidFill>
                  <a:srgbClr val="6B778C"/>
                </a:solidFill>
                <a:latin typeface="Inter"/>
              </a:rPr>
              <a:t>RGB  20, 184, 166</a:t>
            </a:r>
          </a:p>
          <a:p>
            <a:pPr algn="l">
              <a:spcAft>
                <a:spcPts val="100"/>
              </a:spcAft>
            </a:pPr>
            <a:r>
              <a:rPr sz="900" b="0" i="0">
                <a:solidFill>
                  <a:srgbClr val="6B778C"/>
                </a:solidFill>
                <a:latin typeface="Inter"/>
              </a:rPr>
              <a:t>PMS  3268 C</a:t>
            </a:r>
          </a:p>
          <a:p>
            <a:pPr algn="l">
              <a:spcAft>
                <a:spcPts val="100"/>
              </a:spcAft>
            </a:pPr>
            <a:r>
              <a:rPr sz="900" b="0" i="1">
                <a:solidFill>
                  <a:srgbClr val="6B778C"/>
                </a:solidFill>
                <a:latin typeface="Inter"/>
              </a:rPr>
              <a:t>Success, charts</a:t>
            </a:r>
          </a:p>
        </p:txBody>
      </p:sp>
      <p:sp>
        <p:nvSpPr>
          <p:cNvPr id="13" name="Rectangle 12"/>
          <p:cNvSpPr/>
          <p:nvPr/>
        </p:nvSpPr>
        <p:spPr>
          <a:xfrm>
            <a:off x="8144103" y="731520"/>
            <a:ext cx="1735759" cy="31089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44103" y="731520"/>
            <a:ext cx="1735759" cy="1554480"/>
          </a:xfrm>
          <a:prstGeom prst="rect">
            <a:avLst/>
          </a:prstGeom>
          <a:solidFill>
            <a:srgbClr val="9CC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53831" y="2377440"/>
            <a:ext cx="1552879" cy="1417320"/>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Sky</a:t>
            </a:r>
          </a:p>
          <a:p>
            <a:pPr algn="l">
              <a:spcAft>
                <a:spcPts val="100"/>
              </a:spcAft>
            </a:pPr>
            <a:r>
              <a:rPr sz="900" b="0" i="0">
                <a:solidFill>
                  <a:srgbClr val="6B778C"/>
                </a:solidFill>
                <a:latin typeface="Inter"/>
              </a:rPr>
              <a:t>HEX  #9CC3FF</a:t>
            </a:r>
          </a:p>
          <a:p>
            <a:pPr algn="l">
              <a:spcAft>
                <a:spcPts val="100"/>
              </a:spcAft>
            </a:pPr>
            <a:r>
              <a:rPr sz="900" b="0" i="0">
                <a:solidFill>
                  <a:srgbClr val="6B778C"/>
                </a:solidFill>
                <a:latin typeface="Inter"/>
              </a:rPr>
              <a:t>RGB  156, 195, 255</a:t>
            </a:r>
          </a:p>
          <a:p>
            <a:pPr algn="l">
              <a:spcAft>
                <a:spcPts val="100"/>
              </a:spcAft>
            </a:pPr>
            <a:r>
              <a:rPr sz="900" b="0" i="0">
                <a:solidFill>
                  <a:srgbClr val="6B778C"/>
                </a:solidFill>
                <a:latin typeface="Inter"/>
              </a:rPr>
              <a:t>PMS  2706 C</a:t>
            </a:r>
          </a:p>
          <a:p>
            <a:pPr algn="l">
              <a:spcAft>
                <a:spcPts val="100"/>
              </a:spcAft>
            </a:pPr>
            <a:r>
              <a:rPr sz="900" b="0" i="1">
                <a:solidFill>
                  <a:srgbClr val="6B778C"/>
                </a:solidFill>
                <a:latin typeface="Inter"/>
              </a:rPr>
              <a:t>Links on dark</a:t>
            </a:r>
          </a:p>
        </p:txBody>
      </p:sp>
      <p:sp>
        <p:nvSpPr>
          <p:cNvPr id="16" name="TextBox 15"/>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Color</a:t>
            </a:r>
          </a:p>
        </p:txBody>
      </p:sp>
      <p:sp>
        <p:nvSpPr>
          <p:cNvPr id="17" name="TextBox 16"/>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20 / 41</a:t>
            </a:r>
          </a:p>
        </p:txBody>
      </p:sp>
      <p:pic>
        <p:nvPicPr>
          <p:cNvPr id="18" name="Picture 17"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62179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62179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COLOR</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Neutral Palette</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Structure: backgrounds, borders, dividers, tables, and body copy.</a:t>
            </a:r>
          </a:p>
        </p:txBody>
      </p:sp>
      <p:sp>
        <p:nvSpPr>
          <p:cNvPr id="7" name="Rectangle 6"/>
          <p:cNvSpPr/>
          <p:nvPr/>
        </p:nvSpPr>
        <p:spPr>
          <a:xfrm>
            <a:off x="4343400" y="731520"/>
            <a:ext cx="1735759" cy="2660904"/>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43400" y="731520"/>
            <a:ext cx="1735759" cy="1330452"/>
          </a:xfrm>
          <a:prstGeom prst="rect">
            <a:avLst/>
          </a:prstGeom>
          <a:solidFill>
            <a:srgbClr val="F4F6FA"/>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53128" y="2153412"/>
            <a:ext cx="1552879" cy="1193292"/>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Mist</a:t>
            </a:r>
          </a:p>
          <a:p>
            <a:pPr algn="l">
              <a:spcAft>
                <a:spcPts val="100"/>
              </a:spcAft>
            </a:pPr>
            <a:r>
              <a:rPr sz="900" b="0" i="0">
                <a:solidFill>
                  <a:srgbClr val="6B778C"/>
                </a:solidFill>
                <a:latin typeface="Inter"/>
              </a:rPr>
              <a:t>HEX  #F4F6FA</a:t>
            </a:r>
          </a:p>
          <a:p>
            <a:pPr algn="l">
              <a:spcAft>
                <a:spcPts val="100"/>
              </a:spcAft>
            </a:pPr>
            <a:r>
              <a:rPr sz="900" b="0" i="0">
                <a:solidFill>
                  <a:srgbClr val="6B778C"/>
                </a:solidFill>
                <a:latin typeface="Inter"/>
              </a:rPr>
              <a:t>RGB  244, 246, 250</a:t>
            </a:r>
          </a:p>
        </p:txBody>
      </p:sp>
      <p:sp>
        <p:nvSpPr>
          <p:cNvPr id="10" name="Rectangle 9"/>
          <p:cNvSpPr/>
          <p:nvPr/>
        </p:nvSpPr>
        <p:spPr>
          <a:xfrm>
            <a:off x="6243751" y="731520"/>
            <a:ext cx="1735759" cy="2660904"/>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243751" y="731520"/>
            <a:ext cx="1735759" cy="1330452"/>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53479" y="2153412"/>
            <a:ext cx="1552879" cy="1193292"/>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Fog</a:t>
            </a:r>
          </a:p>
          <a:p>
            <a:pPr algn="l">
              <a:spcAft>
                <a:spcPts val="100"/>
              </a:spcAft>
            </a:pPr>
            <a:r>
              <a:rPr sz="900" b="0" i="0">
                <a:solidFill>
                  <a:srgbClr val="6B778C"/>
                </a:solidFill>
                <a:latin typeface="Inter"/>
              </a:rPr>
              <a:t>HEX  #E3E8F0</a:t>
            </a:r>
          </a:p>
          <a:p>
            <a:pPr algn="l">
              <a:spcAft>
                <a:spcPts val="100"/>
              </a:spcAft>
            </a:pPr>
            <a:r>
              <a:rPr sz="900" b="0" i="0">
                <a:solidFill>
                  <a:srgbClr val="6B778C"/>
                </a:solidFill>
                <a:latin typeface="Inter"/>
              </a:rPr>
              <a:t>RGB  227, 232, 240</a:t>
            </a:r>
          </a:p>
        </p:txBody>
      </p:sp>
      <p:sp>
        <p:nvSpPr>
          <p:cNvPr id="13" name="Rectangle 12"/>
          <p:cNvSpPr/>
          <p:nvPr/>
        </p:nvSpPr>
        <p:spPr>
          <a:xfrm>
            <a:off x="8144103" y="731520"/>
            <a:ext cx="1735759" cy="2660904"/>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44103" y="731520"/>
            <a:ext cx="1735759" cy="1330452"/>
          </a:xfrm>
          <a:prstGeom prst="rect">
            <a:avLst/>
          </a:prstGeom>
          <a:solidFill>
            <a:srgbClr val="B6C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53831" y="2153412"/>
            <a:ext cx="1552879" cy="1193292"/>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Slate 300</a:t>
            </a:r>
          </a:p>
          <a:p>
            <a:pPr algn="l">
              <a:spcAft>
                <a:spcPts val="100"/>
              </a:spcAft>
            </a:pPr>
            <a:r>
              <a:rPr sz="900" b="0" i="0">
                <a:solidFill>
                  <a:srgbClr val="6B778C"/>
                </a:solidFill>
                <a:latin typeface="Inter"/>
              </a:rPr>
              <a:t>HEX  #B6C0D0</a:t>
            </a:r>
          </a:p>
          <a:p>
            <a:pPr algn="l">
              <a:spcAft>
                <a:spcPts val="100"/>
              </a:spcAft>
            </a:pPr>
            <a:r>
              <a:rPr sz="900" b="0" i="0">
                <a:solidFill>
                  <a:srgbClr val="6B778C"/>
                </a:solidFill>
                <a:latin typeface="Inter"/>
              </a:rPr>
              <a:t>RGB  182, 192, 208</a:t>
            </a:r>
          </a:p>
        </p:txBody>
      </p:sp>
      <p:sp>
        <p:nvSpPr>
          <p:cNvPr id="16" name="Rectangle 15"/>
          <p:cNvSpPr/>
          <p:nvPr/>
        </p:nvSpPr>
        <p:spPr>
          <a:xfrm>
            <a:off x="10044455" y="731520"/>
            <a:ext cx="1735759" cy="2660904"/>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044455" y="731520"/>
            <a:ext cx="1735759" cy="1330452"/>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154183" y="2153412"/>
            <a:ext cx="1552879" cy="1193292"/>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Slate 500</a:t>
            </a:r>
          </a:p>
          <a:p>
            <a:pPr algn="l">
              <a:spcAft>
                <a:spcPts val="100"/>
              </a:spcAft>
            </a:pPr>
            <a:r>
              <a:rPr sz="900" b="0" i="0">
                <a:solidFill>
                  <a:srgbClr val="6B778C"/>
                </a:solidFill>
                <a:latin typeface="Inter"/>
              </a:rPr>
              <a:t>HEX  #6B778C</a:t>
            </a:r>
          </a:p>
          <a:p>
            <a:pPr algn="l">
              <a:spcAft>
                <a:spcPts val="100"/>
              </a:spcAft>
            </a:pPr>
            <a:r>
              <a:rPr sz="900" b="0" i="0">
                <a:solidFill>
                  <a:srgbClr val="6B778C"/>
                </a:solidFill>
                <a:latin typeface="Inter"/>
              </a:rPr>
              <a:t>RGB  107, 119, 140</a:t>
            </a:r>
          </a:p>
        </p:txBody>
      </p:sp>
      <p:sp>
        <p:nvSpPr>
          <p:cNvPr id="19" name="Rectangle 18"/>
          <p:cNvSpPr/>
          <p:nvPr/>
        </p:nvSpPr>
        <p:spPr>
          <a:xfrm>
            <a:off x="4343400" y="3557016"/>
            <a:ext cx="1735759" cy="2660904"/>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343400" y="3557016"/>
            <a:ext cx="1735759" cy="1330452"/>
          </a:xfrm>
          <a:prstGeom prst="rect">
            <a:avLst/>
          </a:prstGeom>
          <a:solidFill>
            <a:srgbClr val="3A4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453128" y="4978908"/>
            <a:ext cx="1552879" cy="1193292"/>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Slate 700</a:t>
            </a:r>
          </a:p>
          <a:p>
            <a:pPr algn="l">
              <a:spcAft>
                <a:spcPts val="100"/>
              </a:spcAft>
            </a:pPr>
            <a:r>
              <a:rPr sz="900" b="0" i="0">
                <a:solidFill>
                  <a:srgbClr val="6B778C"/>
                </a:solidFill>
                <a:latin typeface="Inter"/>
              </a:rPr>
              <a:t>HEX  #3A4458</a:t>
            </a:r>
          </a:p>
          <a:p>
            <a:pPr algn="l">
              <a:spcAft>
                <a:spcPts val="100"/>
              </a:spcAft>
            </a:pPr>
            <a:r>
              <a:rPr sz="900" b="0" i="0">
                <a:solidFill>
                  <a:srgbClr val="6B778C"/>
                </a:solidFill>
                <a:latin typeface="Inter"/>
              </a:rPr>
              <a:t>RGB  58, 68, 88</a:t>
            </a:r>
          </a:p>
        </p:txBody>
      </p:sp>
      <p:sp>
        <p:nvSpPr>
          <p:cNvPr id="22" name="Rectangle 21"/>
          <p:cNvSpPr/>
          <p:nvPr/>
        </p:nvSpPr>
        <p:spPr>
          <a:xfrm>
            <a:off x="6243751" y="3557016"/>
            <a:ext cx="1735759" cy="2660904"/>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43751" y="3557016"/>
            <a:ext cx="1735759" cy="1330452"/>
          </a:xfrm>
          <a:prstGeom prst="rect">
            <a:avLst/>
          </a:prstGeom>
          <a:solidFill>
            <a:srgbClr val="1A23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53479" y="4978908"/>
            <a:ext cx="1552879" cy="1193292"/>
          </a:xfrm>
          <a:prstGeom prst="rect">
            <a:avLst/>
          </a:prstGeom>
          <a:noFill/>
        </p:spPr>
        <p:txBody>
          <a:bodyPr wrap="square" lIns="0" rIns="0" tIns="0" bIns="0" anchor="t">
            <a:spAutoFit/>
          </a:bodyPr>
          <a:lstStyle/>
          <a:p>
            <a:pPr algn="l">
              <a:spcAft>
                <a:spcPts val="100"/>
              </a:spcAft>
            </a:pPr>
            <a:r>
              <a:rPr sz="1150" b="1" i="0">
                <a:solidFill>
                  <a:srgbClr val="0E1525"/>
                </a:solidFill>
                <a:latin typeface="Inter"/>
              </a:rPr>
              <a:t>Deep</a:t>
            </a:r>
          </a:p>
          <a:p>
            <a:pPr algn="l">
              <a:spcAft>
                <a:spcPts val="100"/>
              </a:spcAft>
            </a:pPr>
            <a:r>
              <a:rPr sz="900" b="0" i="0">
                <a:solidFill>
                  <a:srgbClr val="6B778C"/>
                </a:solidFill>
                <a:latin typeface="Inter"/>
              </a:rPr>
              <a:t>HEX  #1A2335</a:t>
            </a:r>
          </a:p>
          <a:p>
            <a:pPr algn="l">
              <a:spcAft>
                <a:spcPts val="100"/>
              </a:spcAft>
            </a:pPr>
            <a:r>
              <a:rPr sz="900" b="0" i="0">
                <a:solidFill>
                  <a:srgbClr val="6B778C"/>
                </a:solidFill>
                <a:latin typeface="Inter"/>
              </a:rPr>
              <a:t>RGB  26, 35, 53</a:t>
            </a:r>
          </a:p>
        </p:txBody>
      </p:sp>
      <p:sp>
        <p:nvSpPr>
          <p:cNvPr id="25" name="TextBox 24"/>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Color</a:t>
            </a:r>
          </a:p>
        </p:txBody>
      </p:sp>
      <p:sp>
        <p:nvSpPr>
          <p:cNvPr id="26" name="TextBox 25"/>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21 / 41</a:t>
            </a:r>
          </a:p>
        </p:txBody>
      </p:sp>
      <p:pic>
        <p:nvPicPr>
          <p:cNvPr id="27" name="Picture 26"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62179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62179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COLOR</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Gradients</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One gradient only, Halyard Blue to Ink, at 135 degrees. Use for hero backgrounds, never behind small text.</a:t>
            </a:r>
          </a:p>
        </p:txBody>
      </p:sp>
      <p:pic>
        <p:nvPicPr>
          <p:cNvPr id="7" name="Picture 6" descr="image.png"/>
          <p:cNvPicPr>
            <a:picLocks noChangeAspect="1"/>
          </p:cNvPicPr>
          <p:nvPr/>
        </p:nvPicPr>
        <p:blipFill>
          <a:blip r:embed="rId2"/>
          <a:stretch>
            <a:fillRect/>
          </a:stretch>
        </p:blipFill>
        <p:spPr>
          <a:xfrm>
            <a:off x="4343400" y="823017"/>
            <a:ext cx="7436815" cy="2788805"/>
          </a:xfrm>
          <a:prstGeom prst="rect">
            <a:avLst/>
          </a:prstGeom>
        </p:spPr>
      </p:pic>
      <p:sp>
        <p:nvSpPr>
          <p:cNvPr id="8" name="TextBox 7"/>
          <p:cNvSpPr txBox="1"/>
          <p:nvPr/>
        </p:nvSpPr>
        <p:spPr>
          <a:xfrm>
            <a:off x="4343400" y="3703320"/>
            <a:ext cx="7436815" cy="365760"/>
          </a:xfrm>
          <a:prstGeom prst="rect">
            <a:avLst/>
          </a:prstGeom>
          <a:noFill/>
        </p:spPr>
        <p:txBody>
          <a:bodyPr wrap="square" lIns="0" rIns="0" tIns="0" bIns="0" anchor="t">
            <a:spAutoFit/>
          </a:bodyPr>
          <a:lstStyle/>
          <a:p>
            <a:pPr algn="l">
              <a:spcAft>
                <a:spcPts val="400"/>
              </a:spcAft>
            </a:pPr>
            <a:r>
              <a:rPr sz="900" b="1" i="0">
                <a:solidFill>
                  <a:srgbClr val="0E1525"/>
                </a:solidFill>
                <a:latin typeface="Inter"/>
              </a:rPr>
              <a:t>Depth</a:t>
            </a:r>
            <a:r>
              <a:rPr sz="900" b="0" i="0">
                <a:solidFill>
                  <a:srgbClr val="6B778C"/>
                </a:solidFill>
                <a:latin typeface="Inter"/>
              </a:rPr>
              <a:t>   #1F5EFF &gt; #0E1525   135°</a:t>
            </a:r>
          </a:p>
        </p:txBody>
      </p:sp>
      <p:sp>
        <p:nvSpPr>
          <p:cNvPr id="9" name="TextBox 8"/>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Color</a:t>
            </a:r>
          </a:p>
        </p:txBody>
      </p:sp>
      <p:sp>
        <p:nvSpPr>
          <p:cNvPr id="10" name="TextBox 9"/>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22 / 41</a:t>
            </a:r>
          </a:p>
        </p:txBody>
      </p:sp>
      <p:pic>
        <p:nvPicPr>
          <p:cNvPr id="11" name="Picture 10" descr="image.png"/>
          <p:cNvPicPr>
            <a:picLocks noChangeAspect="1"/>
          </p:cNvPicPr>
          <p:nvPr/>
        </p:nvPicPr>
        <p:blipFill>
          <a:blip r:embed="rId3"/>
          <a:stretch>
            <a:fillRect/>
          </a:stretch>
        </p:blipFill>
        <p:spPr>
          <a:xfrm>
            <a:off x="11441887" y="365760"/>
            <a:ext cx="292608" cy="29260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62179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62179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COLOR</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Light Mode and Dark Mode</a:t>
            </a:r>
          </a:p>
        </p:txBody>
      </p:sp>
      <p:sp>
        <p:nvSpPr>
          <p:cNvPr id="5" name="TextBox 4"/>
          <p:cNvSpPr txBox="1"/>
          <p:nvPr/>
        </p:nvSpPr>
        <p:spPr>
          <a:xfrm>
            <a:off x="502920" y="1371600"/>
            <a:ext cx="11185855" cy="457200"/>
          </a:xfrm>
          <a:prstGeom prst="rect">
            <a:avLst/>
          </a:prstGeom>
          <a:noFill/>
        </p:spPr>
        <p:txBody>
          <a:bodyPr wrap="square" lIns="0" rIns="0" tIns="0" bIns="0" anchor="t">
            <a:spAutoFit/>
          </a:bodyPr>
          <a:lstStyle/>
          <a:p>
            <a:pPr algn="l">
              <a:spcAft>
                <a:spcPts val="400"/>
              </a:spcAft>
            </a:pPr>
            <a:r>
              <a:rPr sz="1100" b="0" i="0">
                <a:solidFill>
                  <a:srgbClr val="6B778C"/>
                </a:solidFill>
                <a:latin typeface="Inter"/>
              </a:rPr>
              <a:t>The same brand on two backgrounds. Each mode has its own text, accent, and logo version.</a:t>
            </a:r>
          </a:p>
        </p:txBody>
      </p:sp>
      <p:sp>
        <p:nvSpPr>
          <p:cNvPr id="6" name="Rectangle 5"/>
          <p:cNvSpPr/>
          <p:nvPr/>
        </p:nvSpPr>
        <p:spPr>
          <a:xfrm>
            <a:off x="502920" y="1874519"/>
            <a:ext cx="5410047" cy="288036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mage.png"/>
          <p:cNvPicPr>
            <a:picLocks noChangeAspect="1"/>
          </p:cNvPicPr>
          <p:nvPr/>
        </p:nvPicPr>
        <p:blipFill>
          <a:blip r:embed="rId2"/>
          <a:stretch>
            <a:fillRect/>
          </a:stretch>
        </p:blipFill>
        <p:spPr>
          <a:xfrm>
            <a:off x="777240" y="2103120"/>
            <a:ext cx="1261359" cy="365760"/>
          </a:xfrm>
          <a:prstGeom prst="rect">
            <a:avLst/>
          </a:prstGeom>
        </p:spPr>
      </p:pic>
      <p:sp>
        <p:nvSpPr>
          <p:cNvPr id="8" name="TextBox 7"/>
          <p:cNvSpPr txBox="1"/>
          <p:nvPr/>
        </p:nvSpPr>
        <p:spPr>
          <a:xfrm>
            <a:off x="3809847" y="2148839"/>
            <a:ext cx="1828800" cy="274320"/>
          </a:xfrm>
          <a:prstGeom prst="rect">
            <a:avLst/>
          </a:prstGeom>
          <a:noFill/>
        </p:spPr>
        <p:txBody>
          <a:bodyPr wrap="square" lIns="0" rIns="0" tIns="0" bIns="0" anchor="t">
            <a:spAutoFit/>
          </a:bodyPr>
          <a:lstStyle/>
          <a:p>
            <a:pPr algn="r">
              <a:spcAft>
                <a:spcPts val="400"/>
              </a:spcAft>
            </a:pPr>
            <a:r>
              <a:rPr sz="850" b="1" i="0" spc="150">
                <a:solidFill>
                  <a:srgbClr val="6B778C"/>
                </a:solidFill>
                <a:latin typeface="Inter"/>
              </a:rPr>
              <a:t>LIGHT MODE</a:t>
            </a:r>
          </a:p>
        </p:txBody>
      </p:sp>
      <p:sp>
        <p:nvSpPr>
          <p:cNvPr id="9" name="Rounded Rectangle 8"/>
          <p:cNvSpPr/>
          <p:nvPr/>
        </p:nvSpPr>
        <p:spPr>
          <a:xfrm>
            <a:off x="777240" y="2697479"/>
            <a:ext cx="4861407" cy="1828800"/>
          </a:xfrm>
          <a:prstGeom prst="roundRect">
            <a:avLst>
              <a:gd name="adj" fmla="val 5000"/>
            </a:avLst>
          </a:prstGeom>
          <a:solidFill>
            <a:srgbClr val="F4F6FA"/>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880360"/>
            <a:ext cx="4404207" cy="411480"/>
          </a:xfrm>
          <a:prstGeom prst="rect">
            <a:avLst/>
          </a:prstGeom>
          <a:noFill/>
        </p:spPr>
        <p:txBody>
          <a:bodyPr wrap="square" lIns="0" rIns="0" tIns="0" bIns="0" anchor="t">
            <a:spAutoFit/>
          </a:bodyPr>
          <a:lstStyle/>
          <a:p>
            <a:pPr algn="l">
              <a:spcAft>
                <a:spcPts val="400"/>
              </a:spcAft>
            </a:pPr>
            <a:r>
              <a:rPr sz="1700" b="0" i="0">
                <a:solidFill>
                  <a:srgbClr val="0E1525"/>
                </a:solidFill>
                <a:latin typeface="Inter Display"/>
              </a:rPr>
              <a:t>Headline in primary text</a:t>
            </a:r>
          </a:p>
        </p:txBody>
      </p:sp>
      <p:sp>
        <p:nvSpPr>
          <p:cNvPr id="11" name="TextBox 10"/>
          <p:cNvSpPr txBox="1"/>
          <p:nvPr/>
        </p:nvSpPr>
        <p:spPr>
          <a:xfrm>
            <a:off x="1005840" y="3319272"/>
            <a:ext cx="4404207" cy="457200"/>
          </a:xfrm>
          <a:prstGeom prst="rect">
            <a:avLst/>
          </a:prstGeom>
          <a:noFill/>
        </p:spPr>
        <p:txBody>
          <a:bodyPr wrap="square" lIns="0" rIns="0" tIns="0" bIns="0" anchor="t">
            <a:spAutoFit/>
          </a:bodyPr>
          <a:lstStyle/>
          <a:p>
            <a:pPr algn="l">
              <a:spcAft>
                <a:spcPts val="400"/>
              </a:spcAft>
            </a:pPr>
            <a:r>
              <a:rPr sz="1000" b="0" i="0">
                <a:solidFill>
                  <a:srgbClr val="6B778C"/>
                </a:solidFill>
                <a:latin typeface="Inter"/>
              </a:rPr>
              <a:t>Secondary text sits here and carries supporting detail.</a:t>
            </a:r>
          </a:p>
        </p:txBody>
      </p:sp>
      <p:sp>
        <p:nvSpPr>
          <p:cNvPr id="12" name="Rounded Rectangle 11"/>
          <p:cNvSpPr/>
          <p:nvPr/>
        </p:nvSpPr>
        <p:spPr>
          <a:xfrm>
            <a:off x="1005840" y="3886200"/>
            <a:ext cx="1371600" cy="384048"/>
          </a:xfrm>
          <a:prstGeom prst="roundRect">
            <a:avLst>
              <a:gd name="adj" fmla="val 20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5840" y="3886200"/>
            <a:ext cx="1371600" cy="384048"/>
          </a:xfrm>
          <a:prstGeom prst="rect">
            <a:avLst/>
          </a:prstGeom>
          <a:noFill/>
        </p:spPr>
        <p:txBody>
          <a:bodyPr wrap="square" lIns="0" rIns="0" tIns="0" bIns="0" anchor="ctr">
            <a:spAutoFit/>
          </a:bodyPr>
          <a:lstStyle/>
          <a:p>
            <a:pPr algn="ctr">
              <a:spcAft>
                <a:spcPts val="400"/>
              </a:spcAft>
            </a:pPr>
            <a:r>
              <a:rPr sz="950" b="1" i="0">
                <a:solidFill>
                  <a:srgbClr val="FFFFFF"/>
                </a:solidFill>
                <a:latin typeface="Inter"/>
              </a:rPr>
              <a:t>Primary action</a:t>
            </a:r>
          </a:p>
        </p:txBody>
      </p:sp>
      <p:sp>
        <p:nvSpPr>
          <p:cNvPr id="14" name="TextBox 13"/>
          <p:cNvSpPr txBox="1"/>
          <p:nvPr/>
        </p:nvSpPr>
        <p:spPr>
          <a:xfrm>
            <a:off x="2560320" y="3941063"/>
            <a:ext cx="1645920" cy="320040"/>
          </a:xfrm>
          <a:prstGeom prst="rect">
            <a:avLst/>
          </a:prstGeom>
          <a:noFill/>
        </p:spPr>
        <p:txBody>
          <a:bodyPr wrap="square" lIns="0" rIns="0" tIns="0" bIns="0" anchor="ctr">
            <a:spAutoFit/>
          </a:bodyPr>
          <a:lstStyle/>
          <a:p>
            <a:pPr algn="l">
              <a:spcAft>
                <a:spcPts val="400"/>
              </a:spcAft>
            </a:pPr>
            <a:r>
              <a:rPr sz="1000" b="0" i="0" u="sng">
                <a:solidFill>
                  <a:srgbClr val="1F5EFF"/>
                </a:solidFill>
                <a:latin typeface="Inter"/>
              </a:rPr>
              <a:t>Text link</a:t>
            </a:r>
          </a:p>
        </p:txBody>
      </p:sp>
      <p:sp>
        <p:nvSpPr>
          <p:cNvPr id="15" name="Rounded Rectangle 14"/>
          <p:cNvSpPr/>
          <p:nvPr/>
        </p:nvSpPr>
        <p:spPr>
          <a:xfrm>
            <a:off x="502920" y="4983479"/>
            <a:ext cx="274320" cy="274320"/>
          </a:xfrm>
          <a:prstGeom prst="roundRect">
            <a:avLst>
              <a:gd name="adj" fmla="val 20000"/>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493775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Background</a:t>
            </a:r>
          </a:p>
          <a:p>
            <a:pPr algn="l">
              <a:spcAft>
                <a:spcPts val="0"/>
              </a:spcAft>
            </a:pPr>
            <a:r>
              <a:rPr sz="750" b="0" i="0">
                <a:solidFill>
                  <a:srgbClr val="6B778C"/>
                </a:solidFill>
                <a:latin typeface="Inter"/>
              </a:rPr>
              <a:t>#FFFFFF</a:t>
            </a:r>
          </a:p>
        </p:txBody>
      </p:sp>
      <p:sp>
        <p:nvSpPr>
          <p:cNvPr id="17" name="Rounded Rectangle 16"/>
          <p:cNvSpPr/>
          <p:nvPr/>
        </p:nvSpPr>
        <p:spPr>
          <a:xfrm>
            <a:off x="1855431" y="4983479"/>
            <a:ext cx="274320" cy="274320"/>
          </a:xfrm>
          <a:prstGeom prst="roundRect">
            <a:avLst>
              <a:gd name="adj" fmla="val 20000"/>
            </a:avLst>
          </a:prstGeom>
          <a:solidFill>
            <a:srgbClr val="F4F6FA"/>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221191" y="493775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Surface</a:t>
            </a:r>
          </a:p>
          <a:p>
            <a:pPr algn="l">
              <a:spcAft>
                <a:spcPts val="0"/>
              </a:spcAft>
            </a:pPr>
            <a:r>
              <a:rPr sz="750" b="0" i="0">
                <a:solidFill>
                  <a:srgbClr val="6B778C"/>
                </a:solidFill>
                <a:latin typeface="Inter"/>
              </a:rPr>
              <a:t>#F4F6FA</a:t>
            </a:r>
          </a:p>
        </p:txBody>
      </p:sp>
      <p:sp>
        <p:nvSpPr>
          <p:cNvPr id="19" name="Rounded Rectangle 18"/>
          <p:cNvSpPr/>
          <p:nvPr/>
        </p:nvSpPr>
        <p:spPr>
          <a:xfrm>
            <a:off x="3207943" y="4983479"/>
            <a:ext cx="274320" cy="274320"/>
          </a:xfrm>
          <a:prstGeom prst="roundRect">
            <a:avLst>
              <a:gd name="adj" fmla="val 20000"/>
            </a:avLst>
          </a:prstGeom>
          <a:solidFill>
            <a:srgbClr val="0E1525"/>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573703" y="493775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Text</a:t>
            </a:r>
          </a:p>
          <a:p>
            <a:pPr algn="l">
              <a:spcAft>
                <a:spcPts val="0"/>
              </a:spcAft>
            </a:pPr>
            <a:r>
              <a:rPr sz="750" b="0" i="0">
                <a:solidFill>
                  <a:srgbClr val="6B778C"/>
                </a:solidFill>
                <a:latin typeface="Inter"/>
              </a:rPr>
              <a:t>#0E1525</a:t>
            </a:r>
          </a:p>
        </p:txBody>
      </p:sp>
      <p:sp>
        <p:nvSpPr>
          <p:cNvPr id="21" name="Rounded Rectangle 20"/>
          <p:cNvSpPr/>
          <p:nvPr/>
        </p:nvSpPr>
        <p:spPr>
          <a:xfrm>
            <a:off x="4560455" y="4983479"/>
            <a:ext cx="274320" cy="274320"/>
          </a:xfrm>
          <a:prstGeom prst="roundRect">
            <a:avLst>
              <a:gd name="adj" fmla="val 20000"/>
            </a:avLst>
          </a:prstGeom>
          <a:solidFill>
            <a:srgbClr val="6B778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926215" y="493775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Text Muted</a:t>
            </a:r>
          </a:p>
          <a:p>
            <a:pPr algn="l">
              <a:spcAft>
                <a:spcPts val="0"/>
              </a:spcAft>
            </a:pPr>
            <a:r>
              <a:rPr sz="750" b="0" i="0">
                <a:solidFill>
                  <a:srgbClr val="6B778C"/>
                </a:solidFill>
                <a:latin typeface="Inter"/>
              </a:rPr>
              <a:t>#6B778C</a:t>
            </a:r>
          </a:p>
        </p:txBody>
      </p:sp>
      <p:sp>
        <p:nvSpPr>
          <p:cNvPr id="23" name="Rounded Rectangle 22"/>
          <p:cNvSpPr/>
          <p:nvPr/>
        </p:nvSpPr>
        <p:spPr>
          <a:xfrm>
            <a:off x="502920" y="5486399"/>
            <a:ext cx="274320" cy="274320"/>
          </a:xfrm>
          <a:prstGeom prst="roundRect">
            <a:avLst>
              <a:gd name="adj" fmla="val 20000"/>
            </a:avLst>
          </a:prstGeom>
          <a:solidFill>
            <a:srgbClr val="E3E8F0"/>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8680" y="544067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Border</a:t>
            </a:r>
          </a:p>
          <a:p>
            <a:pPr algn="l">
              <a:spcAft>
                <a:spcPts val="0"/>
              </a:spcAft>
            </a:pPr>
            <a:r>
              <a:rPr sz="750" b="0" i="0">
                <a:solidFill>
                  <a:srgbClr val="6B778C"/>
                </a:solidFill>
                <a:latin typeface="Inter"/>
              </a:rPr>
              <a:t>#E3E8F0</a:t>
            </a:r>
          </a:p>
        </p:txBody>
      </p:sp>
      <p:sp>
        <p:nvSpPr>
          <p:cNvPr id="25" name="Rounded Rectangle 24"/>
          <p:cNvSpPr/>
          <p:nvPr/>
        </p:nvSpPr>
        <p:spPr>
          <a:xfrm>
            <a:off x="1855431" y="5486399"/>
            <a:ext cx="274320" cy="274320"/>
          </a:xfrm>
          <a:prstGeom prst="roundRect">
            <a:avLst>
              <a:gd name="adj" fmla="val 20000"/>
            </a:avLst>
          </a:prstGeom>
          <a:solidFill>
            <a:srgbClr val="1F5E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221191" y="544067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Accent</a:t>
            </a:r>
          </a:p>
          <a:p>
            <a:pPr algn="l">
              <a:spcAft>
                <a:spcPts val="0"/>
              </a:spcAft>
            </a:pPr>
            <a:r>
              <a:rPr sz="750" b="0" i="0">
                <a:solidFill>
                  <a:srgbClr val="6B778C"/>
                </a:solidFill>
                <a:latin typeface="Inter"/>
              </a:rPr>
              <a:t>#1F5EFF</a:t>
            </a:r>
          </a:p>
        </p:txBody>
      </p:sp>
      <p:sp>
        <p:nvSpPr>
          <p:cNvPr id="27" name="Rounded Rectangle 26"/>
          <p:cNvSpPr/>
          <p:nvPr/>
        </p:nvSpPr>
        <p:spPr>
          <a:xfrm>
            <a:off x="3207943" y="5486399"/>
            <a:ext cx="274320" cy="274320"/>
          </a:xfrm>
          <a:prstGeom prst="roundRect">
            <a:avLst>
              <a:gd name="adj" fmla="val 20000"/>
            </a:avLst>
          </a:prstGeom>
          <a:solidFill>
            <a:srgbClr val="1F5E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73703" y="544067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Link</a:t>
            </a:r>
          </a:p>
          <a:p>
            <a:pPr algn="l">
              <a:spcAft>
                <a:spcPts val="0"/>
              </a:spcAft>
            </a:pPr>
            <a:r>
              <a:rPr sz="750" b="0" i="0">
                <a:solidFill>
                  <a:srgbClr val="6B778C"/>
                </a:solidFill>
                <a:latin typeface="Inter"/>
              </a:rPr>
              <a:t>#1F5EFF</a:t>
            </a:r>
          </a:p>
        </p:txBody>
      </p:sp>
      <p:sp>
        <p:nvSpPr>
          <p:cNvPr id="29" name="Rectangle 28"/>
          <p:cNvSpPr/>
          <p:nvPr/>
        </p:nvSpPr>
        <p:spPr>
          <a:xfrm>
            <a:off x="6278727" y="1874519"/>
            <a:ext cx="5410047" cy="2880360"/>
          </a:xfrm>
          <a:prstGeom prst="rect">
            <a:avLst/>
          </a:prstGeom>
          <a:solidFill>
            <a:srgbClr val="0E1525"/>
          </a:solidFill>
          <a:ln w="9525">
            <a:solidFill>
              <a:srgbClr val="3A44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image.png"/>
          <p:cNvPicPr>
            <a:picLocks noChangeAspect="1"/>
          </p:cNvPicPr>
          <p:nvPr/>
        </p:nvPicPr>
        <p:blipFill>
          <a:blip r:embed="rId3"/>
          <a:stretch>
            <a:fillRect/>
          </a:stretch>
        </p:blipFill>
        <p:spPr>
          <a:xfrm>
            <a:off x="6553047" y="2103120"/>
            <a:ext cx="1261359" cy="365760"/>
          </a:xfrm>
          <a:prstGeom prst="rect">
            <a:avLst/>
          </a:prstGeom>
        </p:spPr>
      </p:pic>
      <p:sp>
        <p:nvSpPr>
          <p:cNvPr id="31" name="TextBox 30"/>
          <p:cNvSpPr txBox="1"/>
          <p:nvPr/>
        </p:nvSpPr>
        <p:spPr>
          <a:xfrm>
            <a:off x="9585655" y="2148839"/>
            <a:ext cx="1828800" cy="274320"/>
          </a:xfrm>
          <a:prstGeom prst="rect">
            <a:avLst/>
          </a:prstGeom>
          <a:noFill/>
        </p:spPr>
        <p:txBody>
          <a:bodyPr wrap="square" lIns="0" rIns="0" tIns="0" bIns="0" anchor="t">
            <a:spAutoFit/>
          </a:bodyPr>
          <a:lstStyle/>
          <a:p>
            <a:pPr algn="r">
              <a:spcAft>
                <a:spcPts val="400"/>
              </a:spcAft>
            </a:pPr>
            <a:r>
              <a:rPr sz="850" b="1" i="0" spc="150">
                <a:solidFill>
                  <a:srgbClr val="B6C0D0"/>
                </a:solidFill>
                <a:latin typeface="Inter"/>
              </a:rPr>
              <a:t>DARK MODE</a:t>
            </a:r>
          </a:p>
        </p:txBody>
      </p:sp>
      <p:sp>
        <p:nvSpPr>
          <p:cNvPr id="32" name="Rounded Rectangle 31"/>
          <p:cNvSpPr/>
          <p:nvPr/>
        </p:nvSpPr>
        <p:spPr>
          <a:xfrm>
            <a:off x="6553047" y="2697479"/>
            <a:ext cx="4861407" cy="1828800"/>
          </a:xfrm>
          <a:prstGeom prst="roundRect">
            <a:avLst>
              <a:gd name="adj" fmla="val 5000"/>
            </a:avLst>
          </a:prstGeom>
          <a:solidFill>
            <a:srgbClr val="1A2335"/>
          </a:solidFill>
          <a:ln w="9525">
            <a:solidFill>
              <a:srgbClr val="3A44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781647" y="2880360"/>
            <a:ext cx="4404207" cy="411480"/>
          </a:xfrm>
          <a:prstGeom prst="rect">
            <a:avLst/>
          </a:prstGeom>
          <a:noFill/>
        </p:spPr>
        <p:txBody>
          <a:bodyPr wrap="square" lIns="0" rIns="0" tIns="0" bIns="0" anchor="t">
            <a:spAutoFit/>
          </a:bodyPr>
          <a:lstStyle/>
          <a:p>
            <a:pPr algn="l">
              <a:spcAft>
                <a:spcPts val="400"/>
              </a:spcAft>
            </a:pPr>
            <a:r>
              <a:rPr sz="1700" b="0" i="0">
                <a:solidFill>
                  <a:srgbClr val="FFFFFF"/>
                </a:solidFill>
                <a:latin typeface="Inter Display"/>
              </a:rPr>
              <a:t>Headline in primary text</a:t>
            </a:r>
          </a:p>
        </p:txBody>
      </p:sp>
      <p:sp>
        <p:nvSpPr>
          <p:cNvPr id="34" name="TextBox 33"/>
          <p:cNvSpPr txBox="1"/>
          <p:nvPr/>
        </p:nvSpPr>
        <p:spPr>
          <a:xfrm>
            <a:off x="6781647" y="3319272"/>
            <a:ext cx="4404207" cy="457200"/>
          </a:xfrm>
          <a:prstGeom prst="rect">
            <a:avLst/>
          </a:prstGeom>
          <a:noFill/>
        </p:spPr>
        <p:txBody>
          <a:bodyPr wrap="square" lIns="0" rIns="0" tIns="0" bIns="0" anchor="t">
            <a:spAutoFit/>
          </a:bodyPr>
          <a:lstStyle/>
          <a:p>
            <a:pPr algn="l">
              <a:spcAft>
                <a:spcPts val="400"/>
              </a:spcAft>
            </a:pPr>
            <a:r>
              <a:rPr sz="1000" b="0" i="0">
                <a:solidFill>
                  <a:srgbClr val="B6C0D0"/>
                </a:solidFill>
                <a:latin typeface="Inter"/>
              </a:rPr>
              <a:t>Secondary text sits here and carries supporting detail.</a:t>
            </a:r>
          </a:p>
        </p:txBody>
      </p:sp>
      <p:sp>
        <p:nvSpPr>
          <p:cNvPr id="35" name="Rounded Rectangle 34"/>
          <p:cNvSpPr/>
          <p:nvPr/>
        </p:nvSpPr>
        <p:spPr>
          <a:xfrm>
            <a:off x="6781647" y="3886200"/>
            <a:ext cx="1371600" cy="384048"/>
          </a:xfrm>
          <a:prstGeom prst="roundRect">
            <a:avLst>
              <a:gd name="adj" fmla="val 20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781647" y="3886200"/>
            <a:ext cx="1371600" cy="384048"/>
          </a:xfrm>
          <a:prstGeom prst="rect">
            <a:avLst/>
          </a:prstGeom>
          <a:noFill/>
        </p:spPr>
        <p:txBody>
          <a:bodyPr wrap="square" lIns="0" rIns="0" tIns="0" bIns="0" anchor="ctr">
            <a:spAutoFit/>
          </a:bodyPr>
          <a:lstStyle/>
          <a:p>
            <a:pPr algn="ctr">
              <a:spcAft>
                <a:spcPts val="400"/>
              </a:spcAft>
            </a:pPr>
            <a:r>
              <a:rPr sz="950" b="1" i="0">
                <a:solidFill>
                  <a:srgbClr val="FFFFFF"/>
                </a:solidFill>
                <a:latin typeface="Inter"/>
              </a:rPr>
              <a:t>Primary action</a:t>
            </a:r>
          </a:p>
        </p:txBody>
      </p:sp>
      <p:sp>
        <p:nvSpPr>
          <p:cNvPr id="37" name="TextBox 36"/>
          <p:cNvSpPr txBox="1"/>
          <p:nvPr/>
        </p:nvSpPr>
        <p:spPr>
          <a:xfrm>
            <a:off x="8336127" y="3941063"/>
            <a:ext cx="1645920" cy="320040"/>
          </a:xfrm>
          <a:prstGeom prst="rect">
            <a:avLst/>
          </a:prstGeom>
          <a:noFill/>
        </p:spPr>
        <p:txBody>
          <a:bodyPr wrap="square" lIns="0" rIns="0" tIns="0" bIns="0" anchor="ctr">
            <a:spAutoFit/>
          </a:bodyPr>
          <a:lstStyle/>
          <a:p>
            <a:pPr algn="l">
              <a:spcAft>
                <a:spcPts val="400"/>
              </a:spcAft>
            </a:pPr>
            <a:r>
              <a:rPr sz="1000" b="0" i="0" u="sng">
                <a:solidFill>
                  <a:srgbClr val="9CC3FF"/>
                </a:solidFill>
                <a:latin typeface="Inter"/>
              </a:rPr>
              <a:t>Text link</a:t>
            </a:r>
          </a:p>
        </p:txBody>
      </p:sp>
      <p:sp>
        <p:nvSpPr>
          <p:cNvPr id="38" name="Rounded Rectangle 37"/>
          <p:cNvSpPr/>
          <p:nvPr/>
        </p:nvSpPr>
        <p:spPr>
          <a:xfrm>
            <a:off x="6278727" y="4983479"/>
            <a:ext cx="274320" cy="274320"/>
          </a:xfrm>
          <a:prstGeom prst="roundRect">
            <a:avLst>
              <a:gd name="adj" fmla="val 20000"/>
            </a:avLst>
          </a:prstGeom>
          <a:solidFill>
            <a:srgbClr val="0E1525"/>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644487" y="493775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Background</a:t>
            </a:r>
          </a:p>
          <a:p>
            <a:pPr algn="l">
              <a:spcAft>
                <a:spcPts val="0"/>
              </a:spcAft>
            </a:pPr>
            <a:r>
              <a:rPr sz="750" b="0" i="0">
                <a:solidFill>
                  <a:srgbClr val="6B778C"/>
                </a:solidFill>
                <a:latin typeface="Inter"/>
              </a:rPr>
              <a:t>#0E1525</a:t>
            </a:r>
          </a:p>
        </p:txBody>
      </p:sp>
      <p:sp>
        <p:nvSpPr>
          <p:cNvPr id="40" name="Rounded Rectangle 39"/>
          <p:cNvSpPr/>
          <p:nvPr/>
        </p:nvSpPr>
        <p:spPr>
          <a:xfrm>
            <a:off x="7631239" y="4983479"/>
            <a:ext cx="274320" cy="274320"/>
          </a:xfrm>
          <a:prstGeom prst="roundRect">
            <a:avLst>
              <a:gd name="adj" fmla="val 20000"/>
            </a:avLst>
          </a:prstGeom>
          <a:solidFill>
            <a:srgbClr val="1A2335"/>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996999" y="493775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Surface</a:t>
            </a:r>
          </a:p>
          <a:p>
            <a:pPr algn="l">
              <a:spcAft>
                <a:spcPts val="0"/>
              </a:spcAft>
            </a:pPr>
            <a:r>
              <a:rPr sz="750" b="0" i="0">
                <a:solidFill>
                  <a:srgbClr val="6B778C"/>
                </a:solidFill>
                <a:latin typeface="Inter"/>
              </a:rPr>
              <a:t>#1A2335</a:t>
            </a:r>
          </a:p>
        </p:txBody>
      </p:sp>
      <p:sp>
        <p:nvSpPr>
          <p:cNvPr id="42" name="Rounded Rectangle 41"/>
          <p:cNvSpPr/>
          <p:nvPr/>
        </p:nvSpPr>
        <p:spPr>
          <a:xfrm>
            <a:off x="8983751" y="4983479"/>
            <a:ext cx="274320" cy="274320"/>
          </a:xfrm>
          <a:prstGeom prst="roundRect">
            <a:avLst>
              <a:gd name="adj" fmla="val 20000"/>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349511" y="493775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Text</a:t>
            </a:r>
          </a:p>
          <a:p>
            <a:pPr algn="l">
              <a:spcAft>
                <a:spcPts val="0"/>
              </a:spcAft>
            </a:pPr>
            <a:r>
              <a:rPr sz="750" b="0" i="0">
                <a:solidFill>
                  <a:srgbClr val="6B778C"/>
                </a:solidFill>
                <a:latin typeface="Inter"/>
              </a:rPr>
              <a:t>#FFFFFF</a:t>
            </a:r>
          </a:p>
        </p:txBody>
      </p:sp>
      <p:sp>
        <p:nvSpPr>
          <p:cNvPr id="44" name="Rounded Rectangle 43"/>
          <p:cNvSpPr/>
          <p:nvPr/>
        </p:nvSpPr>
        <p:spPr>
          <a:xfrm>
            <a:off x="10336263" y="4983479"/>
            <a:ext cx="274320" cy="274320"/>
          </a:xfrm>
          <a:prstGeom prst="roundRect">
            <a:avLst>
              <a:gd name="adj" fmla="val 20000"/>
            </a:avLst>
          </a:prstGeom>
          <a:solidFill>
            <a:srgbClr val="B6C0D0"/>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702023" y="493775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Text Muted</a:t>
            </a:r>
          </a:p>
          <a:p>
            <a:pPr algn="l">
              <a:spcAft>
                <a:spcPts val="0"/>
              </a:spcAft>
            </a:pPr>
            <a:r>
              <a:rPr sz="750" b="0" i="0">
                <a:solidFill>
                  <a:srgbClr val="6B778C"/>
                </a:solidFill>
                <a:latin typeface="Inter"/>
              </a:rPr>
              <a:t>#B6C0D0</a:t>
            </a:r>
          </a:p>
        </p:txBody>
      </p:sp>
      <p:sp>
        <p:nvSpPr>
          <p:cNvPr id="46" name="Rounded Rectangle 45"/>
          <p:cNvSpPr/>
          <p:nvPr/>
        </p:nvSpPr>
        <p:spPr>
          <a:xfrm>
            <a:off x="6278727" y="5486399"/>
            <a:ext cx="274320" cy="274320"/>
          </a:xfrm>
          <a:prstGeom prst="roundRect">
            <a:avLst>
              <a:gd name="adj" fmla="val 20000"/>
            </a:avLst>
          </a:prstGeom>
          <a:solidFill>
            <a:srgbClr val="3A4458"/>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644487" y="544067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Border</a:t>
            </a:r>
          </a:p>
          <a:p>
            <a:pPr algn="l">
              <a:spcAft>
                <a:spcPts val="0"/>
              </a:spcAft>
            </a:pPr>
            <a:r>
              <a:rPr sz="750" b="0" i="0">
                <a:solidFill>
                  <a:srgbClr val="6B778C"/>
                </a:solidFill>
                <a:latin typeface="Inter"/>
              </a:rPr>
              <a:t>#3A4458</a:t>
            </a:r>
          </a:p>
        </p:txBody>
      </p:sp>
      <p:sp>
        <p:nvSpPr>
          <p:cNvPr id="48" name="Rounded Rectangle 47"/>
          <p:cNvSpPr/>
          <p:nvPr/>
        </p:nvSpPr>
        <p:spPr>
          <a:xfrm>
            <a:off x="7631239" y="5486399"/>
            <a:ext cx="274320" cy="274320"/>
          </a:xfrm>
          <a:prstGeom prst="roundRect">
            <a:avLst>
              <a:gd name="adj" fmla="val 20000"/>
            </a:avLst>
          </a:prstGeom>
          <a:solidFill>
            <a:srgbClr val="1F5E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996999" y="544067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Accent</a:t>
            </a:r>
          </a:p>
          <a:p>
            <a:pPr algn="l">
              <a:spcAft>
                <a:spcPts val="0"/>
              </a:spcAft>
            </a:pPr>
            <a:r>
              <a:rPr sz="750" b="0" i="0">
                <a:solidFill>
                  <a:srgbClr val="6B778C"/>
                </a:solidFill>
                <a:latin typeface="Inter"/>
              </a:rPr>
              <a:t>#1F5EFF</a:t>
            </a:r>
          </a:p>
        </p:txBody>
      </p:sp>
      <p:sp>
        <p:nvSpPr>
          <p:cNvPr id="50" name="Rounded Rectangle 49"/>
          <p:cNvSpPr/>
          <p:nvPr/>
        </p:nvSpPr>
        <p:spPr>
          <a:xfrm>
            <a:off x="8983751" y="5486399"/>
            <a:ext cx="274320" cy="274320"/>
          </a:xfrm>
          <a:prstGeom prst="roundRect">
            <a:avLst>
              <a:gd name="adj" fmla="val 20000"/>
            </a:avLst>
          </a:prstGeom>
          <a:solidFill>
            <a:srgbClr val="9CC3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349511" y="5440679"/>
            <a:ext cx="941031" cy="411480"/>
          </a:xfrm>
          <a:prstGeom prst="rect">
            <a:avLst/>
          </a:prstGeom>
          <a:noFill/>
        </p:spPr>
        <p:txBody>
          <a:bodyPr wrap="square" lIns="0" rIns="0" tIns="0" bIns="0" anchor="t">
            <a:spAutoFit/>
          </a:bodyPr>
          <a:lstStyle/>
          <a:p>
            <a:pPr algn="l">
              <a:spcAft>
                <a:spcPts val="0"/>
              </a:spcAft>
            </a:pPr>
            <a:r>
              <a:rPr sz="800" b="1" i="0">
                <a:solidFill>
                  <a:srgbClr val="0E1525"/>
                </a:solidFill>
                <a:latin typeface="Inter"/>
              </a:rPr>
              <a:t>Link</a:t>
            </a:r>
          </a:p>
          <a:p>
            <a:pPr algn="l">
              <a:spcAft>
                <a:spcPts val="0"/>
              </a:spcAft>
            </a:pPr>
            <a:r>
              <a:rPr sz="750" b="0" i="0">
                <a:solidFill>
                  <a:srgbClr val="6B778C"/>
                </a:solidFill>
                <a:latin typeface="Inter"/>
              </a:rPr>
              <a:t>#9CC3FF</a:t>
            </a:r>
          </a:p>
        </p:txBody>
      </p:sp>
      <p:sp>
        <p:nvSpPr>
          <p:cNvPr id="52" name="TextBox 51"/>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Color</a:t>
            </a:r>
          </a:p>
        </p:txBody>
      </p:sp>
      <p:sp>
        <p:nvSpPr>
          <p:cNvPr id="53" name="TextBox 52"/>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23 / 41</a:t>
            </a:r>
          </a:p>
        </p:txBody>
      </p:sp>
      <p:pic>
        <p:nvPicPr>
          <p:cNvPr id="54" name="Picture 53" descr="image.png"/>
          <p:cNvPicPr>
            <a:picLocks noChangeAspect="1"/>
          </p:cNvPicPr>
          <p:nvPr/>
        </p:nvPicPr>
        <p:blipFill>
          <a:blip r:embed="rId4"/>
          <a:stretch>
            <a:fillRect/>
          </a:stretch>
        </p:blipFill>
        <p:spPr>
          <a:xfrm>
            <a:off x="11441887" y="365760"/>
            <a:ext cx="292608" cy="29260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62179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62179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COLOR</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Color Proportion</a:t>
            </a:r>
          </a:p>
        </p:txBody>
      </p:sp>
      <p:sp>
        <p:nvSpPr>
          <p:cNvPr id="5" name="TextBox 4"/>
          <p:cNvSpPr txBox="1"/>
          <p:nvPr/>
        </p:nvSpPr>
        <p:spPr>
          <a:xfrm>
            <a:off x="502920" y="1371600"/>
            <a:ext cx="11185855" cy="457200"/>
          </a:xfrm>
          <a:prstGeom prst="rect">
            <a:avLst/>
          </a:prstGeom>
          <a:noFill/>
        </p:spPr>
        <p:txBody>
          <a:bodyPr wrap="square" lIns="0" rIns="0" tIns="0" bIns="0" anchor="t">
            <a:spAutoFit/>
          </a:bodyPr>
          <a:lstStyle/>
          <a:p>
            <a:pPr algn="l">
              <a:spcAft>
                <a:spcPts val="400"/>
              </a:spcAft>
            </a:pPr>
            <a:r>
              <a:rPr sz="1100" b="0" i="0">
                <a:solidFill>
                  <a:srgbClr val="6B778C"/>
                </a:solidFill>
                <a:latin typeface="Inter"/>
              </a:rPr>
              <a:t>Roughly how much of a layout each color should occupy.</a:t>
            </a:r>
          </a:p>
        </p:txBody>
      </p:sp>
      <p:sp>
        <p:nvSpPr>
          <p:cNvPr id="6" name="Rectangle 5"/>
          <p:cNvSpPr/>
          <p:nvPr/>
        </p:nvSpPr>
        <p:spPr>
          <a:xfrm>
            <a:off x="502920" y="2194560"/>
            <a:ext cx="6152220" cy="237744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2377440"/>
            <a:ext cx="5877900" cy="731520"/>
          </a:xfrm>
          <a:prstGeom prst="rect">
            <a:avLst/>
          </a:prstGeom>
          <a:noFill/>
        </p:spPr>
        <p:txBody>
          <a:bodyPr wrap="square" lIns="0" rIns="0" tIns="0" bIns="0" anchor="t">
            <a:spAutoFit/>
          </a:bodyPr>
          <a:lstStyle/>
          <a:p>
            <a:pPr algn="l">
              <a:spcAft>
                <a:spcPts val="400"/>
              </a:spcAft>
            </a:pPr>
            <a:r>
              <a:rPr sz="3000" b="0" i="0">
                <a:solidFill>
                  <a:srgbClr val="111111"/>
                </a:solidFill>
                <a:latin typeface="Inter Display"/>
              </a:rPr>
              <a:t>55%</a:t>
            </a:r>
          </a:p>
        </p:txBody>
      </p:sp>
      <p:sp>
        <p:nvSpPr>
          <p:cNvPr id="8" name="TextBox 7"/>
          <p:cNvSpPr txBox="1"/>
          <p:nvPr/>
        </p:nvSpPr>
        <p:spPr>
          <a:xfrm>
            <a:off x="521208" y="4709160"/>
            <a:ext cx="6106500" cy="822960"/>
          </a:xfrm>
          <a:prstGeom prst="rect">
            <a:avLst/>
          </a:prstGeom>
          <a:noFill/>
        </p:spPr>
        <p:txBody>
          <a:bodyPr wrap="square" lIns="0" rIns="0" tIns="0" bIns="0" anchor="t">
            <a:spAutoFit/>
          </a:bodyPr>
          <a:lstStyle/>
          <a:p>
            <a:pPr algn="l">
              <a:spcAft>
                <a:spcPts val="100"/>
              </a:spcAft>
            </a:pPr>
            <a:r>
              <a:rPr sz="900" b="1" i="0">
                <a:solidFill>
                  <a:srgbClr val="0E1525"/>
                </a:solidFill>
                <a:latin typeface="Inter"/>
              </a:rPr>
              <a:t>White / Mist</a:t>
            </a:r>
          </a:p>
          <a:p>
            <a:pPr algn="l">
              <a:spcAft>
                <a:spcPts val="100"/>
              </a:spcAft>
            </a:pPr>
            <a:r>
              <a:rPr sz="900" b="0" i="0">
                <a:solidFill>
                  <a:srgbClr val="6B778C"/>
                </a:solidFill>
                <a:latin typeface="Inter"/>
              </a:rPr>
              <a:t>Space and backgrounds</a:t>
            </a:r>
          </a:p>
        </p:txBody>
      </p:sp>
      <p:sp>
        <p:nvSpPr>
          <p:cNvPr id="9" name="Rectangle 8"/>
          <p:cNvSpPr/>
          <p:nvPr/>
        </p:nvSpPr>
        <p:spPr>
          <a:xfrm>
            <a:off x="6655140" y="2194560"/>
            <a:ext cx="2796463" cy="2377440"/>
          </a:xfrm>
          <a:prstGeom prst="rect">
            <a:avLst/>
          </a:prstGeom>
          <a:solidFill>
            <a:srgbClr val="0E15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38020" y="2377440"/>
            <a:ext cx="2522143" cy="731520"/>
          </a:xfrm>
          <a:prstGeom prst="rect">
            <a:avLst/>
          </a:prstGeom>
          <a:noFill/>
        </p:spPr>
        <p:txBody>
          <a:bodyPr wrap="square" lIns="0" rIns="0" tIns="0" bIns="0" anchor="t">
            <a:spAutoFit/>
          </a:bodyPr>
          <a:lstStyle/>
          <a:p>
            <a:pPr algn="l">
              <a:spcAft>
                <a:spcPts val="400"/>
              </a:spcAft>
            </a:pPr>
            <a:r>
              <a:rPr sz="3000" b="0" i="0">
                <a:solidFill>
                  <a:srgbClr val="FFFFFF"/>
                </a:solidFill>
                <a:latin typeface="Inter Display"/>
              </a:rPr>
              <a:t>25%</a:t>
            </a:r>
          </a:p>
        </p:txBody>
      </p:sp>
      <p:sp>
        <p:nvSpPr>
          <p:cNvPr id="11" name="TextBox 10"/>
          <p:cNvSpPr txBox="1"/>
          <p:nvPr/>
        </p:nvSpPr>
        <p:spPr>
          <a:xfrm>
            <a:off x="6673428" y="4709160"/>
            <a:ext cx="2750743" cy="822960"/>
          </a:xfrm>
          <a:prstGeom prst="rect">
            <a:avLst/>
          </a:prstGeom>
          <a:noFill/>
        </p:spPr>
        <p:txBody>
          <a:bodyPr wrap="square" lIns="0" rIns="0" tIns="0" bIns="0" anchor="t">
            <a:spAutoFit/>
          </a:bodyPr>
          <a:lstStyle/>
          <a:p>
            <a:pPr algn="l">
              <a:spcAft>
                <a:spcPts val="100"/>
              </a:spcAft>
            </a:pPr>
            <a:r>
              <a:rPr sz="900" b="1" i="0">
                <a:solidFill>
                  <a:srgbClr val="0E1525"/>
                </a:solidFill>
                <a:latin typeface="Inter"/>
              </a:rPr>
              <a:t>Ink</a:t>
            </a:r>
          </a:p>
          <a:p>
            <a:pPr algn="l">
              <a:spcAft>
                <a:spcPts val="100"/>
              </a:spcAft>
            </a:pPr>
            <a:r>
              <a:rPr sz="900" b="0" i="0">
                <a:solidFill>
                  <a:srgbClr val="6B778C"/>
                </a:solidFill>
                <a:latin typeface="Inter"/>
              </a:rPr>
              <a:t>Type and dark sections</a:t>
            </a:r>
          </a:p>
        </p:txBody>
      </p:sp>
      <p:sp>
        <p:nvSpPr>
          <p:cNvPr id="12" name="Rectangle 11"/>
          <p:cNvSpPr/>
          <p:nvPr/>
        </p:nvSpPr>
        <p:spPr>
          <a:xfrm>
            <a:off x="9451604" y="2194560"/>
            <a:ext cx="1677878" cy="2377440"/>
          </a:xfrm>
          <a:prstGeom prst="rect">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34484" y="2377440"/>
            <a:ext cx="1403558" cy="731520"/>
          </a:xfrm>
          <a:prstGeom prst="rect">
            <a:avLst/>
          </a:prstGeom>
          <a:noFill/>
        </p:spPr>
        <p:txBody>
          <a:bodyPr wrap="square" lIns="0" rIns="0" tIns="0" bIns="0" anchor="t">
            <a:spAutoFit/>
          </a:bodyPr>
          <a:lstStyle/>
          <a:p>
            <a:pPr algn="l">
              <a:spcAft>
                <a:spcPts val="400"/>
              </a:spcAft>
            </a:pPr>
            <a:r>
              <a:rPr sz="3000" b="0" i="0">
                <a:solidFill>
                  <a:srgbClr val="FFFFFF"/>
                </a:solidFill>
                <a:latin typeface="Inter Display"/>
              </a:rPr>
              <a:t>15%</a:t>
            </a:r>
          </a:p>
        </p:txBody>
      </p:sp>
      <p:sp>
        <p:nvSpPr>
          <p:cNvPr id="14" name="TextBox 13"/>
          <p:cNvSpPr txBox="1"/>
          <p:nvPr/>
        </p:nvSpPr>
        <p:spPr>
          <a:xfrm>
            <a:off x="9469892" y="4709160"/>
            <a:ext cx="1632158" cy="822960"/>
          </a:xfrm>
          <a:prstGeom prst="rect">
            <a:avLst/>
          </a:prstGeom>
          <a:noFill/>
        </p:spPr>
        <p:txBody>
          <a:bodyPr wrap="square" lIns="0" rIns="0" tIns="0" bIns="0" anchor="t">
            <a:spAutoFit/>
          </a:bodyPr>
          <a:lstStyle/>
          <a:p>
            <a:pPr algn="l">
              <a:spcAft>
                <a:spcPts val="100"/>
              </a:spcAft>
            </a:pPr>
            <a:r>
              <a:rPr sz="900" b="1" i="0">
                <a:solidFill>
                  <a:srgbClr val="0E1525"/>
                </a:solidFill>
                <a:latin typeface="Inter"/>
              </a:rPr>
              <a:t>Halyard Blue</a:t>
            </a:r>
          </a:p>
          <a:p>
            <a:pPr algn="l">
              <a:spcAft>
                <a:spcPts val="100"/>
              </a:spcAft>
            </a:pPr>
            <a:r>
              <a:rPr sz="900" b="0" i="0">
                <a:solidFill>
                  <a:srgbClr val="6B778C"/>
                </a:solidFill>
                <a:latin typeface="Inter"/>
              </a:rPr>
              <a:t>Brand moments</a:t>
            </a:r>
          </a:p>
        </p:txBody>
      </p:sp>
      <p:sp>
        <p:nvSpPr>
          <p:cNvPr id="15" name="Rectangle 14"/>
          <p:cNvSpPr/>
          <p:nvPr/>
        </p:nvSpPr>
        <p:spPr>
          <a:xfrm>
            <a:off x="11129482" y="2194560"/>
            <a:ext cx="559292" cy="2377440"/>
          </a:xfrm>
          <a:prstGeom prst="rect">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312362" y="2377440"/>
            <a:ext cx="365760" cy="731520"/>
          </a:xfrm>
          <a:prstGeom prst="rect">
            <a:avLst/>
          </a:prstGeom>
          <a:noFill/>
        </p:spPr>
        <p:txBody>
          <a:bodyPr wrap="square" lIns="0" rIns="0" tIns="0" bIns="0" anchor="t">
            <a:spAutoFit/>
          </a:bodyPr>
          <a:lstStyle/>
          <a:p>
            <a:pPr algn="l">
              <a:spcAft>
                <a:spcPts val="400"/>
              </a:spcAft>
            </a:pPr>
            <a:r>
              <a:rPr sz="1400" b="0" i="0">
                <a:solidFill>
                  <a:srgbClr val="111111"/>
                </a:solidFill>
                <a:latin typeface="Inter Display"/>
              </a:rPr>
              <a:t>5%</a:t>
            </a:r>
          </a:p>
        </p:txBody>
      </p:sp>
      <p:sp>
        <p:nvSpPr>
          <p:cNvPr id="17" name="TextBox 16"/>
          <p:cNvSpPr txBox="1"/>
          <p:nvPr/>
        </p:nvSpPr>
        <p:spPr>
          <a:xfrm>
            <a:off x="11147770" y="4709160"/>
            <a:ext cx="513572" cy="822960"/>
          </a:xfrm>
          <a:prstGeom prst="rect">
            <a:avLst/>
          </a:prstGeom>
          <a:noFill/>
        </p:spPr>
        <p:txBody>
          <a:bodyPr wrap="square" lIns="0" rIns="0" tIns="0" bIns="0" anchor="t">
            <a:spAutoFit/>
          </a:bodyPr>
          <a:lstStyle/>
          <a:p>
            <a:pPr algn="l">
              <a:spcAft>
                <a:spcPts val="100"/>
              </a:spcAft>
            </a:pPr>
            <a:r>
              <a:rPr sz="900" b="1" i="0">
                <a:solidFill>
                  <a:srgbClr val="0E1525"/>
                </a:solidFill>
                <a:latin typeface="Inter"/>
              </a:rPr>
              <a:t>Coral</a:t>
            </a:r>
          </a:p>
          <a:p>
            <a:pPr algn="l">
              <a:spcAft>
                <a:spcPts val="100"/>
              </a:spcAft>
            </a:pPr>
            <a:r>
              <a:rPr sz="900" b="0" i="0">
                <a:solidFill>
                  <a:srgbClr val="6B778C"/>
                </a:solidFill>
                <a:latin typeface="Inter"/>
              </a:rPr>
              <a:t>Actions only</a:t>
            </a:r>
          </a:p>
        </p:txBody>
      </p:sp>
      <p:sp>
        <p:nvSpPr>
          <p:cNvPr id="18" name="TextBox 17"/>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Color</a:t>
            </a:r>
          </a:p>
        </p:txBody>
      </p:sp>
      <p:sp>
        <p:nvSpPr>
          <p:cNvPr id="19" name="TextBox 18"/>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24 / 41</a:t>
            </a:r>
          </a:p>
        </p:txBody>
      </p:sp>
      <p:pic>
        <p:nvPicPr>
          <p:cNvPr id="20" name="Picture 19"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62179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62179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COLOR</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Accessible Color Pairings</a:t>
            </a:r>
          </a:p>
        </p:txBody>
      </p:sp>
      <p:sp>
        <p:nvSpPr>
          <p:cNvPr id="5" name="TextBox 4"/>
          <p:cNvSpPr txBox="1"/>
          <p:nvPr/>
        </p:nvSpPr>
        <p:spPr>
          <a:xfrm>
            <a:off x="502920" y="1371600"/>
            <a:ext cx="11185855" cy="457200"/>
          </a:xfrm>
          <a:prstGeom prst="rect">
            <a:avLst/>
          </a:prstGeom>
          <a:noFill/>
        </p:spPr>
        <p:txBody>
          <a:bodyPr wrap="square" lIns="0" rIns="0" tIns="0" bIns="0" anchor="t">
            <a:spAutoFit/>
          </a:bodyPr>
          <a:lstStyle/>
          <a:p>
            <a:pPr algn="l">
              <a:spcAft>
                <a:spcPts val="400"/>
              </a:spcAft>
            </a:pPr>
            <a:r>
              <a:rPr sz="1100" b="0" i="0">
                <a:solidFill>
                  <a:srgbClr val="6B778C"/>
                </a:solidFill>
                <a:latin typeface="Inter"/>
              </a:rPr>
              <a:t>WCAG 2.x contrast ratios. Body text needs 4.5:1 (AA). Large text and UI elements need 3:1. Calculated from the HEX values above.</a:t>
            </a:r>
          </a:p>
        </p:txBody>
      </p:sp>
      <p:graphicFrame>
        <p:nvGraphicFramePr>
          <p:cNvPr id="6" name="Table 5"/>
          <p:cNvGraphicFramePr>
            <a:graphicFrameLocks noGrp="1"/>
          </p:cNvGraphicFramePr>
          <p:nvPr/>
        </p:nvGraphicFramePr>
        <p:xfrm>
          <a:off x="502920" y="1920240"/>
          <a:ext cx="11185855" cy="3200400"/>
        </p:xfrm>
        <a:graphic>
          <a:graphicData uri="http://schemas.openxmlformats.org/drawingml/2006/table">
            <a:tbl>
              <a:tblPr firstRow="1" bandRow="1">
                <a:tableStyleId>{5C22544A-7EE6-4342-B048-85BDC9FD1C3A}</a:tableStyleId>
              </a:tblPr>
              <a:tblGrid>
                <a:gridCol w="2377440"/>
                <a:gridCol w="1761683"/>
                <a:gridCol w="1761683"/>
                <a:gridCol w="1761683"/>
                <a:gridCol w="1761683"/>
                <a:gridCol w="1761683"/>
              </a:tblGrid>
              <a:tr h="457200">
                <a:tc>
                  <a:txBody>
                    <a:bodyPr/>
                    <a:lstStyle/>
                    <a:p>
                      <a:pPr algn="l"/>
                      <a:r>
                        <a:rPr sz="900" b="1">
                          <a:solidFill>
                            <a:srgbClr val="0E1525"/>
                          </a:solidFill>
                          <a:latin typeface="Inter"/>
                        </a:rPr>
                        <a:t>Text  \  Background</a:t>
                      </a:r>
                    </a:p>
                  </a:txBody>
                  <a:tcPr anchor="ctr">
                    <a:solidFill>
                      <a:srgbClr val="F4F6FA"/>
                    </a:solidFill>
                  </a:tcPr>
                </a:tc>
                <a:tc>
                  <a:txBody>
                    <a:bodyPr/>
                    <a:lstStyle/>
                    <a:p>
                      <a:pPr algn="ctr"/>
                      <a:r>
                        <a:rPr sz="800" b="1">
                          <a:solidFill>
                            <a:srgbClr val="111111"/>
                          </a:solidFill>
                          <a:latin typeface="Inter"/>
                        </a:rPr>
                        <a:t>light bg
#FFFFFF</a:t>
                      </a:r>
                    </a:p>
                  </a:txBody>
                  <a:tcPr anchor="ctr">
                    <a:solidFill>
                      <a:srgbClr val="FFFFFF"/>
                    </a:solidFill>
                  </a:tcPr>
                </a:tc>
                <a:tc>
                  <a:txBody>
                    <a:bodyPr/>
                    <a:lstStyle/>
                    <a:p>
                      <a:pPr algn="ctr"/>
                      <a:r>
                        <a:rPr sz="800" b="1">
                          <a:solidFill>
                            <a:srgbClr val="111111"/>
                          </a:solidFill>
                          <a:latin typeface="Inter"/>
                        </a:rPr>
                        <a:t>light surface
#F4F6FA</a:t>
                      </a:r>
                    </a:p>
                  </a:txBody>
                  <a:tcPr anchor="ctr">
                    <a:solidFill>
                      <a:srgbClr val="F4F6FA"/>
                    </a:solidFill>
                  </a:tcPr>
                </a:tc>
                <a:tc>
                  <a:txBody>
                    <a:bodyPr/>
                    <a:lstStyle/>
                    <a:p>
                      <a:pPr algn="ctr"/>
                      <a:r>
                        <a:rPr sz="800" b="1">
                          <a:solidFill>
                            <a:srgbClr val="FFFFFF"/>
                          </a:solidFill>
                          <a:latin typeface="Inter"/>
                        </a:rPr>
                        <a:t>dark bg
#0E1525</a:t>
                      </a:r>
                    </a:p>
                  </a:txBody>
                  <a:tcPr anchor="ctr">
                    <a:solidFill>
                      <a:srgbClr val="0E1525"/>
                    </a:solidFill>
                  </a:tcPr>
                </a:tc>
                <a:tc>
                  <a:txBody>
                    <a:bodyPr/>
                    <a:lstStyle/>
                    <a:p>
                      <a:pPr algn="ctr"/>
                      <a:r>
                        <a:rPr sz="800" b="1">
                          <a:solidFill>
                            <a:srgbClr val="FFFFFF"/>
                          </a:solidFill>
                          <a:latin typeface="Inter"/>
                        </a:rPr>
                        <a:t>dark surface
#1A2335</a:t>
                      </a:r>
                    </a:p>
                  </a:txBody>
                  <a:tcPr anchor="ctr">
                    <a:solidFill>
                      <a:srgbClr val="1A2335"/>
                    </a:solidFill>
                  </a:tcPr>
                </a:tc>
                <a:tc>
                  <a:txBody>
                    <a:bodyPr/>
                    <a:lstStyle/>
                    <a:p>
                      <a:pPr algn="ctr"/>
                      <a:r>
                        <a:rPr sz="800" b="1">
                          <a:solidFill>
                            <a:srgbClr val="FFFFFF"/>
                          </a:solidFill>
                          <a:latin typeface="Inter"/>
                        </a:rPr>
                        <a:t>accent
#1F5EFF</a:t>
                      </a:r>
                    </a:p>
                  </a:txBody>
                  <a:tcPr anchor="ctr">
                    <a:solidFill>
                      <a:srgbClr val="1F5EFF"/>
                    </a:solidFill>
                  </a:tcPr>
                </a:tc>
              </a:tr>
              <a:tr h="457200">
                <a:tc>
                  <a:txBody>
                    <a:bodyPr/>
                    <a:lstStyle/>
                    <a:p>
                      <a:pPr algn="l"/>
                      <a:r>
                        <a:rPr sz="850" b="0">
                          <a:solidFill>
                            <a:srgbClr val="0E1525"/>
                          </a:solidFill>
                          <a:latin typeface="Inter"/>
                        </a:rPr>
                        <a:t>light text  #0E1525</a:t>
                      </a:r>
                    </a:p>
                  </a:txBody>
                  <a:tcPr anchor="ctr">
                    <a:solidFill>
                      <a:srgbClr val="F4F6FA"/>
                    </a:solidFill>
                  </a:tcPr>
                </a:tc>
                <a:tc>
                  <a:txBody>
                    <a:bodyPr/>
                    <a:lstStyle/>
                    <a:p>
                      <a:pPr algn="ctr"/>
                      <a:r>
                        <a:rPr sz="1100" b="1">
                          <a:solidFill>
                            <a:srgbClr val="0E1525"/>
                          </a:solidFill>
                          <a:latin typeface="Inter"/>
                        </a:rPr>
                        <a:t>Aa  </a:t>
                      </a:r>
                      <a:r>
                        <a:rPr sz="850" b="1">
                          <a:solidFill>
                            <a:srgbClr val="0E1525"/>
                          </a:solidFill>
                          <a:latin typeface="Inter"/>
                        </a:rPr>
                        <a:t>18.2:1 AAA</a:t>
                      </a:r>
                    </a:p>
                  </a:txBody>
                  <a:tcPr anchor="ctr">
                    <a:solidFill>
                      <a:srgbClr val="FFFFFF"/>
                    </a:solidFill>
                  </a:tcPr>
                </a:tc>
                <a:tc>
                  <a:txBody>
                    <a:bodyPr/>
                    <a:lstStyle/>
                    <a:p>
                      <a:pPr algn="ctr"/>
                      <a:r>
                        <a:rPr sz="1100" b="1">
                          <a:solidFill>
                            <a:srgbClr val="0E1525"/>
                          </a:solidFill>
                          <a:latin typeface="Inter"/>
                        </a:rPr>
                        <a:t>Aa  </a:t>
                      </a:r>
                      <a:r>
                        <a:rPr sz="850" b="1">
                          <a:solidFill>
                            <a:srgbClr val="0E1525"/>
                          </a:solidFill>
                          <a:latin typeface="Inter"/>
                        </a:rPr>
                        <a:t>16.8:1 AAA</a:t>
                      </a:r>
                    </a:p>
                  </a:txBody>
                  <a:tcPr anchor="ctr">
                    <a:solidFill>
                      <a:srgbClr val="F4F6FA"/>
                    </a:solidFill>
                  </a:tcPr>
                </a:tc>
                <a:tc>
                  <a:txBody>
                    <a:bodyPr/>
                    <a:lstStyle/>
                    <a:p>
                      <a:pPr algn="ctr"/>
                      <a:r>
                        <a:rPr sz="1100" b="1">
                          <a:solidFill>
                            <a:srgbClr val="0E1525"/>
                          </a:solidFill>
                          <a:latin typeface="Inter"/>
                        </a:rPr>
                        <a:t>Aa  </a:t>
                      </a:r>
                      <a:r>
                        <a:rPr sz="850" b="1">
                          <a:solidFill>
                            <a:srgbClr val="FFFFFF"/>
                          </a:solidFill>
                          <a:latin typeface="Inter"/>
                        </a:rPr>
                        <a:t>1.0:1 Fail</a:t>
                      </a:r>
                    </a:p>
                  </a:txBody>
                  <a:tcPr anchor="ctr">
                    <a:solidFill>
                      <a:srgbClr val="0E1525"/>
                    </a:solidFill>
                  </a:tcPr>
                </a:tc>
                <a:tc>
                  <a:txBody>
                    <a:bodyPr/>
                    <a:lstStyle/>
                    <a:p>
                      <a:pPr algn="ctr"/>
                      <a:r>
                        <a:rPr sz="1100" b="1">
                          <a:solidFill>
                            <a:srgbClr val="0E1525"/>
                          </a:solidFill>
                          <a:latin typeface="Inter"/>
                        </a:rPr>
                        <a:t>Aa  </a:t>
                      </a:r>
                      <a:r>
                        <a:rPr sz="850" b="1">
                          <a:solidFill>
                            <a:srgbClr val="FFFFFF"/>
                          </a:solidFill>
                          <a:latin typeface="Inter"/>
                        </a:rPr>
                        <a:t>1.2:1 Fail</a:t>
                      </a:r>
                    </a:p>
                  </a:txBody>
                  <a:tcPr anchor="ctr">
                    <a:solidFill>
                      <a:srgbClr val="1A2335"/>
                    </a:solidFill>
                  </a:tcPr>
                </a:tc>
                <a:tc>
                  <a:txBody>
                    <a:bodyPr/>
                    <a:lstStyle/>
                    <a:p>
                      <a:pPr algn="ctr"/>
                      <a:r>
                        <a:rPr sz="1100" b="1">
                          <a:solidFill>
                            <a:srgbClr val="0E1525"/>
                          </a:solidFill>
                          <a:latin typeface="Inter"/>
                        </a:rPr>
                        <a:t>Aa  </a:t>
                      </a:r>
                      <a:r>
                        <a:rPr sz="850" b="1">
                          <a:solidFill>
                            <a:srgbClr val="0E1525"/>
                          </a:solidFill>
                          <a:latin typeface="Inter"/>
                        </a:rPr>
                        <a:t>3.6:1 AA Large</a:t>
                      </a:r>
                    </a:p>
                  </a:txBody>
                  <a:tcPr anchor="ctr">
                    <a:solidFill>
                      <a:srgbClr val="1F5EFF"/>
                    </a:solidFill>
                  </a:tcPr>
                </a:tc>
              </a:tr>
              <a:tr h="457200">
                <a:tc>
                  <a:txBody>
                    <a:bodyPr/>
                    <a:lstStyle/>
                    <a:p>
                      <a:pPr algn="l"/>
                      <a:r>
                        <a:rPr sz="850" b="0">
                          <a:solidFill>
                            <a:srgbClr val="0E1525"/>
                          </a:solidFill>
                          <a:latin typeface="Inter"/>
                        </a:rPr>
                        <a:t>light text muted  #6B778C</a:t>
                      </a:r>
                    </a:p>
                  </a:txBody>
                  <a:tcPr anchor="ctr">
                    <a:solidFill>
                      <a:srgbClr val="F4F6FA"/>
                    </a:solidFill>
                  </a:tcPr>
                </a:tc>
                <a:tc>
                  <a:txBody>
                    <a:bodyPr/>
                    <a:lstStyle/>
                    <a:p>
                      <a:pPr algn="ctr"/>
                      <a:r>
                        <a:rPr sz="1100" b="1">
                          <a:solidFill>
                            <a:srgbClr val="6B778C"/>
                          </a:solidFill>
                          <a:latin typeface="Inter"/>
                        </a:rPr>
                        <a:t>Aa  </a:t>
                      </a:r>
                      <a:r>
                        <a:rPr sz="850" b="1">
                          <a:solidFill>
                            <a:srgbClr val="6B778C"/>
                          </a:solidFill>
                          <a:latin typeface="Inter"/>
                        </a:rPr>
                        <a:t>4.5:1 AA</a:t>
                      </a:r>
                    </a:p>
                  </a:txBody>
                  <a:tcPr anchor="ctr">
                    <a:solidFill>
                      <a:srgbClr val="FFFFFF"/>
                    </a:solidFill>
                  </a:tcPr>
                </a:tc>
                <a:tc>
                  <a:txBody>
                    <a:bodyPr/>
                    <a:lstStyle/>
                    <a:p>
                      <a:pPr algn="ctr"/>
                      <a:r>
                        <a:rPr sz="1100" b="1">
                          <a:solidFill>
                            <a:srgbClr val="6B778C"/>
                          </a:solidFill>
                          <a:latin typeface="Inter"/>
                        </a:rPr>
                        <a:t>Aa  </a:t>
                      </a:r>
                      <a:r>
                        <a:rPr sz="850" b="1">
                          <a:solidFill>
                            <a:srgbClr val="6B778C"/>
                          </a:solidFill>
                          <a:latin typeface="Inter"/>
                        </a:rPr>
                        <a:t>4.2:1 AA Large</a:t>
                      </a:r>
                    </a:p>
                  </a:txBody>
                  <a:tcPr anchor="ctr">
                    <a:solidFill>
                      <a:srgbClr val="F4F6FA"/>
                    </a:solidFill>
                  </a:tcPr>
                </a:tc>
                <a:tc>
                  <a:txBody>
                    <a:bodyPr/>
                    <a:lstStyle/>
                    <a:p>
                      <a:pPr algn="ctr"/>
                      <a:r>
                        <a:rPr sz="1100" b="1">
                          <a:solidFill>
                            <a:srgbClr val="6B778C"/>
                          </a:solidFill>
                          <a:latin typeface="Inter"/>
                        </a:rPr>
                        <a:t>Aa  </a:t>
                      </a:r>
                      <a:r>
                        <a:rPr sz="850" b="1">
                          <a:solidFill>
                            <a:srgbClr val="6B778C"/>
                          </a:solidFill>
                          <a:latin typeface="Inter"/>
                        </a:rPr>
                        <a:t>4.0:1 AA Large</a:t>
                      </a:r>
                    </a:p>
                  </a:txBody>
                  <a:tcPr anchor="ctr">
                    <a:solidFill>
                      <a:srgbClr val="0E1525"/>
                    </a:solidFill>
                  </a:tcPr>
                </a:tc>
                <a:tc>
                  <a:txBody>
                    <a:bodyPr/>
                    <a:lstStyle/>
                    <a:p>
                      <a:pPr algn="ctr"/>
                      <a:r>
                        <a:rPr sz="1100" b="1">
                          <a:solidFill>
                            <a:srgbClr val="6B778C"/>
                          </a:solidFill>
                          <a:latin typeface="Inter"/>
                        </a:rPr>
                        <a:t>Aa  </a:t>
                      </a:r>
                      <a:r>
                        <a:rPr sz="850" b="1">
                          <a:solidFill>
                            <a:srgbClr val="6B778C"/>
                          </a:solidFill>
                          <a:latin typeface="Inter"/>
                        </a:rPr>
                        <a:t>3.5:1 AA Large</a:t>
                      </a:r>
                    </a:p>
                  </a:txBody>
                  <a:tcPr anchor="ctr">
                    <a:solidFill>
                      <a:srgbClr val="1A2335"/>
                    </a:solidFill>
                  </a:tcPr>
                </a:tc>
                <a:tc>
                  <a:txBody>
                    <a:bodyPr/>
                    <a:lstStyle/>
                    <a:p>
                      <a:pPr algn="ctr"/>
                      <a:r>
                        <a:rPr sz="1100" b="1">
                          <a:solidFill>
                            <a:srgbClr val="6B778C"/>
                          </a:solidFill>
                          <a:latin typeface="Inter"/>
                        </a:rPr>
                        <a:t>Aa  </a:t>
                      </a:r>
                      <a:r>
                        <a:rPr sz="850" b="1">
                          <a:solidFill>
                            <a:srgbClr val="FFFFFF"/>
                          </a:solidFill>
                          <a:latin typeface="Inter"/>
                        </a:rPr>
                        <a:t>1.1:1 Fail</a:t>
                      </a:r>
                    </a:p>
                  </a:txBody>
                  <a:tcPr anchor="ctr">
                    <a:solidFill>
                      <a:srgbClr val="1F5EFF"/>
                    </a:solidFill>
                  </a:tcPr>
                </a:tc>
              </a:tr>
              <a:tr h="457200">
                <a:tc>
                  <a:txBody>
                    <a:bodyPr/>
                    <a:lstStyle/>
                    <a:p>
                      <a:pPr algn="l"/>
                      <a:r>
                        <a:rPr sz="850" b="0">
                          <a:solidFill>
                            <a:srgbClr val="0E1525"/>
                          </a:solidFill>
                          <a:latin typeface="Inter"/>
                        </a:rPr>
                        <a:t>light accent  #1F5EFF</a:t>
                      </a:r>
                    </a:p>
                  </a:txBody>
                  <a:tcPr anchor="ctr">
                    <a:solidFill>
                      <a:srgbClr val="F4F6FA"/>
                    </a:solidFill>
                  </a:tcPr>
                </a:tc>
                <a:tc>
                  <a:txBody>
                    <a:bodyPr/>
                    <a:lstStyle/>
                    <a:p>
                      <a:pPr algn="ctr"/>
                      <a:r>
                        <a:rPr sz="1100" b="1">
                          <a:solidFill>
                            <a:srgbClr val="1F5EFF"/>
                          </a:solidFill>
                          <a:latin typeface="Inter"/>
                        </a:rPr>
                        <a:t>Aa  </a:t>
                      </a:r>
                      <a:r>
                        <a:rPr sz="850" b="1">
                          <a:solidFill>
                            <a:srgbClr val="1F5EFF"/>
                          </a:solidFill>
                          <a:latin typeface="Inter"/>
                        </a:rPr>
                        <a:t>5.1:1 AA</a:t>
                      </a:r>
                    </a:p>
                  </a:txBody>
                  <a:tcPr anchor="ctr">
                    <a:solidFill>
                      <a:srgbClr val="FFFFFF"/>
                    </a:solidFill>
                  </a:tcPr>
                </a:tc>
                <a:tc>
                  <a:txBody>
                    <a:bodyPr/>
                    <a:lstStyle/>
                    <a:p>
                      <a:pPr algn="ctr"/>
                      <a:r>
                        <a:rPr sz="1100" b="1">
                          <a:solidFill>
                            <a:srgbClr val="1F5EFF"/>
                          </a:solidFill>
                          <a:latin typeface="Inter"/>
                        </a:rPr>
                        <a:t>Aa  </a:t>
                      </a:r>
                      <a:r>
                        <a:rPr sz="850" b="1">
                          <a:solidFill>
                            <a:srgbClr val="1F5EFF"/>
                          </a:solidFill>
                          <a:latin typeface="Inter"/>
                        </a:rPr>
                        <a:t>4.7:1 AA</a:t>
                      </a:r>
                    </a:p>
                  </a:txBody>
                  <a:tcPr anchor="ctr">
                    <a:solidFill>
                      <a:srgbClr val="F4F6FA"/>
                    </a:solidFill>
                  </a:tcPr>
                </a:tc>
                <a:tc>
                  <a:txBody>
                    <a:bodyPr/>
                    <a:lstStyle/>
                    <a:p>
                      <a:pPr algn="ctr"/>
                      <a:r>
                        <a:rPr sz="1100" b="1">
                          <a:solidFill>
                            <a:srgbClr val="1F5EFF"/>
                          </a:solidFill>
                          <a:latin typeface="Inter"/>
                        </a:rPr>
                        <a:t>Aa  </a:t>
                      </a:r>
                      <a:r>
                        <a:rPr sz="850" b="1">
                          <a:solidFill>
                            <a:srgbClr val="1F5EFF"/>
                          </a:solidFill>
                          <a:latin typeface="Inter"/>
                        </a:rPr>
                        <a:t>3.6:1 AA Large</a:t>
                      </a:r>
                    </a:p>
                  </a:txBody>
                  <a:tcPr anchor="ctr">
                    <a:solidFill>
                      <a:srgbClr val="0E1525"/>
                    </a:solidFill>
                  </a:tcPr>
                </a:tc>
                <a:tc>
                  <a:txBody>
                    <a:bodyPr/>
                    <a:lstStyle/>
                    <a:p>
                      <a:pPr algn="ctr"/>
                      <a:r>
                        <a:rPr sz="1100" b="1">
                          <a:solidFill>
                            <a:srgbClr val="1F5EFF"/>
                          </a:solidFill>
                          <a:latin typeface="Inter"/>
                        </a:rPr>
                        <a:t>Aa  </a:t>
                      </a:r>
                      <a:r>
                        <a:rPr sz="850" b="1">
                          <a:solidFill>
                            <a:srgbClr val="1F5EFF"/>
                          </a:solidFill>
                          <a:latin typeface="Inter"/>
                        </a:rPr>
                        <a:t>3.1:1 AA Large</a:t>
                      </a:r>
                    </a:p>
                  </a:txBody>
                  <a:tcPr anchor="ctr">
                    <a:solidFill>
                      <a:srgbClr val="1A2335"/>
                    </a:solidFill>
                  </a:tcPr>
                </a:tc>
                <a:tc>
                  <a:txBody>
                    <a:bodyPr/>
                    <a:lstStyle/>
                    <a:p>
                      <a:pPr algn="ctr"/>
                      <a:r>
                        <a:rPr sz="1100" b="1">
                          <a:solidFill>
                            <a:srgbClr val="1F5EFF"/>
                          </a:solidFill>
                          <a:latin typeface="Inter"/>
                        </a:rPr>
                        <a:t>Aa  </a:t>
                      </a:r>
                      <a:r>
                        <a:rPr sz="850" b="1">
                          <a:solidFill>
                            <a:srgbClr val="FFFFFF"/>
                          </a:solidFill>
                          <a:latin typeface="Inter"/>
                        </a:rPr>
                        <a:t>1.0:1 Fail</a:t>
                      </a:r>
                    </a:p>
                  </a:txBody>
                  <a:tcPr anchor="ctr">
                    <a:solidFill>
                      <a:srgbClr val="1F5EFF"/>
                    </a:solidFill>
                  </a:tcPr>
                </a:tc>
              </a:tr>
              <a:tr h="457200">
                <a:tc>
                  <a:txBody>
                    <a:bodyPr/>
                    <a:lstStyle/>
                    <a:p>
                      <a:pPr algn="l"/>
                      <a:r>
                        <a:rPr sz="850" b="0">
                          <a:solidFill>
                            <a:srgbClr val="0E1525"/>
                          </a:solidFill>
                          <a:latin typeface="Inter"/>
                        </a:rPr>
                        <a:t>dark text  #FFFFFF</a:t>
                      </a:r>
                    </a:p>
                  </a:txBody>
                  <a:tcPr anchor="ctr">
                    <a:solidFill>
                      <a:srgbClr val="F4F6FA"/>
                    </a:solidFill>
                  </a:tcPr>
                </a:tc>
                <a:tc>
                  <a:txBody>
                    <a:bodyPr/>
                    <a:lstStyle/>
                    <a:p>
                      <a:pPr algn="ctr"/>
                      <a:r>
                        <a:rPr sz="1100" b="1">
                          <a:solidFill>
                            <a:srgbClr val="FFFFFF"/>
                          </a:solidFill>
                          <a:latin typeface="Inter"/>
                        </a:rPr>
                        <a:t>Aa  </a:t>
                      </a:r>
                      <a:r>
                        <a:rPr sz="850" b="1">
                          <a:solidFill>
                            <a:srgbClr val="111111"/>
                          </a:solidFill>
                          <a:latin typeface="Inter"/>
                        </a:rPr>
                        <a:t>1.0:1 Fail</a:t>
                      </a:r>
                    </a:p>
                  </a:txBody>
                  <a:tcPr anchor="ctr">
                    <a:solidFill>
                      <a:srgbClr val="FFFFFF"/>
                    </a:solidFill>
                  </a:tcPr>
                </a:tc>
                <a:tc>
                  <a:txBody>
                    <a:bodyPr/>
                    <a:lstStyle/>
                    <a:p>
                      <a:pPr algn="ctr"/>
                      <a:r>
                        <a:rPr sz="1100" b="1">
                          <a:solidFill>
                            <a:srgbClr val="FFFFFF"/>
                          </a:solidFill>
                          <a:latin typeface="Inter"/>
                        </a:rPr>
                        <a:t>Aa  </a:t>
                      </a:r>
                      <a:r>
                        <a:rPr sz="850" b="1">
                          <a:solidFill>
                            <a:srgbClr val="111111"/>
                          </a:solidFill>
                          <a:latin typeface="Inter"/>
                        </a:rPr>
                        <a:t>1.1:1 Fail</a:t>
                      </a:r>
                    </a:p>
                  </a:txBody>
                  <a:tcPr anchor="ctr">
                    <a:solidFill>
                      <a:srgbClr val="F4F6FA"/>
                    </a:solidFill>
                  </a:tcPr>
                </a:tc>
                <a:tc>
                  <a:txBody>
                    <a:bodyPr/>
                    <a:lstStyle/>
                    <a:p>
                      <a:pPr algn="ctr"/>
                      <a:r>
                        <a:rPr sz="1100" b="1">
                          <a:solidFill>
                            <a:srgbClr val="FFFFFF"/>
                          </a:solidFill>
                          <a:latin typeface="Inter"/>
                        </a:rPr>
                        <a:t>Aa  </a:t>
                      </a:r>
                      <a:r>
                        <a:rPr sz="850" b="1">
                          <a:solidFill>
                            <a:srgbClr val="FFFFFF"/>
                          </a:solidFill>
                          <a:latin typeface="Inter"/>
                        </a:rPr>
                        <a:t>18.2:1 AAA</a:t>
                      </a:r>
                    </a:p>
                  </a:txBody>
                  <a:tcPr anchor="ctr">
                    <a:solidFill>
                      <a:srgbClr val="0E1525"/>
                    </a:solidFill>
                  </a:tcPr>
                </a:tc>
                <a:tc>
                  <a:txBody>
                    <a:bodyPr/>
                    <a:lstStyle/>
                    <a:p>
                      <a:pPr algn="ctr"/>
                      <a:r>
                        <a:rPr sz="1100" b="1">
                          <a:solidFill>
                            <a:srgbClr val="FFFFFF"/>
                          </a:solidFill>
                          <a:latin typeface="Inter"/>
                        </a:rPr>
                        <a:t>Aa  </a:t>
                      </a:r>
                      <a:r>
                        <a:rPr sz="850" b="1">
                          <a:solidFill>
                            <a:srgbClr val="FFFFFF"/>
                          </a:solidFill>
                          <a:latin typeface="Inter"/>
                        </a:rPr>
                        <a:t>15.7:1 AAA</a:t>
                      </a:r>
                    </a:p>
                  </a:txBody>
                  <a:tcPr anchor="ctr">
                    <a:solidFill>
                      <a:srgbClr val="1A2335"/>
                    </a:solidFill>
                  </a:tcPr>
                </a:tc>
                <a:tc>
                  <a:txBody>
                    <a:bodyPr/>
                    <a:lstStyle/>
                    <a:p>
                      <a:pPr algn="ctr"/>
                      <a:r>
                        <a:rPr sz="1100" b="1">
                          <a:solidFill>
                            <a:srgbClr val="FFFFFF"/>
                          </a:solidFill>
                          <a:latin typeface="Inter"/>
                        </a:rPr>
                        <a:t>Aa  </a:t>
                      </a:r>
                      <a:r>
                        <a:rPr sz="850" b="1">
                          <a:solidFill>
                            <a:srgbClr val="FFFFFF"/>
                          </a:solidFill>
                          <a:latin typeface="Inter"/>
                        </a:rPr>
                        <a:t>5.1:1 AA</a:t>
                      </a:r>
                    </a:p>
                  </a:txBody>
                  <a:tcPr anchor="ctr">
                    <a:solidFill>
                      <a:srgbClr val="1F5EFF"/>
                    </a:solidFill>
                  </a:tcPr>
                </a:tc>
              </a:tr>
              <a:tr h="457200">
                <a:tc>
                  <a:txBody>
                    <a:bodyPr/>
                    <a:lstStyle/>
                    <a:p>
                      <a:pPr algn="l"/>
                      <a:r>
                        <a:rPr sz="850" b="0">
                          <a:solidFill>
                            <a:srgbClr val="0E1525"/>
                          </a:solidFill>
                          <a:latin typeface="Inter"/>
                        </a:rPr>
                        <a:t>dark text muted  #B6C0D0</a:t>
                      </a:r>
                    </a:p>
                  </a:txBody>
                  <a:tcPr anchor="ctr">
                    <a:solidFill>
                      <a:srgbClr val="F4F6FA"/>
                    </a:solidFill>
                  </a:tcPr>
                </a:tc>
                <a:tc>
                  <a:txBody>
                    <a:bodyPr/>
                    <a:lstStyle/>
                    <a:p>
                      <a:pPr algn="ctr"/>
                      <a:r>
                        <a:rPr sz="1100" b="1">
                          <a:solidFill>
                            <a:srgbClr val="B6C0D0"/>
                          </a:solidFill>
                          <a:latin typeface="Inter"/>
                        </a:rPr>
                        <a:t>Aa  </a:t>
                      </a:r>
                      <a:r>
                        <a:rPr sz="850" b="1">
                          <a:solidFill>
                            <a:srgbClr val="111111"/>
                          </a:solidFill>
                          <a:latin typeface="Inter"/>
                        </a:rPr>
                        <a:t>1.8:1 Fail</a:t>
                      </a:r>
                    </a:p>
                  </a:txBody>
                  <a:tcPr anchor="ctr">
                    <a:solidFill>
                      <a:srgbClr val="FFFFFF"/>
                    </a:solidFill>
                  </a:tcPr>
                </a:tc>
                <a:tc>
                  <a:txBody>
                    <a:bodyPr/>
                    <a:lstStyle/>
                    <a:p>
                      <a:pPr algn="ctr"/>
                      <a:r>
                        <a:rPr sz="1100" b="1">
                          <a:solidFill>
                            <a:srgbClr val="B6C0D0"/>
                          </a:solidFill>
                          <a:latin typeface="Inter"/>
                        </a:rPr>
                        <a:t>Aa  </a:t>
                      </a:r>
                      <a:r>
                        <a:rPr sz="850" b="1">
                          <a:solidFill>
                            <a:srgbClr val="111111"/>
                          </a:solidFill>
                          <a:latin typeface="Inter"/>
                        </a:rPr>
                        <a:t>1.7:1 Fail</a:t>
                      </a:r>
                    </a:p>
                  </a:txBody>
                  <a:tcPr anchor="ctr">
                    <a:solidFill>
                      <a:srgbClr val="F4F6FA"/>
                    </a:solidFill>
                  </a:tcPr>
                </a:tc>
                <a:tc>
                  <a:txBody>
                    <a:bodyPr/>
                    <a:lstStyle/>
                    <a:p>
                      <a:pPr algn="ctr"/>
                      <a:r>
                        <a:rPr sz="1100" b="1">
                          <a:solidFill>
                            <a:srgbClr val="B6C0D0"/>
                          </a:solidFill>
                          <a:latin typeface="Inter"/>
                        </a:rPr>
                        <a:t>Aa  </a:t>
                      </a:r>
                      <a:r>
                        <a:rPr sz="850" b="1">
                          <a:solidFill>
                            <a:srgbClr val="B6C0D0"/>
                          </a:solidFill>
                          <a:latin typeface="Inter"/>
                        </a:rPr>
                        <a:t>9.9:1 AAA</a:t>
                      </a:r>
                    </a:p>
                  </a:txBody>
                  <a:tcPr anchor="ctr">
                    <a:solidFill>
                      <a:srgbClr val="0E1525"/>
                    </a:solidFill>
                  </a:tcPr>
                </a:tc>
                <a:tc>
                  <a:txBody>
                    <a:bodyPr/>
                    <a:lstStyle/>
                    <a:p>
                      <a:pPr algn="ctr"/>
                      <a:r>
                        <a:rPr sz="1100" b="1">
                          <a:solidFill>
                            <a:srgbClr val="B6C0D0"/>
                          </a:solidFill>
                          <a:latin typeface="Inter"/>
                        </a:rPr>
                        <a:t>Aa  </a:t>
                      </a:r>
                      <a:r>
                        <a:rPr sz="850" b="1">
                          <a:solidFill>
                            <a:srgbClr val="B6C0D0"/>
                          </a:solidFill>
                          <a:latin typeface="Inter"/>
                        </a:rPr>
                        <a:t>8.6:1 AAA</a:t>
                      </a:r>
                    </a:p>
                  </a:txBody>
                  <a:tcPr anchor="ctr">
                    <a:solidFill>
                      <a:srgbClr val="1A2335"/>
                    </a:solidFill>
                  </a:tcPr>
                </a:tc>
                <a:tc>
                  <a:txBody>
                    <a:bodyPr/>
                    <a:lstStyle/>
                    <a:p>
                      <a:pPr algn="ctr"/>
                      <a:r>
                        <a:rPr sz="1100" b="1">
                          <a:solidFill>
                            <a:srgbClr val="B6C0D0"/>
                          </a:solidFill>
                          <a:latin typeface="Inter"/>
                        </a:rPr>
                        <a:t>Aa  </a:t>
                      </a:r>
                      <a:r>
                        <a:rPr sz="850" b="1">
                          <a:solidFill>
                            <a:srgbClr val="FFFFFF"/>
                          </a:solidFill>
                          <a:latin typeface="Inter"/>
                        </a:rPr>
                        <a:t>2.8:1 Fail</a:t>
                      </a:r>
                    </a:p>
                  </a:txBody>
                  <a:tcPr anchor="ctr">
                    <a:solidFill>
                      <a:srgbClr val="1F5EFF"/>
                    </a:solidFill>
                  </a:tcPr>
                </a:tc>
              </a:tr>
              <a:tr h="457200">
                <a:tc>
                  <a:txBody>
                    <a:bodyPr/>
                    <a:lstStyle/>
                    <a:p>
                      <a:pPr algn="l"/>
                      <a:r>
                        <a:rPr sz="850" b="0">
                          <a:solidFill>
                            <a:srgbClr val="0E1525"/>
                          </a:solidFill>
                          <a:latin typeface="Inter"/>
                        </a:rPr>
                        <a:t>dark link  #9CC3FF</a:t>
                      </a:r>
                    </a:p>
                  </a:txBody>
                  <a:tcPr anchor="ctr">
                    <a:solidFill>
                      <a:srgbClr val="F4F6FA"/>
                    </a:solidFill>
                  </a:tcPr>
                </a:tc>
                <a:tc>
                  <a:txBody>
                    <a:bodyPr/>
                    <a:lstStyle/>
                    <a:p>
                      <a:pPr algn="ctr"/>
                      <a:r>
                        <a:rPr sz="1100" b="1">
                          <a:solidFill>
                            <a:srgbClr val="9CC3FF"/>
                          </a:solidFill>
                          <a:latin typeface="Inter"/>
                        </a:rPr>
                        <a:t>Aa  </a:t>
                      </a:r>
                      <a:r>
                        <a:rPr sz="850" b="1">
                          <a:solidFill>
                            <a:srgbClr val="111111"/>
                          </a:solidFill>
                          <a:latin typeface="Inter"/>
                        </a:rPr>
                        <a:t>1.8:1 Fail</a:t>
                      </a:r>
                    </a:p>
                  </a:txBody>
                  <a:tcPr anchor="ctr">
                    <a:solidFill>
                      <a:srgbClr val="FFFFFF"/>
                    </a:solidFill>
                  </a:tcPr>
                </a:tc>
                <a:tc>
                  <a:txBody>
                    <a:bodyPr/>
                    <a:lstStyle/>
                    <a:p>
                      <a:pPr algn="ctr"/>
                      <a:r>
                        <a:rPr sz="1100" b="1">
                          <a:solidFill>
                            <a:srgbClr val="9CC3FF"/>
                          </a:solidFill>
                          <a:latin typeface="Inter"/>
                        </a:rPr>
                        <a:t>Aa  </a:t>
                      </a:r>
                      <a:r>
                        <a:rPr sz="850" b="1">
                          <a:solidFill>
                            <a:srgbClr val="111111"/>
                          </a:solidFill>
                          <a:latin typeface="Inter"/>
                        </a:rPr>
                        <a:t>1.7:1 Fail</a:t>
                      </a:r>
                    </a:p>
                  </a:txBody>
                  <a:tcPr anchor="ctr">
                    <a:solidFill>
                      <a:srgbClr val="F4F6FA"/>
                    </a:solidFill>
                  </a:tcPr>
                </a:tc>
                <a:tc>
                  <a:txBody>
                    <a:bodyPr/>
                    <a:lstStyle/>
                    <a:p>
                      <a:pPr algn="ctr"/>
                      <a:r>
                        <a:rPr sz="1100" b="1">
                          <a:solidFill>
                            <a:srgbClr val="9CC3FF"/>
                          </a:solidFill>
                          <a:latin typeface="Inter"/>
                        </a:rPr>
                        <a:t>Aa  </a:t>
                      </a:r>
                      <a:r>
                        <a:rPr sz="850" b="1">
                          <a:solidFill>
                            <a:srgbClr val="9CC3FF"/>
                          </a:solidFill>
                          <a:latin typeface="Inter"/>
                        </a:rPr>
                        <a:t>10.1:1 AAA</a:t>
                      </a:r>
                    </a:p>
                  </a:txBody>
                  <a:tcPr anchor="ctr">
                    <a:solidFill>
                      <a:srgbClr val="0E1525"/>
                    </a:solidFill>
                  </a:tcPr>
                </a:tc>
                <a:tc>
                  <a:txBody>
                    <a:bodyPr/>
                    <a:lstStyle/>
                    <a:p>
                      <a:pPr algn="ctr"/>
                      <a:r>
                        <a:rPr sz="1100" b="1">
                          <a:solidFill>
                            <a:srgbClr val="9CC3FF"/>
                          </a:solidFill>
                          <a:latin typeface="Inter"/>
                        </a:rPr>
                        <a:t>Aa  </a:t>
                      </a:r>
                      <a:r>
                        <a:rPr sz="850" b="1">
                          <a:solidFill>
                            <a:srgbClr val="9CC3FF"/>
                          </a:solidFill>
                          <a:latin typeface="Inter"/>
                        </a:rPr>
                        <a:t>8.7:1 AAA</a:t>
                      </a:r>
                    </a:p>
                  </a:txBody>
                  <a:tcPr anchor="ctr">
                    <a:solidFill>
                      <a:srgbClr val="1A2335"/>
                    </a:solidFill>
                  </a:tcPr>
                </a:tc>
                <a:tc>
                  <a:txBody>
                    <a:bodyPr/>
                    <a:lstStyle/>
                    <a:p>
                      <a:pPr algn="ctr"/>
                      <a:r>
                        <a:rPr sz="1100" b="1">
                          <a:solidFill>
                            <a:srgbClr val="9CC3FF"/>
                          </a:solidFill>
                          <a:latin typeface="Inter"/>
                        </a:rPr>
                        <a:t>Aa  </a:t>
                      </a:r>
                      <a:r>
                        <a:rPr sz="850" b="1">
                          <a:solidFill>
                            <a:srgbClr val="FFFFFF"/>
                          </a:solidFill>
                          <a:latin typeface="Inter"/>
                        </a:rPr>
                        <a:t>2.8:1 Fail</a:t>
                      </a:r>
                    </a:p>
                  </a:txBody>
                  <a:tcPr anchor="ctr">
                    <a:solidFill>
                      <a:srgbClr val="1F5EFF"/>
                    </a:solidFill>
                  </a:tcPr>
                </a:tc>
              </a:tr>
            </a:tbl>
          </a:graphicData>
        </a:graphic>
      </p:graphicFrame>
      <p:sp>
        <p:nvSpPr>
          <p:cNvPr id="7" name="TextBox 6"/>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Color</a:t>
            </a:r>
          </a:p>
        </p:txBody>
      </p:sp>
      <p:sp>
        <p:nvSpPr>
          <p:cNvPr id="8" name="TextBox 7"/>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25 / 41</a:t>
            </a:r>
          </a:p>
        </p:txBody>
      </p:sp>
      <p:pic>
        <p:nvPicPr>
          <p:cNvPr id="9" name="Picture 8"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62179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62179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COLOR</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Color: What Not To Do</a:t>
            </a:r>
          </a:p>
        </p:txBody>
      </p:sp>
      <p:sp>
        <p:nvSpPr>
          <p:cNvPr id="5" name="Rectangle 4"/>
          <p:cNvSpPr/>
          <p:nvPr/>
        </p:nvSpPr>
        <p:spPr>
          <a:xfrm>
            <a:off x="502920" y="1645920"/>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22376" y="1965960"/>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22376" y="195681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8" name="TextBox 7"/>
          <p:cNvSpPr txBox="1"/>
          <p:nvPr/>
        </p:nvSpPr>
        <p:spPr>
          <a:xfrm>
            <a:off x="1188720" y="1719072"/>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Do not tint or shade brand colors outside the defined neutrals</a:t>
            </a:r>
          </a:p>
        </p:txBody>
      </p:sp>
      <p:sp>
        <p:nvSpPr>
          <p:cNvPr id="9" name="Rectangle 8"/>
          <p:cNvSpPr/>
          <p:nvPr/>
        </p:nvSpPr>
        <p:spPr>
          <a:xfrm>
            <a:off x="502920" y="2697480"/>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22376" y="3017520"/>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2376" y="300837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2" name="TextBox 11"/>
          <p:cNvSpPr txBox="1"/>
          <p:nvPr/>
        </p:nvSpPr>
        <p:spPr>
          <a:xfrm>
            <a:off x="1188720" y="2770632"/>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Do not set body text in Signal Coral</a:t>
            </a:r>
          </a:p>
        </p:txBody>
      </p:sp>
      <p:sp>
        <p:nvSpPr>
          <p:cNvPr id="13" name="Rectangle 12"/>
          <p:cNvSpPr/>
          <p:nvPr/>
        </p:nvSpPr>
        <p:spPr>
          <a:xfrm>
            <a:off x="502920" y="3749039"/>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22376" y="4069079"/>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2376" y="4059935"/>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6" name="TextBox 15"/>
          <p:cNvSpPr txBox="1"/>
          <p:nvPr/>
        </p:nvSpPr>
        <p:spPr>
          <a:xfrm>
            <a:off x="1188720" y="3822191"/>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Do not place Halyard Blue text on Ink</a:t>
            </a:r>
          </a:p>
        </p:txBody>
      </p:sp>
      <p:sp>
        <p:nvSpPr>
          <p:cNvPr id="17" name="TextBox 16"/>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Color</a:t>
            </a:r>
          </a:p>
        </p:txBody>
      </p:sp>
      <p:sp>
        <p:nvSpPr>
          <p:cNvPr id="18" name="TextBox 17"/>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26 / 41</a:t>
            </a:r>
          </a:p>
        </p:txBody>
      </p:sp>
      <p:pic>
        <p:nvPicPr>
          <p:cNvPr id="19" name="Picture 18"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TextBox 1"/>
          <p:cNvSpPr txBox="1"/>
          <p:nvPr/>
        </p:nvSpPr>
        <p:spPr>
          <a:xfrm>
            <a:off x="731520" y="2331720"/>
            <a:ext cx="2743200" cy="457200"/>
          </a:xfrm>
          <a:prstGeom prst="rect">
            <a:avLst/>
          </a:prstGeom>
          <a:noFill/>
        </p:spPr>
        <p:txBody>
          <a:bodyPr wrap="square" lIns="0" rIns="0" tIns="0" bIns="0" anchor="t">
            <a:spAutoFit/>
          </a:bodyPr>
          <a:lstStyle/>
          <a:p>
            <a:pPr algn="l">
              <a:spcAft>
                <a:spcPts val="400"/>
              </a:spcAft>
            </a:pPr>
            <a:r>
              <a:rPr sz="1400" b="1" i="0" spc="200">
                <a:solidFill>
                  <a:srgbClr val="1F5EFF"/>
                </a:solidFill>
                <a:latin typeface="Inter"/>
              </a:rPr>
              <a:t>04</a:t>
            </a:r>
          </a:p>
        </p:txBody>
      </p:sp>
      <p:sp>
        <p:nvSpPr>
          <p:cNvPr id="3" name="TextBox 2"/>
          <p:cNvSpPr txBox="1"/>
          <p:nvPr/>
        </p:nvSpPr>
        <p:spPr>
          <a:xfrm>
            <a:off x="731520" y="2697480"/>
            <a:ext cx="8229600" cy="1097280"/>
          </a:xfrm>
          <a:prstGeom prst="rect">
            <a:avLst/>
          </a:prstGeom>
          <a:noFill/>
        </p:spPr>
        <p:txBody>
          <a:bodyPr wrap="square" lIns="0" rIns="0" tIns="0" bIns="0" anchor="t">
            <a:spAutoFit/>
          </a:bodyPr>
          <a:lstStyle/>
          <a:p>
            <a:pPr algn="l">
              <a:spcAft>
                <a:spcPts val="400"/>
              </a:spcAft>
            </a:pPr>
            <a:r>
              <a:rPr sz="4800" b="0" i="0">
                <a:solidFill>
                  <a:srgbClr val="FFFFFF"/>
                </a:solidFill>
                <a:latin typeface="Inter Display"/>
              </a:rPr>
              <a:t>Typography</a:t>
            </a:r>
          </a:p>
        </p:txBody>
      </p:sp>
      <p:sp>
        <p:nvSpPr>
          <p:cNvPr id="4" name="TextBox 3"/>
          <p:cNvSpPr txBox="1"/>
          <p:nvPr/>
        </p:nvSpPr>
        <p:spPr>
          <a:xfrm>
            <a:off x="731520" y="3840480"/>
            <a:ext cx="6858000" cy="1097280"/>
          </a:xfrm>
          <a:prstGeom prst="rect">
            <a:avLst/>
          </a:prstGeom>
          <a:noFill/>
        </p:spPr>
        <p:txBody>
          <a:bodyPr wrap="square" lIns="0" rIns="0" tIns="0" bIns="0" anchor="t">
            <a:spAutoFit/>
          </a:bodyPr>
          <a:lstStyle/>
          <a:p>
            <a:pPr algn="l">
              <a:spcAft>
                <a:spcPts val="400"/>
              </a:spcAft>
            </a:pPr>
            <a:r>
              <a:rPr sz="1300" b="0" i="0">
                <a:solidFill>
                  <a:srgbClr val="B6C0D0"/>
                </a:solidFill>
                <a:latin typeface="Inter"/>
              </a:rPr>
              <a:t>Consistent type makes us recognizable before anyone reads a word.</a:t>
            </a:r>
          </a:p>
        </p:txBody>
      </p:sp>
      <p:pic>
        <p:nvPicPr>
          <p:cNvPr id="5" name="Picture 4" descr="image.png"/>
          <p:cNvPicPr>
            <a:picLocks noChangeAspect="1"/>
          </p:cNvPicPr>
          <p:nvPr/>
        </p:nvPicPr>
        <p:blipFill>
          <a:blip r:embed="rId2"/>
          <a:stretch>
            <a:fillRect/>
          </a:stretch>
        </p:blipFill>
        <p:spPr>
          <a:xfrm>
            <a:off x="10957255" y="511159"/>
            <a:ext cx="731520" cy="2121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81930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81930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HEADLINE</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Inter Display</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Headlines and display numbers.</a:t>
            </a:r>
          </a:p>
          <a:p>
            <a:pPr algn="l">
              <a:lnSpc>
                <a:spcPct val="115000"/>
              </a:lnSpc>
              <a:spcAft>
                <a:spcPts val="700"/>
              </a:spcAft>
            </a:pPr>
            <a:r>
              <a:rPr sz="1100" b="0" i="0">
                <a:solidFill>
                  <a:srgbClr val="6B778C"/>
                </a:solidFill>
                <a:latin typeface="Inter"/>
              </a:rPr>
              <a:t>Source / license: Open source (SIL OFL), rsms.me/inter</a:t>
            </a:r>
          </a:p>
          <a:p>
            <a:pPr algn="l">
              <a:lnSpc>
                <a:spcPct val="115000"/>
              </a:lnSpc>
              <a:spcAft>
                <a:spcPts val="700"/>
              </a:spcAft>
            </a:pPr>
            <a:r>
              <a:rPr sz="1100" b="0" i="0">
                <a:solidFill>
                  <a:srgbClr val="6B778C"/>
                </a:solidFill>
                <a:latin typeface="Inter"/>
              </a:rPr>
              <a:t>Fallback when unavailable: Arial</a:t>
            </a:r>
          </a:p>
        </p:txBody>
      </p:sp>
      <p:sp>
        <p:nvSpPr>
          <p:cNvPr id="7" name="TextBox 6"/>
          <p:cNvSpPr txBox="1"/>
          <p:nvPr/>
        </p:nvSpPr>
        <p:spPr>
          <a:xfrm>
            <a:off x="4526280" y="640080"/>
            <a:ext cx="2926080" cy="2377440"/>
          </a:xfrm>
          <a:prstGeom prst="rect">
            <a:avLst/>
          </a:prstGeom>
          <a:noFill/>
        </p:spPr>
        <p:txBody>
          <a:bodyPr wrap="square" lIns="0" rIns="0" tIns="0" bIns="0" anchor="t">
            <a:spAutoFit/>
          </a:bodyPr>
          <a:lstStyle/>
          <a:p>
            <a:pPr algn="l">
              <a:spcAft>
                <a:spcPts val="400"/>
              </a:spcAft>
            </a:pPr>
            <a:r>
              <a:rPr sz="15000" b="0" i="0">
                <a:solidFill>
                  <a:srgbClr val="0E1525"/>
                </a:solidFill>
                <a:latin typeface="Inter Display"/>
              </a:rPr>
              <a:t>Aa</a:t>
            </a:r>
          </a:p>
        </p:txBody>
      </p:sp>
      <p:sp>
        <p:nvSpPr>
          <p:cNvPr id="8" name="TextBox 7"/>
          <p:cNvSpPr txBox="1"/>
          <p:nvPr/>
        </p:nvSpPr>
        <p:spPr>
          <a:xfrm>
            <a:off x="7635240" y="1005840"/>
            <a:ext cx="3962095" cy="2194560"/>
          </a:xfrm>
          <a:prstGeom prst="rect">
            <a:avLst/>
          </a:prstGeom>
          <a:noFill/>
        </p:spPr>
        <p:txBody>
          <a:bodyPr wrap="square" lIns="0" rIns="0" tIns="0" bIns="0" anchor="t">
            <a:spAutoFit/>
          </a:bodyPr>
          <a:lstStyle/>
          <a:p>
            <a:pPr algn="l">
              <a:lnSpc>
                <a:spcPct val="120000"/>
              </a:lnSpc>
              <a:spcAft>
                <a:spcPts val="800"/>
              </a:spcAft>
            </a:pPr>
            <a:r>
              <a:rPr sz="1700" b="0" i="0">
                <a:solidFill>
                  <a:srgbClr val="0E1525"/>
                </a:solidFill>
                <a:latin typeface="Inter Display"/>
              </a:rPr>
              <a:t>ABCDEFGHIJKLMNOPQRSTUVWXYZ</a:t>
            </a:r>
          </a:p>
          <a:p>
            <a:pPr algn="l">
              <a:lnSpc>
                <a:spcPct val="120000"/>
              </a:lnSpc>
              <a:spcAft>
                <a:spcPts val="800"/>
              </a:spcAft>
            </a:pPr>
            <a:r>
              <a:rPr sz="1700" b="0" i="0">
                <a:solidFill>
                  <a:srgbClr val="0E1525"/>
                </a:solidFill>
                <a:latin typeface="Inter Display"/>
              </a:rPr>
              <a:t>abcdefghijklmnopqrstuvwxyz</a:t>
            </a:r>
          </a:p>
          <a:p>
            <a:pPr algn="l">
              <a:lnSpc>
                <a:spcPct val="120000"/>
              </a:lnSpc>
              <a:spcAft>
                <a:spcPts val="800"/>
              </a:spcAft>
            </a:pPr>
            <a:r>
              <a:rPr sz="1700" b="0" i="0">
                <a:solidFill>
                  <a:srgbClr val="0E1525"/>
                </a:solidFill>
                <a:latin typeface="Inter Display"/>
              </a:rPr>
              <a:t>0123456789 !@#$%&amp;*()?</a:t>
            </a:r>
          </a:p>
        </p:txBody>
      </p:sp>
      <p:sp>
        <p:nvSpPr>
          <p:cNvPr id="9" name="TextBox 8"/>
          <p:cNvSpPr txBox="1"/>
          <p:nvPr/>
        </p:nvSpPr>
        <p:spPr>
          <a:xfrm>
            <a:off x="4526280" y="3657600"/>
            <a:ext cx="7436815" cy="274320"/>
          </a:xfrm>
          <a:prstGeom prst="rect">
            <a:avLst/>
          </a:prstGeom>
          <a:noFill/>
        </p:spPr>
        <p:txBody>
          <a:bodyPr wrap="square" lIns="0" rIns="0" tIns="0" bIns="0" anchor="t">
            <a:spAutoFit/>
          </a:bodyPr>
          <a:lstStyle/>
          <a:p>
            <a:pPr algn="l">
              <a:spcAft>
                <a:spcPts val="400"/>
              </a:spcAft>
            </a:pPr>
            <a:r>
              <a:rPr sz="850" b="1" i="0" spc="150">
                <a:solidFill>
                  <a:srgbClr val="1F5EFF"/>
                </a:solidFill>
                <a:latin typeface="Inter"/>
              </a:rPr>
              <a:t>WEIGHTS</a:t>
            </a:r>
          </a:p>
        </p:txBody>
      </p:sp>
      <p:sp>
        <p:nvSpPr>
          <p:cNvPr id="10" name="TextBox 9"/>
          <p:cNvSpPr txBox="1"/>
          <p:nvPr/>
        </p:nvSpPr>
        <p:spPr>
          <a:xfrm>
            <a:off x="4526280" y="4023360"/>
            <a:ext cx="2387498" cy="731520"/>
          </a:xfrm>
          <a:prstGeom prst="rect">
            <a:avLst/>
          </a:prstGeom>
          <a:noFill/>
        </p:spPr>
        <p:txBody>
          <a:bodyPr wrap="square" lIns="0" rIns="0" tIns="0" bIns="0" anchor="t">
            <a:spAutoFit/>
          </a:bodyPr>
          <a:lstStyle/>
          <a:p>
            <a:pPr algn="l">
              <a:spcAft>
                <a:spcPts val="0"/>
              </a:spcAft>
            </a:pPr>
            <a:r>
              <a:rPr sz="1800" b="0" i="0">
                <a:solidFill>
                  <a:srgbClr val="0E1525"/>
                </a:solidFill>
                <a:latin typeface="Inter Display"/>
              </a:rPr>
              <a:t>Medium</a:t>
            </a:r>
          </a:p>
          <a:p>
            <a:pPr algn="l">
              <a:spcAft>
                <a:spcPts val="0"/>
              </a:spcAft>
            </a:pPr>
            <a:r>
              <a:rPr sz="800" b="0" i="0">
                <a:solidFill>
                  <a:srgbClr val="6B778C"/>
                </a:solidFill>
                <a:latin typeface="Inter Display"/>
              </a:rPr>
              <a:t>Inter Display</a:t>
            </a:r>
          </a:p>
        </p:txBody>
      </p:sp>
      <p:sp>
        <p:nvSpPr>
          <p:cNvPr id="11" name="TextBox 10"/>
          <p:cNvSpPr txBox="1"/>
          <p:nvPr/>
        </p:nvSpPr>
        <p:spPr>
          <a:xfrm>
            <a:off x="7005218" y="4023360"/>
            <a:ext cx="2387498" cy="731520"/>
          </a:xfrm>
          <a:prstGeom prst="rect">
            <a:avLst/>
          </a:prstGeom>
          <a:noFill/>
        </p:spPr>
        <p:txBody>
          <a:bodyPr wrap="square" lIns="0" rIns="0" tIns="0" bIns="0" anchor="t">
            <a:spAutoFit/>
          </a:bodyPr>
          <a:lstStyle/>
          <a:p>
            <a:pPr algn="l">
              <a:spcAft>
                <a:spcPts val="0"/>
              </a:spcAft>
            </a:pPr>
            <a:r>
              <a:rPr sz="1800" b="1" i="0">
                <a:solidFill>
                  <a:srgbClr val="0E1525"/>
                </a:solidFill>
                <a:latin typeface="Inter Display"/>
              </a:rPr>
              <a:t>Semi Bold</a:t>
            </a:r>
          </a:p>
          <a:p>
            <a:pPr algn="l">
              <a:spcAft>
                <a:spcPts val="0"/>
              </a:spcAft>
            </a:pPr>
            <a:r>
              <a:rPr sz="800" b="0" i="0">
                <a:solidFill>
                  <a:srgbClr val="6B778C"/>
                </a:solidFill>
                <a:latin typeface="Inter Display"/>
              </a:rPr>
              <a:t>Inter Display</a:t>
            </a:r>
          </a:p>
        </p:txBody>
      </p:sp>
      <p:sp>
        <p:nvSpPr>
          <p:cNvPr id="12" name="TextBox 11"/>
          <p:cNvSpPr txBox="1"/>
          <p:nvPr/>
        </p:nvSpPr>
        <p:spPr>
          <a:xfrm>
            <a:off x="9484156" y="4023360"/>
            <a:ext cx="2387498" cy="731520"/>
          </a:xfrm>
          <a:prstGeom prst="rect">
            <a:avLst/>
          </a:prstGeom>
          <a:noFill/>
        </p:spPr>
        <p:txBody>
          <a:bodyPr wrap="square" lIns="0" rIns="0" tIns="0" bIns="0" anchor="t">
            <a:spAutoFit/>
          </a:bodyPr>
          <a:lstStyle/>
          <a:p>
            <a:pPr algn="l">
              <a:spcAft>
                <a:spcPts val="0"/>
              </a:spcAft>
            </a:pPr>
            <a:r>
              <a:rPr sz="1800" b="1" i="0">
                <a:solidFill>
                  <a:srgbClr val="0E1525"/>
                </a:solidFill>
                <a:latin typeface="Inter Display"/>
              </a:rPr>
              <a:t>Bold</a:t>
            </a:r>
          </a:p>
          <a:p>
            <a:pPr algn="l">
              <a:spcAft>
                <a:spcPts val="0"/>
              </a:spcAft>
            </a:pPr>
            <a:r>
              <a:rPr sz="800" b="0" i="0">
                <a:solidFill>
                  <a:srgbClr val="6B778C"/>
                </a:solidFill>
                <a:latin typeface="Inter Display"/>
              </a:rPr>
              <a:t>Inter Display</a:t>
            </a:r>
          </a:p>
        </p:txBody>
      </p:sp>
      <p:sp>
        <p:nvSpPr>
          <p:cNvPr id="13" name="TextBox 12"/>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Typography</a:t>
            </a:r>
          </a:p>
        </p:txBody>
      </p:sp>
      <p:sp>
        <p:nvSpPr>
          <p:cNvPr id="14" name="TextBox 13"/>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28 / 41</a:t>
            </a:r>
          </a:p>
        </p:txBody>
      </p:sp>
      <p:pic>
        <p:nvPicPr>
          <p:cNvPr id="15" name="Picture 14"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555955"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555955"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BODY</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Inter</a:t>
            </a:r>
          </a:p>
        </p:txBody>
      </p:sp>
      <p:sp>
        <p:nvSpPr>
          <p:cNvPr id="6" name="TextBox 5"/>
          <p:cNvSpPr txBox="1"/>
          <p:nvPr/>
        </p:nvSpPr>
        <p:spPr>
          <a:xfrm>
            <a:off x="502920" y="192024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Body copy, UI, tables, and captions.</a:t>
            </a:r>
          </a:p>
          <a:p>
            <a:pPr algn="l">
              <a:lnSpc>
                <a:spcPct val="115000"/>
              </a:lnSpc>
              <a:spcAft>
                <a:spcPts val="700"/>
              </a:spcAft>
            </a:pPr>
            <a:r>
              <a:rPr sz="1100" b="0" i="0">
                <a:solidFill>
                  <a:srgbClr val="6B778C"/>
                </a:solidFill>
                <a:latin typeface="Inter"/>
              </a:rPr>
              <a:t>Source / license: Open source (SIL OFL)</a:t>
            </a:r>
          </a:p>
          <a:p>
            <a:pPr algn="l">
              <a:lnSpc>
                <a:spcPct val="115000"/>
              </a:lnSpc>
              <a:spcAft>
                <a:spcPts val="700"/>
              </a:spcAft>
            </a:pPr>
            <a:r>
              <a:rPr sz="1100" b="0" i="0">
                <a:solidFill>
                  <a:srgbClr val="6B778C"/>
                </a:solidFill>
                <a:latin typeface="Inter"/>
              </a:rPr>
              <a:t>Fallback when unavailable: Arial</a:t>
            </a:r>
          </a:p>
        </p:txBody>
      </p:sp>
      <p:sp>
        <p:nvSpPr>
          <p:cNvPr id="7" name="TextBox 6"/>
          <p:cNvSpPr txBox="1"/>
          <p:nvPr/>
        </p:nvSpPr>
        <p:spPr>
          <a:xfrm>
            <a:off x="4526280" y="640080"/>
            <a:ext cx="2926080" cy="2377440"/>
          </a:xfrm>
          <a:prstGeom prst="rect">
            <a:avLst/>
          </a:prstGeom>
          <a:noFill/>
        </p:spPr>
        <p:txBody>
          <a:bodyPr wrap="square" lIns="0" rIns="0" tIns="0" bIns="0" anchor="t">
            <a:spAutoFit/>
          </a:bodyPr>
          <a:lstStyle/>
          <a:p>
            <a:pPr algn="l">
              <a:spcAft>
                <a:spcPts val="400"/>
              </a:spcAft>
            </a:pPr>
            <a:r>
              <a:rPr sz="15000" b="0" i="0">
                <a:solidFill>
                  <a:srgbClr val="0E1525"/>
                </a:solidFill>
                <a:latin typeface="Inter"/>
              </a:rPr>
              <a:t>Aa</a:t>
            </a:r>
          </a:p>
        </p:txBody>
      </p:sp>
      <p:sp>
        <p:nvSpPr>
          <p:cNvPr id="8" name="TextBox 7"/>
          <p:cNvSpPr txBox="1"/>
          <p:nvPr/>
        </p:nvSpPr>
        <p:spPr>
          <a:xfrm>
            <a:off x="7635240" y="1005840"/>
            <a:ext cx="3962095" cy="2194560"/>
          </a:xfrm>
          <a:prstGeom prst="rect">
            <a:avLst/>
          </a:prstGeom>
          <a:noFill/>
        </p:spPr>
        <p:txBody>
          <a:bodyPr wrap="square" lIns="0" rIns="0" tIns="0" bIns="0" anchor="t">
            <a:spAutoFit/>
          </a:bodyPr>
          <a:lstStyle/>
          <a:p>
            <a:pPr algn="l">
              <a:lnSpc>
                <a:spcPct val="120000"/>
              </a:lnSpc>
              <a:spcAft>
                <a:spcPts val="800"/>
              </a:spcAft>
            </a:pPr>
            <a:r>
              <a:rPr sz="1700" b="0" i="0">
                <a:solidFill>
                  <a:srgbClr val="0E1525"/>
                </a:solidFill>
                <a:latin typeface="Inter"/>
              </a:rPr>
              <a:t>ABCDEFGHIJKLMNOPQRSTUVWXYZ</a:t>
            </a:r>
          </a:p>
          <a:p>
            <a:pPr algn="l">
              <a:lnSpc>
                <a:spcPct val="120000"/>
              </a:lnSpc>
              <a:spcAft>
                <a:spcPts val="800"/>
              </a:spcAft>
            </a:pPr>
            <a:r>
              <a:rPr sz="1700" b="0" i="0">
                <a:solidFill>
                  <a:srgbClr val="0E1525"/>
                </a:solidFill>
                <a:latin typeface="Inter"/>
              </a:rPr>
              <a:t>abcdefghijklmnopqrstuvwxyz</a:t>
            </a:r>
          </a:p>
          <a:p>
            <a:pPr algn="l">
              <a:lnSpc>
                <a:spcPct val="120000"/>
              </a:lnSpc>
              <a:spcAft>
                <a:spcPts val="800"/>
              </a:spcAft>
            </a:pPr>
            <a:r>
              <a:rPr sz="1700" b="0" i="0">
                <a:solidFill>
                  <a:srgbClr val="0E1525"/>
                </a:solidFill>
                <a:latin typeface="Inter"/>
              </a:rPr>
              <a:t>0123456789 !@#$%&amp;*()?</a:t>
            </a:r>
          </a:p>
        </p:txBody>
      </p:sp>
      <p:sp>
        <p:nvSpPr>
          <p:cNvPr id="9" name="TextBox 8"/>
          <p:cNvSpPr txBox="1"/>
          <p:nvPr/>
        </p:nvSpPr>
        <p:spPr>
          <a:xfrm>
            <a:off x="4526280" y="3657600"/>
            <a:ext cx="7436815" cy="274320"/>
          </a:xfrm>
          <a:prstGeom prst="rect">
            <a:avLst/>
          </a:prstGeom>
          <a:noFill/>
        </p:spPr>
        <p:txBody>
          <a:bodyPr wrap="square" lIns="0" rIns="0" tIns="0" bIns="0" anchor="t">
            <a:spAutoFit/>
          </a:bodyPr>
          <a:lstStyle/>
          <a:p>
            <a:pPr algn="l">
              <a:spcAft>
                <a:spcPts val="400"/>
              </a:spcAft>
            </a:pPr>
            <a:r>
              <a:rPr sz="850" b="1" i="0" spc="150">
                <a:solidFill>
                  <a:srgbClr val="1F5EFF"/>
                </a:solidFill>
                <a:latin typeface="Inter"/>
              </a:rPr>
              <a:t>WEIGHTS</a:t>
            </a:r>
          </a:p>
        </p:txBody>
      </p:sp>
      <p:sp>
        <p:nvSpPr>
          <p:cNvPr id="10" name="TextBox 9"/>
          <p:cNvSpPr txBox="1"/>
          <p:nvPr/>
        </p:nvSpPr>
        <p:spPr>
          <a:xfrm>
            <a:off x="4526280" y="4023360"/>
            <a:ext cx="1767763" cy="731520"/>
          </a:xfrm>
          <a:prstGeom prst="rect">
            <a:avLst/>
          </a:prstGeom>
          <a:noFill/>
        </p:spPr>
        <p:txBody>
          <a:bodyPr wrap="square" lIns="0" rIns="0" tIns="0" bIns="0" anchor="t">
            <a:spAutoFit/>
          </a:bodyPr>
          <a:lstStyle/>
          <a:p>
            <a:pPr algn="l">
              <a:spcAft>
                <a:spcPts val="0"/>
              </a:spcAft>
            </a:pPr>
            <a:r>
              <a:rPr sz="1800" b="0" i="0">
                <a:solidFill>
                  <a:srgbClr val="0E1525"/>
                </a:solidFill>
                <a:latin typeface="Inter"/>
              </a:rPr>
              <a:t>Regular</a:t>
            </a:r>
          </a:p>
          <a:p>
            <a:pPr algn="l">
              <a:spcAft>
                <a:spcPts val="0"/>
              </a:spcAft>
            </a:pPr>
            <a:r>
              <a:rPr sz="800" b="0" i="0">
                <a:solidFill>
                  <a:srgbClr val="6B778C"/>
                </a:solidFill>
                <a:latin typeface="Inter"/>
              </a:rPr>
              <a:t>Inter</a:t>
            </a:r>
          </a:p>
        </p:txBody>
      </p:sp>
      <p:sp>
        <p:nvSpPr>
          <p:cNvPr id="11" name="TextBox 10"/>
          <p:cNvSpPr txBox="1"/>
          <p:nvPr/>
        </p:nvSpPr>
        <p:spPr>
          <a:xfrm>
            <a:off x="6385483" y="4023360"/>
            <a:ext cx="1767763" cy="731520"/>
          </a:xfrm>
          <a:prstGeom prst="rect">
            <a:avLst/>
          </a:prstGeom>
          <a:noFill/>
        </p:spPr>
        <p:txBody>
          <a:bodyPr wrap="square" lIns="0" rIns="0" tIns="0" bIns="0" anchor="t">
            <a:spAutoFit/>
          </a:bodyPr>
          <a:lstStyle/>
          <a:p>
            <a:pPr algn="l">
              <a:spcAft>
                <a:spcPts val="0"/>
              </a:spcAft>
            </a:pPr>
            <a:r>
              <a:rPr sz="1800" b="0" i="0">
                <a:solidFill>
                  <a:srgbClr val="0E1525"/>
                </a:solidFill>
                <a:latin typeface="Inter"/>
              </a:rPr>
              <a:t>Italic</a:t>
            </a:r>
          </a:p>
          <a:p>
            <a:pPr algn="l">
              <a:spcAft>
                <a:spcPts val="0"/>
              </a:spcAft>
            </a:pPr>
            <a:r>
              <a:rPr sz="800" b="0" i="0">
                <a:solidFill>
                  <a:srgbClr val="6B778C"/>
                </a:solidFill>
                <a:latin typeface="Inter"/>
              </a:rPr>
              <a:t>Inter</a:t>
            </a:r>
          </a:p>
        </p:txBody>
      </p:sp>
      <p:sp>
        <p:nvSpPr>
          <p:cNvPr id="12" name="TextBox 11"/>
          <p:cNvSpPr txBox="1"/>
          <p:nvPr/>
        </p:nvSpPr>
        <p:spPr>
          <a:xfrm>
            <a:off x="8244687" y="4023360"/>
            <a:ext cx="1767763" cy="731520"/>
          </a:xfrm>
          <a:prstGeom prst="rect">
            <a:avLst/>
          </a:prstGeom>
          <a:noFill/>
        </p:spPr>
        <p:txBody>
          <a:bodyPr wrap="square" lIns="0" rIns="0" tIns="0" bIns="0" anchor="t">
            <a:spAutoFit/>
          </a:bodyPr>
          <a:lstStyle/>
          <a:p>
            <a:pPr algn="l">
              <a:spcAft>
                <a:spcPts val="0"/>
              </a:spcAft>
            </a:pPr>
            <a:r>
              <a:rPr sz="1800" b="0" i="0">
                <a:solidFill>
                  <a:srgbClr val="0E1525"/>
                </a:solidFill>
                <a:latin typeface="Inter"/>
              </a:rPr>
              <a:t>Medium</a:t>
            </a:r>
          </a:p>
          <a:p>
            <a:pPr algn="l">
              <a:spcAft>
                <a:spcPts val="0"/>
              </a:spcAft>
            </a:pPr>
            <a:r>
              <a:rPr sz="800" b="0" i="0">
                <a:solidFill>
                  <a:srgbClr val="6B778C"/>
                </a:solidFill>
                <a:latin typeface="Inter"/>
              </a:rPr>
              <a:t>Inter</a:t>
            </a:r>
          </a:p>
        </p:txBody>
      </p:sp>
      <p:sp>
        <p:nvSpPr>
          <p:cNvPr id="13" name="TextBox 12"/>
          <p:cNvSpPr txBox="1"/>
          <p:nvPr/>
        </p:nvSpPr>
        <p:spPr>
          <a:xfrm>
            <a:off x="10103891" y="4023360"/>
            <a:ext cx="1767763" cy="731520"/>
          </a:xfrm>
          <a:prstGeom prst="rect">
            <a:avLst/>
          </a:prstGeom>
          <a:noFill/>
        </p:spPr>
        <p:txBody>
          <a:bodyPr wrap="square" lIns="0" rIns="0" tIns="0" bIns="0" anchor="t">
            <a:spAutoFit/>
          </a:bodyPr>
          <a:lstStyle/>
          <a:p>
            <a:pPr algn="l">
              <a:spcAft>
                <a:spcPts val="0"/>
              </a:spcAft>
            </a:pPr>
            <a:r>
              <a:rPr sz="1800" b="1" i="0">
                <a:solidFill>
                  <a:srgbClr val="0E1525"/>
                </a:solidFill>
                <a:latin typeface="Inter"/>
              </a:rPr>
              <a:t>Semi Bold</a:t>
            </a:r>
          </a:p>
          <a:p>
            <a:pPr algn="l">
              <a:spcAft>
                <a:spcPts val="0"/>
              </a:spcAft>
            </a:pPr>
            <a:r>
              <a:rPr sz="800" b="0" i="0">
                <a:solidFill>
                  <a:srgbClr val="6B778C"/>
                </a:solidFill>
                <a:latin typeface="Inter"/>
              </a:rPr>
              <a:t>Inter</a:t>
            </a:r>
          </a:p>
        </p:txBody>
      </p:sp>
      <p:sp>
        <p:nvSpPr>
          <p:cNvPr id="14" name="TextBox 13"/>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Typography</a:t>
            </a:r>
          </a:p>
        </p:txBody>
      </p:sp>
      <p:sp>
        <p:nvSpPr>
          <p:cNvPr id="15" name="TextBox 14"/>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29 / 41</a:t>
            </a:r>
          </a:p>
        </p:txBody>
      </p:sp>
      <p:pic>
        <p:nvPicPr>
          <p:cNvPr id="16" name="Picture 15"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95097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95097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TYPOGRAPHY</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Type Hierarchy</a:t>
            </a:r>
          </a:p>
        </p:txBody>
      </p:sp>
      <p:sp>
        <p:nvSpPr>
          <p:cNvPr id="5" name="TextBox 4"/>
          <p:cNvSpPr txBox="1"/>
          <p:nvPr/>
        </p:nvSpPr>
        <p:spPr>
          <a:xfrm>
            <a:off x="502920" y="1828800"/>
            <a:ext cx="1005840" cy="566928"/>
          </a:xfrm>
          <a:prstGeom prst="rect">
            <a:avLst/>
          </a:prstGeom>
          <a:noFill/>
        </p:spPr>
        <p:txBody>
          <a:bodyPr wrap="square" lIns="0" rIns="0" tIns="0" bIns="0" anchor="ctr">
            <a:spAutoFit/>
          </a:bodyPr>
          <a:lstStyle/>
          <a:p>
            <a:pPr algn="l">
              <a:spcAft>
                <a:spcPts val="400"/>
              </a:spcAft>
            </a:pPr>
            <a:r>
              <a:rPr sz="850" b="1" i="0" spc="120">
                <a:solidFill>
                  <a:srgbClr val="1F5EFF"/>
                </a:solidFill>
                <a:latin typeface="Inter"/>
              </a:rPr>
              <a:t>EYEBROW</a:t>
            </a:r>
          </a:p>
        </p:txBody>
      </p:sp>
      <p:sp>
        <p:nvSpPr>
          <p:cNvPr id="6" name="TextBox 5"/>
          <p:cNvSpPr txBox="1"/>
          <p:nvPr/>
        </p:nvSpPr>
        <p:spPr>
          <a:xfrm>
            <a:off x="1554480" y="1828800"/>
            <a:ext cx="5486400" cy="566928"/>
          </a:xfrm>
          <a:prstGeom prst="rect">
            <a:avLst/>
          </a:prstGeom>
          <a:noFill/>
        </p:spPr>
        <p:txBody>
          <a:bodyPr wrap="square" lIns="0" rIns="0" tIns="0" bIns="0" anchor="ctr">
            <a:spAutoFit/>
          </a:bodyPr>
          <a:lstStyle/>
          <a:p>
            <a:pPr algn="l">
              <a:spcAft>
                <a:spcPts val="400"/>
              </a:spcAft>
            </a:pPr>
            <a:r>
              <a:rPr sz="900" b="1" i="0">
                <a:solidFill>
                  <a:srgbClr val="0E1525"/>
                </a:solidFill>
                <a:latin typeface="Inter"/>
              </a:rPr>
              <a:t>PRODUCT UPDATE</a:t>
            </a:r>
          </a:p>
        </p:txBody>
      </p:sp>
      <p:sp>
        <p:nvSpPr>
          <p:cNvPr id="7" name="TextBox 6"/>
          <p:cNvSpPr txBox="1"/>
          <p:nvPr/>
        </p:nvSpPr>
        <p:spPr>
          <a:xfrm>
            <a:off x="7223760" y="1828800"/>
            <a:ext cx="4465015" cy="566928"/>
          </a:xfrm>
          <a:prstGeom prst="rect">
            <a:avLst/>
          </a:prstGeom>
          <a:noFill/>
        </p:spPr>
        <p:txBody>
          <a:bodyPr wrap="square" lIns="0" rIns="0" tIns="0" bIns="0" anchor="ctr">
            <a:spAutoFit/>
          </a:bodyPr>
          <a:lstStyle/>
          <a:p>
            <a:pPr algn="l">
              <a:spcAft>
                <a:spcPts val="400"/>
              </a:spcAft>
            </a:pPr>
            <a:r>
              <a:rPr sz="850" b="0" i="0">
                <a:solidFill>
                  <a:srgbClr val="6B778C"/>
                </a:solidFill>
                <a:latin typeface="Inter"/>
              </a:rPr>
              <a:t>Inter  |  Semi Bold  |  12px  |  Tracking 8%  |  uppercase</a:t>
            </a:r>
          </a:p>
        </p:txBody>
      </p:sp>
      <p:sp>
        <p:nvSpPr>
          <p:cNvPr id="8" name="Rectangle 7"/>
          <p:cNvSpPr/>
          <p:nvPr/>
        </p:nvSpPr>
        <p:spPr>
          <a:xfrm>
            <a:off x="502920" y="2377440"/>
            <a:ext cx="11185855"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02920" y="2395728"/>
            <a:ext cx="1005840" cy="566928"/>
          </a:xfrm>
          <a:prstGeom prst="rect">
            <a:avLst/>
          </a:prstGeom>
          <a:noFill/>
        </p:spPr>
        <p:txBody>
          <a:bodyPr wrap="square" lIns="0" rIns="0" tIns="0" bIns="0" anchor="ctr">
            <a:spAutoFit/>
          </a:bodyPr>
          <a:lstStyle/>
          <a:p>
            <a:pPr algn="l">
              <a:spcAft>
                <a:spcPts val="400"/>
              </a:spcAft>
            </a:pPr>
            <a:r>
              <a:rPr sz="850" b="1" i="0" spc="120">
                <a:solidFill>
                  <a:srgbClr val="1F5EFF"/>
                </a:solidFill>
                <a:latin typeface="Inter"/>
              </a:rPr>
              <a:t>H1</a:t>
            </a:r>
          </a:p>
        </p:txBody>
      </p:sp>
      <p:sp>
        <p:nvSpPr>
          <p:cNvPr id="10" name="TextBox 9"/>
          <p:cNvSpPr txBox="1"/>
          <p:nvPr/>
        </p:nvSpPr>
        <p:spPr>
          <a:xfrm>
            <a:off x="1554480" y="2395728"/>
            <a:ext cx="5486400" cy="566928"/>
          </a:xfrm>
          <a:prstGeom prst="rect">
            <a:avLst/>
          </a:prstGeom>
          <a:noFill/>
        </p:spPr>
        <p:txBody>
          <a:bodyPr wrap="square" lIns="0" rIns="0" tIns="0" bIns="0" anchor="ctr">
            <a:spAutoFit/>
          </a:bodyPr>
          <a:lstStyle/>
          <a:p>
            <a:pPr algn="l">
              <a:spcAft>
                <a:spcPts val="400"/>
              </a:spcAft>
            </a:pPr>
            <a:r>
              <a:rPr sz="3400" b="1" i="0">
                <a:solidFill>
                  <a:srgbClr val="0E1525"/>
                </a:solidFill>
                <a:latin typeface="Inter Display"/>
              </a:rPr>
              <a:t>Headline sample</a:t>
            </a:r>
          </a:p>
        </p:txBody>
      </p:sp>
      <p:sp>
        <p:nvSpPr>
          <p:cNvPr id="11" name="TextBox 10"/>
          <p:cNvSpPr txBox="1"/>
          <p:nvPr/>
        </p:nvSpPr>
        <p:spPr>
          <a:xfrm>
            <a:off x="7223760" y="2395728"/>
            <a:ext cx="4465015" cy="566928"/>
          </a:xfrm>
          <a:prstGeom prst="rect">
            <a:avLst/>
          </a:prstGeom>
          <a:noFill/>
        </p:spPr>
        <p:txBody>
          <a:bodyPr wrap="square" lIns="0" rIns="0" tIns="0" bIns="0" anchor="ctr">
            <a:spAutoFit/>
          </a:bodyPr>
          <a:lstStyle/>
          <a:p>
            <a:pPr algn="l">
              <a:spcAft>
                <a:spcPts val="400"/>
              </a:spcAft>
            </a:pPr>
            <a:r>
              <a:rPr sz="850" b="0" i="0">
                <a:solidFill>
                  <a:srgbClr val="6B778C"/>
                </a:solidFill>
                <a:latin typeface="Inter"/>
              </a:rPr>
              <a:t>Inter Display  |  Semi Bold  |  48px  |  LH 1.1</a:t>
            </a:r>
          </a:p>
        </p:txBody>
      </p:sp>
      <p:sp>
        <p:nvSpPr>
          <p:cNvPr id="12" name="Rectangle 11"/>
          <p:cNvSpPr/>
          <p:nvPr/>
        </p:nvSpPr>
        <p:spPr>
          <a:xfrm>
            <a:off x="502920" y="2944368"/>
            <a:ext cx="11185855"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02920" y="2962656"/>
            <a:ext cx="1005840" cy="566928"/>
          </a:xfrm>
          <a:prstGeom prst="rect">
            <a:avLst/>
          </a:prstGeom>
          <a:noFill/>
        </p:spPr>
        <p:txBody>
          <a:bodyPr wrap="square" lIns="0" rIns="0" tIns="0" bIns="0" anchor="ctr">
            <a:spAutoFit/>
          </a:bodyPr>
          <a:lstStyle/>
          <a:p>
            <a:pPr algn="l">
              <a:spcAft>
                <a:spcPts val="400"/>
              </a:spcAft>
            </a:pPr>
            <a:r>
              <a:rPr sz="850" b="1" i="0" spc="120">
                <a:solidFill>
                  <a:srgbClr val="1F5EFF"/>
                </a:solidFill>
                <a:latin typeface="Inter"/>
              </a:rPr>
              <a:t>H2</a:t>
            </a:r>
          </a:p>
        </p:txBody>
      </p:sp>
      <p:sp>
        <p:nvSpPr>
          <p:cNvPr id="14" name="TextBox 13"/>
          <p:cNvSpPr txBox="1"/>
          <p:nvPr/>
        </p:nvSpPr>
        <p:spPr>
          <a:xfrm>
            <a:off x="1554480" y="2962656"/>
            <a:ext cx="5486400" cy="566928"/>
          </a:xfrm>
          <a:prstGeom prst="rect">
            <a:avLst/>
          </a:prstGeom>
          <a:noFill/>
        </p:spPr>
        <p:txBody>
          <a:bodyPr wrap="square" lIns="0" rIns="0" tIns="0" bIns="0" anchor="ctr">
            <a:spAutoFit/>
          </a:bodyPr>
          <a:lstStyle/>
          <a:p>
            <a:pPr algn="l">
              <a:spcAft>
                <a:spcPts val="400"/>
              </a:spcAft>
            </a:pPr>
            <a:r>
              <a:rPr sz="2400" b="1" i="0">
                <a:solidFill>
                  <a:srgbClr val="0E1525"/>
                </a:solidFill>
                <a:latin typeface="Inter Display"/>
              </a:rPr>
              <a:t>Headline sample</a:t>
            </a:r>
          </a:p>
        </p:txBody>
      </p:sp>
      <p:sp>
        <p:nvSpPr>
          <p:cNvPr id="15" name="TextBox 14"/>
          <p:cNvSpPr txBox="1"/>
          <p:nvPr/>
        </p:nvSpPr>
        <p:spPr>
          <a:xfrm>
            <a:off x="7223760" y="2962656"/>
            <a:ext cx="4465015" cy="566928"/>
          </a:xfrm>
          <a:prstGeom prst="rect">
            <a:avLst/>
          </a:prstGeom>
          <a:noFill/>
        </p:spPr>
        <p:txBody>
          <a:bodyPr wrap="square" lIns="0" rIns="0" tIns="0" bIns="0" anchor="ctr">
            <a:spAutoFit/>
          </a:bodyPr>
          <a:lstStyle/>
          <a:p>
            <a:pPr algn="l">
              <a:spcAft>
                <a:spcPts val="400"/>
              </a:spcAft>
            </a:pPr>
            <a:r>
              <a:rPr sz="850" b="0" i="0">
                <a:solidFill>
                  <a:srgbClr val="6B778C"/>
                </a:solidFill>
                <a:latin typeface="Inter"/>
              </a:rPr>
              <a:t>Inter Display  |  Semi Bold  |  32px  |  LH 1.2</a:t>
            </a:r>
          </a:p>
        </p:txBody>
      </p:sp>
      <p:sp>
        <p:nvSpPr>
          <p:cNvPr id="16" name="Rectangle 15"/>
          <p:cNvSpPr/>
          <p:nvPr/>
        </p:nvSpPr>
        <p:spPr>
          <a:xfrm>
            <a:off x="502920" y="3511296"/>
            <a:ext cx="11185855"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2920" y="3529584"/>
            <a:ext cx="1005840" cy="566928"/>
          </a:xfrm>
          <a:prstGeom prst="rect">
            <a:avLst/>
          </a:prstGeom>
          <a:noFill/>
        </p:spPr>
        <p:txBody>
          <a:bodyPr wrap="square" lIns="0" rIns="0" tIns="0" bIns="0" anchor="ctr">
            <a:spAutoFit/>
          </a:bodyPr>
          <a:lstStyle/>
          <a:p>
            <a:pPr algn="l">
              <a:spcAft>
                <a:spcPts val="400"/>
              </a:spcAft>
            </a:pPr>
            <a:r>
              <a:rPr sz="850" b="1" i="0" spc="120">
                <a:solidFill>
                  <a:srgbClr val="1F5EFF"/>
                </a:solidFill>
                <a:latin typeface="Inter"/>
              </a:rPr>
              <a:t>H3</a:t>
            </a:r>
          </a:p>
        </p:txBody>
      </p:sp>
      <p:sp>
        <p:nvSpPr>
          <p:cNvPr id="18" name="TextBox 17"/>
          <p:cNvSpPr txBox="1"/>
          <p:nvPr/>
        </p:nvSpPr>
        <p:spPr>
          <a:xfrm>
            <a:off x="1554480" y="3529584"/>
            <a:ext cx="5486400" cy="566928"/>
          </a:xfrm>
          <a:prstGeom prst="rect">
            <a:avLst/>
          </a:prstGeom>
          <a:noFill/>
        </p:spPr>
        <p:txBody>
          <a:bodyPr wrap="square" lIns="0" rIns="0" tIns="0" bIns="0" anchor="ctr">
            <a:spAutoFit/>
          </a:bodyPr>
          <a:lstStyle/>
          <a:p>
            <a:pPr algn="l">
              <a:spcAft>
                <a:spcPts val="400"/>
              </a:spcAft>
            </a:pPr>
            <a:r>
              <a:rPr sz="1800" b="0" i="0">
                <a:solidFill>
                  <a:srgbClr val="0E1525"/>
                </a:solidFill>
                <a:latin typeface="Inter Display"/>
              </a:rPr>
              <a:t>Headline sample</a:t>
            </a:r>
          </a:p>
        </p:txBody>
      </p:sp>
      <p:sp>
        <p:nvSpPr>
          <p:cNvPr id="19" name="TextBox 18"/>
          <p:cNvSpPr txBox="1"/>
          <p:nvPr/>
        </p:nvSpPr>
        <p:spPr>
          <a:xfrm>
            <a:off x="7223760" y="3529584"/>
            <a:ext cx="4465015" cy="566928"/>
          </a:xfrm>
          <a:prstGeom prst="rect">
            <a:avLst/>
          </a:prstGeom>
          <a:noFill/>
        </p:spPr>
        <p:txBody>
          <a:bodyPr wrap="square" lIns="0" rIns="0" tIns="0" bIns="0" anchor="ctr">
            <a:spAutoFit/>
          </a:bodyPr>
          <a:lstStyle/>
          <a:p>
            <a:pPr algn="l">
              <a:spcAft>
                <a:spcPts val="400"/>
              </a:spcAft>
            </a:pPr>
            <a:r>
              <a:rPr sz="850" b="0" i="0">
                <a:solidFill>
                  <a:srgbClr val="6B778C"/>
                </a:solidFill>
                <a:latin typeface="Inter"/>
              </a:rPr>
              <a:t>Inter Display  |  Medium  |  24px  |  LH 1.25</a:t>
            </a:r>
          </a:p>
        </p:txBody>
      </p:sp>
      <p:sp>
        <p:nvSpPr>
          <p:cNvPr id="20" name="Rectangle 19"/>
          <p:cNvSpPr/>
          <p:nvPr/>
        </p:nvSpPr>
        <p:spPr>
          <a:xfrm>
            <a:off x="502920" y="4078224"/>
            <a:ext cx="11185855"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2920" y="4096512"/>
            <a:ext cx="1005840" cy="566928"/>
          </a:xfrm>
          <a:prstGeom prst="rect">
            <a:avLst/>
          </a:prstGeom>
          <a:noFill/>
        </p:spPr>
        <p:txBody>
          <a:bodyPr wrap="square" lIns="0" rIns="0" tIns="0" bIns="0" anchor="ctr">
            <a:spAutoFit/>
          </a:bodyPr>
          <a:lstStyle/>
          <a:p>
            <a:pPr algn="l">
              <a:spcAft>
                <a:spcPts val="400"/>
              </a:spcAft>
            </a:pPr>
            <a:r>
              <a:rPr sz="850" b="1" i="0" spc="120">
                <a:solidFill>
                  <a:srgbClr val="1F5EFF"/>
                </a:solidFill>
                <a:latin typeface="Inter"/>
              </a:rPr>
              <a:t>LEAD</a:t>
            </a:r>
          </a:p>
        </p:txBody>
      </p:sp>
      <p:sp>
        <p:nvSpPr>
          <p:cNvPr id="22" name="TextBox 21"/>
          <p:cNvSpPr txBox="1"/>
          <p:nvPr/>
        </p:nvSpPr>
        <p:spPr>
          <a:xfrm>
            <a:off x="1554480" y="4096512"/>
            <a:ext cx="5486400" cy="566928"/>
          </a:xfrm>
          <a:prstGeom prst="rect">
            <a:avLst/>
          </a:prstGeom>
          <a:noFill/>
        </p:spPr>
        <p:txBody>
          <a:bodyPr wrap="square" lIns="0" rIns="0" tIns="0" bIns="0" anchor="ctr">
            <a:spAutoFit/>
          </a:bodyPr>
          <a:lstStyle/>
          <a:p>
            <a:pPr algn="l">
              <a:spcAft>
                <a:spcPts val="400"/>
              </a:spcAft>
            </a:pPr>
            <a:r>
              <a:rPr sz="1500" b="0" i="0">
                <a:solidFill>
                  <a:srgbClr val="0E1525"/>
                </a:solidFill>
                <a:latin typeface="Inter"/>
              </a:rPr>
              <a:t>The quick brown fox</a:t>
            </a:r>
          </a:p>
        </p:txBody>
      </p:sp>
      <p:sp>
        <p:nvSpPr>
          <p:cNvPr id="23" name="TextBox 22"/>
          <p:cNvSpPr txBox="1"/>
          <p:nvPr/>
        </p:nvSpPr>
        <p:spPr>
          <a:xfrm>
            <a:off x="7223760" y="4096512"/>
            <a:ext cx="4465015" cy="566928"/>
          </a:xfrm>
          <a:prstGeom prst="rect">
            <a:avLst/>
          </a:prstGeom>
          <a:noFill/>
        </p:spPr>
        <p:txBody>
          <a:bodyPr wrap="square" lIns="0" rIns="0" tIns="0" bIns="0" anchor="ctr">
            <a:spAutoFit/>
          </a:bodyPr>
          <a:lstStyle/>
          <a:p>
            <a:pPr algn="l">
              <a:spcAft>
                <a:spcPts val="400"/>
              </a:spcAft>
            </a:pPr>
            <a:r>
              <a:rPr sz="850" b="0" i="0">
                <a:solidFill>
                  <a:srgbClr val="6B778C"/>
                </a:solidFill>
                <a:latin typeface="Inter"/>
              </a:rPr>
              <a:t>Inter  |  Regular  |  20px  |  LH 1.5</a:t>
            </a:r>
          </a:p>
        </p:txBody>
      </p:sp>
      <p:sp>
        <p:nvSpPr>
          <p:cNvPr id="24" name="Rectangle 23"/>
          <p:cNvSpPr/>
          <p:nvPr/>
        </p:nvSpPr>
        <p:spPr>
          <a:xfrm>
            <a:off x="502920" y="4645152"/>
            <a:ext cx="11185855"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02920" y="4663440"/>
            <a:ext cx="1005840" cy="566928"/>
          </a:xfrm>
          <a:prstGeom prst="rect">
            <a:avLst/>
          </a:prstGeom>
          <a:noFill/>
        </p:spPr>
        <p:txBody>
          <a:bodyPr wrap="square" lIns="0" rIns="0" tIns="0" bIns="0" anchor="ctr">
            <a:spAutoFit/>
          </a:bodyPr>
          <a:lstStyle/>
          <a:p>
            <a:pPr algn="l">
              <a:spcAft>
                <a:spcPts val="400"/>
              </a:spcAft>
            </a:pPr>
            <a:r>
              <a:rPr sz="850" b="1" i="0" spc="120">
                <a:solidFill>
                  <a:srgbClr val="1F5EFF"/>
                </a:solidFill>
                <a:latin typeface="Inter"/>
              </a:rPr>
              <a:t>BODY</a:t>
            </a:r>
          </a:p>
        </p:txBody>
      </p:sp>
      <p:sp>
        <p:nvSpPr>
          <p:cNvPr id="26" name="TextBox 25"/>
          <p:cNvSpPr txBox="1"/>
          <p:nvPr/>
        </p:nvSpPr>
        <p:spPr>
          <a:xfrm>
            <a:off x="1554480" y="4663440"/>
            <a:ext cx="5486400" cy="566928"/>
          </a:xfrm>
          <a:prstGeom prst="rect">
            <a:avLst/>
          </a:prstGeom>
          <a:noFill/>
        </p:spPr>
        <p:txBody>
          <a:bodyPr wrap="square" lIns="0" rIns="0" tIns="0" bIns="0" anchor="ctr">
            <a:spAutoFit/>
          </a:bodyPr>
          <a:lstStyle/>
          <a:p>
            <a:pPr algn="l">
              <a:spcAft>
                <a:spcPts val="400"/>
              </a:spcAft>
            </a:pPr>
            <a:r>
              <a:rPr sz="1200" b="0" i="0">
                <a:solidFill>
                  <a:srgbClr val="0E1525"/>
                </a:solidFill>
                <a:latin typeface="Inter"/>
              </a:rPr>
              <a:t>The quick brown fox</a:t>
            </a:r>
          </a:p>
        </p:txBody>
      </p:sp>
      <p:sp>
        <p:nvSpPr>
          <p:cNvPr id="27" name="TextBox 26"/>
          <p:cNvSpPr txBox="1"/>
          <p:nvPr/>
        </p:nvSpPr>
        <p:spPr>
          <a:xfrm>
            <a:off x="7223760" y="4663440"/>
            <a:ext cx="4465015" cy="566928"/>
          </a:xfrm>
          <a:prstGeom prst="rect">
            <a:avLst/>
          </a:prstGeom>
          <a:noFill/>
        </p:spPr>
        <p:txBody>
          <a:bodyPr wrap="square" lIns="0" rIns="0" tIns="0" bIns="0" anchor="ctr">
            <a:spAutoFit/>
          </a:bodyPr>
          <a:lstStyle/>
          <a:p>
            <a:pPr algn="l">
              <a:spcAft>
                <a:spcPts val="400"/>
              </a:spcAft>
            </a:pPr>
            <a:r>
              <a:rPr sz="850" b="0" i="0">
                <a:solidFill>
                  <a:srgbClr val="6B778C"/>
                </a:solidFill>
                <a:latin typeface="Inter"/>
              </a:rPr>
              <a:t>Inter  |  Regular  |  16px  |  LH 1.6</a:t>
            </a:r>
          </a:p>
        </p:txBody>
      </p:sp>
      <p:sp>
        <p:nvSpPr>
          <p:cNvPr id="28" name="Rectangle 27"/>
          <p:cNvSpPr/>
          <p:nvPr/>
        </p:nvSpPr>
        <p:spPr>
          <a:xfrm>
            <a:off x="502920" y="5212080"/>
            <a:ext cx="11185855"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2920" y="5230368"/>
            <a:ext cx="1005840" cy="566928"/>
          </a:xfrm>
          <a:prstGeom prst="rect">
            <a:avLst/>
          </a:prstGeom>
          <a:noFill/>
        </p:spPr>
        <p:txBody>
          <a:bodyPr wrap="square" lIns="0" rIns="0" tIns="0" bIns="0" anchor="ctr">
            <a:spAutoFit/>
          </a:bodyPr>
          <a:lstStyle/>
          <a:p>
            <a:pPr algn="l">
              <a:spcAft>
                <a:spcPts val="400"/>
              </a:spcAft>
            </a:pPr>
            <a:r>
              <a:rPr sz="850" b="1" i="0" spc="120">
                <a:solidFill>
                  <a:srgbClr val="1F5EFF"/>
                </a:solidFill>
                <a:latin typeface="Inter"/>
              </a:rPr>
              <a:t>CAPTION</a:t>
            </a:r>
          </a:p>
        </p:txBody>
      </p:sp>
      <p:sp>
        <p:nvSpPr>
          <p:cNvPr id="30" name="TextBox 29"/>
          <p:cNvSpPr txBox="1"/>
          <p:nvPr/>
        </p:nvSpPr>
        <p:spPr>
          <a:xfrm>
            <a:off x="1554480" y="5230368"/>
            <a:ext cx="5486400" cy="566928"/>
          </a:xfrm>
          <a:prstGeom prst="rect">
            <a:avLst/>
          </a:prstGeom>
          <a:noFill/>
        </p:spPr>
        <p:txBody>
          <a:bodyPr wrap="square" lIns="0" rIns="0" tIns="0" bIns="0" anchor="ctr">
            <a:spAutoFit/>
          </a:bodyPr>
          <a:lstStyle/>
          <a:p>
            <a:pPr algn="l">
              <a:spcAft>
                <a:spcPts val="400"/>
              </a:spcAft>
            </a:pPr>
            <a:r>
              <a:rPr sz="900" b="0" i="0">
                <a:solidFill>
                  <a:srgbClr val="0E1525"/>
                </a:solidFill>
                <a:latin typeface="Inter"/>
              </a:rPr>
              <a:t>The quick brown fox</a:t>
            </a:r>
          </a:p>
        </p:txBody>
      </p:sp>
      <p:sp>
        <p:nvSpPr>
          <p:cNvPr id="31" name="TextBox 30"/>
          <p:cNvSpPr txBox="1"/>
          <p:nvPr/>
        </p:nvSpPr>
        <p:spPr>
          <a:xfrm>
            <a:off x="7223760" y="5230368"/>
            <a:ext cx="4465015" cy="566928"/>
          </a:xfrm>
          <a:prstGeom prst="rect">
            <a:avLst/>
          </a:prstGeom>
          <a:noFill/>
        </p:spPr>
        <p:txBody>
          <a:bodyPr wrap="square" lIns="0" rIns="0" tIns="0" bIns="0" anchor="ctr">
            <a:spAutoFit/>
          </a:bodyPr>
          <a:lstStyle/>
          <a:p>
            <a:pPr algn="l">
              <a:spcAft>
                <a:spcPts val="400"/>
              </a:spcAft>
            </a:pPr>
            <a:r>
              <a:rPr sz="850" b="0" i="0">
                <a:solidFill>
                  <a:srgbClr val="6B778C"/>
                </a:solidFill>
                <a:latin typeface="Inter"/>
              </a:rPr>
              <a:t>Inter  |  Medium  |  12px  |  LH 1.4</a:t>
            </a:r>
          </a:p>
        </p:txBody>
      </p:sp>
      <p:sp>
        <p:nvSpPr>
          <p:cNvPr id="32" name="Rectangle 31"/>
          <p:cNvSpPr/>
          <p:nvPr/>
        </p:nvSpPr>
        <p:spPr>
          <a:xfrm>
            <a:off x="502920" y="5779008"/>
            <a:ext cx="11185855" cy="9144"/>
          </a:xfrm>
          <a:prstGeom prst="rect">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Typography</a:t>
            </a:r>
          </a:p>
        </p:txBody>
      </p:sp>
      <p:sp>
        <p:nvSpPr>
          <p:cNvPr id="34" name="TextBox 33"/>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30 / 41</a:t>
            </a:r>
          </a:p>
        </p:txBody>
      </p:sp>
      <p:pic>
        <p:nvPicPr>
          <p:cNvPr id="35" name="Picture 34"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95097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95097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TYPOGRAPHY</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Typography Rules</a:t>
            </a:r>
          </a:p>
        </p:txBody>
      </p:sp>
      <p:sp>
        <p:nvSpPr>
          <p:cNvPr id="5" name="TextBox 4"/>
          <p:cNvSpPr txBox="1"/>
          <p:nvPr/>
        </p:nvSpPr>
        <p:spPr>
          <a:xfrm>
            <a:off x="502920" y="1645919"/>
            <a:ext cx="5478627" cy="274320"/>
          </a:xfrm>
          <a:prstGeom prst="rect">
            <a:avLst/>
          </a:prstGeom>
          <a:noFill/>
        </p:spPr>
        <p:txBody>
          <a:bodyPr wrap="square" lIns="0" rIns="0" tIns="0" bIns="0" anchor="t">
            <a:spAutoFit/>
          </a:bodyPr>
          <a:lstStyle/>
          <a:p>
            <a:pPr algn="l">
              <a:spcAft>
                <a:spcPts val="400"/>
              </a:spcAft>
            </a:pPr>
            <a:r>
              <a:rPr sz="900" b="1" i="0" spc="150">
                <a:solidFill>
                  <a:srgbClr val="2E9E5B"/>
                </a:solidFill>
                <a:latin typeface="Inter"/>
              </a:rPr>
              <a:t>DO</a:t>
            </a:r>
          </a:p>
        </p:txBody>
      </p:sp>
      <p:sp>
        <p:nvSpPr>
          <p:cNvPr id="6" name="TextBox 5"/>
          <p:cNvSpPr txBox="1"/>
          <p:nvPr/>
        </p:nvSpPr>
        <p:spPr>
          <a:xfrm>
            <a:off x="6210147" y="1645919"/>
            <a:ext cx="5478627" cy="274320"/>
          </a:xfrm>
          <a:prstGeom prst="rect">
            <a:avLst/>
          </a:prstGeom>
          <a:noFill/>
        </p:spPr>
        <p:txBody>
          <a:bodyPr wrap="square" lIns="0" rIns="0" tIns="0" bIns="0" anchor="t">
            <a:spAutoFit/>
          </a:bodyPr>
          <a:lstStyle/>
          <a:p>
            <a:pPr algn="l">
              <a:spcAft>
                <a:spcPts val="400"/>
              </a:spcAft>
            </a:pPr>
            <a:r>
              <a:rPr sz="900" b="1" i="0" spc="150">
                <a:solidFill>
                  <a:srgbClr val="D93025"/>
                </a:solidFill>
                <a:latin typeface="Inter"/>
              </a:rPr>
              <a:t>DON'T</a:t>
            </a:r>
          </a:p>
        </p:txBody>
      </p:sp>
      <p:sp>
        <p:nvSpPr>
          <p:cNvPr id="7" name="Rectangle 6"/>
          <p:cNvSpPr/>
          <p:nvPr/>
        </p:nvSpPr>
        <p:spPr>
          <a:xfrm>
            <a:off x="502920" y="1965960"/>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22376" y="2286000"/>
            <a:ext cx="274320" cy="2743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22376" y="227685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0" name="TextBox 9"/>
          <p:cNvSpPr txBox="1"/>
          <p:nvPr/>
        </p:nvSpPr>
        <p:spPr>
          <a:xfrm>
            <a:off x="1188720" y="203911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Sentence case for all headlines</a:t>
            </a:r>
          </a:p>
        </p:txBody>
      </p:sp>
      <p:sp>
        <p:nvSpPr>
          <p:cNvPr id="11" name="Rectangle 10"/>
          <p:cNvSpPr/>
          <p:nvPr/>
        </p:nvSpPr>
        <p:spPr>
          <a:xfrm>
            <a:off x="502920" y="3017520"/>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22376" y="3337560"/>
            <a:ext cx="274320" cy="2743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332841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4" name="TextBox 13"/>
          <p:cNvSpPr txBox="1"/>
          <p:nvPr/>
        </p:nvSpPr>
        <p:spPr>
          <a:xfrm>
            <a:off x="1188720" y="309067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Headlines in Ink, White, or Halyard Blue only</a:t>
            </a:r>
          </a:p>
        </p:txBody>
      </p:sp>
      <p:sp>
        <p:nvSpPr>
          <p:cNvPr id="15" name="Rectangle 14"/>
          <p:cNvSpPr/>
          <p:nvPr/>
        </p:nvSpPr>
        <p:spPr>
          <a:xfrm>
            <a:off x="502920" y="4069079"/>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22376" y="4389119"/>
            <a:ext cx="274320" cy="2743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22376" y="4379975"/>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8" name="TextBox 17"/>
          <p:cNvSpPr txBox="1"/>
          <p:nvPr/>
        </p:nvSpPr>
        <p:spPr>
          <a:xfrm>
            <a:off x="1188720" y="4142231"/>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Left-align body copy; never justify</a:t>
            </a:r>
          </a:p>
        </p:txBody>
      </p:sp>
      <p:sp>
        <p:nvSpPr>
          <p:cNvPr id="19" name="Rectangle 18"/>
          <p:cNvSpPr/>
          <p:nvPr/>
        </p:nvSpPr>
        <p:spPr>
          <a:xfrm>
            <a:off x="6210147" y="1965960"/>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29603" y="2286000"/>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29603" y="227685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22" name="TextBox 21"/>
          <p:cNvSpPr txBox="1"/>
          <p:nvPr/>
        </p:nvSpPr>
        <p:spPr>
          <a:xfrm>
            <a:off x="6895947" y="203911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Use more than two weights in one layout</a:t>
            </a:r>
          </a:p>
        </p:txBody>
      </p:sp>
      <p:sp>
        <p:nvSpPr>
          <p:cNvPr id="23" name="Rectangle 22"/>
          <p:cNvSpPr/>
          <p:nvPr/>
        </p:nvSpPr>
        <p:spPr>
          <a:xfrm>
            <a:off x="6210147" y="3017520"/>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9603" y="3337560"/>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29603" y="332841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26" name="TextBox 25"/>
          <p:cNvSpPr txBox="1"/>
          <p:nvPr/>
        </p:nvSpPr>
        <p:spPr>
          <a:xfrm>
            <a:off x="6895947" y="309067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Set body copy below 14 px on screen</a:t>
            </a:r>
          </a:p>
        </p:txBody>
      </p:sp>
      <p:sp>
        <p:nvSpPr>
          <p:cNvPr id="27" name="TextBox 26"/>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Typography</a:t>
            </a:r>
          </a:p>
        </p:txBody>
      </p:sp>
      <p:sp>
        <p:nvSpPr>
          <p:cNvPr id="28" name="TextBox 27"/>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31 / 41</a:t>
            </a:r>
          </a:p>
        </p:txBody>
      </p:sp>
      <p:pic>
        <p:nvPicPr>
          <p:cNvPr id="29" name="Picture 28"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TextBox 1"/>
          <p:cNvSpPr txBox="1"/>
          <p:nvPr/>
        </p:nvSpPr>
        <p:spPr>
          <a:xfrm>
            <a:off x="731520" y="2331720"/>
            <a:ext cx="2743200" cy="457200"/>
          </a:xfrm>
          <a:prstGeom prst="rect">
            <a:avLst/>
          </a:prstGeom>
          <a:noFill/>
        </p:spPr>
        <p:txBody>
          <a:bodyPr wrap="square" lIns="0" rIns="0" tIns="0" bIns="0" anchor="t">
            <a:spAutoFit/>
          </a:bodyPr>
          <a:lstStyle/>
          <a:p>
            <a:pPr algn="l">
              <a:spcAft>
                <a:spcPts val="400"/>
              </a:spcAft>
            </a:pPr>
            <a:r>
              <a:rPr sz="1400" b="1" i="0" spc="200">
                <a:solidFill>
                  <a:srgbClr val="1F5EFF"/>
                </a:solidFill>
                <a:latin typeface="Inter"/>
              </a:rPr>
              <a:t>05</a:t>
            </a:r>
          </a:p>
        </p:txBody>
      </p:sp>
      <p:sp>
        <p:nvSpPr>
          <p:cNvPr id="3" name="TextBox 2"/>
          <p:cNvSpPr txBox="1"/>
          <p:nvPr/>
        </p:nvSpPr>
        <p:spPr>
          <a:xfrm>
            <a:off x="731520" y="2697480"/>
            <a:ext cx="8229600" cy="1097280"/>
          </a:xfrm>
          <a:prstGeom prst="rect">
            <a:avLst/>
          </a:prstGeom>
          <a:noFill/>
        </p:spPr>
        <p:txBody>
          <a:bodyPr wrap="square" lIns="0" rIns="0" tIns="0" bIns="0" anchor="t">
            <a:spAutoFit/>
          </a:bodyPr>
          <a:lstStyle/>
          <a:p>
            <a:pPr algn="l">
              <a:spcAft>
                <a:spcPts val="400"/>
              </a:spcAft>
            </a:pPr>
            <a:r>
              <a:rPr sz="4800" b="0" i="0">
                <a:solidFill>
                  <a:srgbClr val="FFFFFF"/>
                </a:solidFill>
                <a:latin typeface="Inter Display"/>
              </a:rPr>
              <a:t>Imagery</a:t>
            </a:r>
          </a:p>
        </p:txBody>
      </p:sp>
      <p:sp>
        <p:nvSpPr>
          <p:cNvPr id="4" name="TextBox 3"/>
          <p:cNvSpPr txBox="1"/>
          <p:nvPr/>
        </p:nvSpPr>
        <p:spPr>
          <a:xfrm>
            <a:off x="731520" y="3840480"/>
            <a:ext cx="6858000" cy="1097280"/>
          </a:xfrm>
          <a:prstGeom prst="rect">
            <a:avLst/>
          </a:prstGeom>
          <a:noFill/>
        </p:spPr>
        <p:txBody>
          <a:bodyPr wrap="square" lIns="0" rIns="0" tIns="0" bIns="0" anchor="t">
            <a:spAutoFit/>
          </a:bodyPr>
          <a:lstStyle/>
          <a:p>
            <a:pPr algn="l">
              <a:spcAft>
                <a:spcPts val="400"/>
              </a:spcAft>
            </a:pPr>
            <a:r>
              <a:rPr sz="1300" b="0" i="0">
                <a:solidFill>
                  <a:srgbClr val="B6C0D0"/>
                </a:solidFill>
                <a:latin typeface="Inter"/>
              </a:rPr>
              <a:t>Photography, illustration, and icons that look and feel like us.</a:t>
            </a:r>
          </a:p>
        </p:txBody>
      </p:sp>
      <p:pic>
        <p:nvPicPr>
          <p:cNvPr id="5" name="Picture 4" descr="image.png"/>
          <p:cNvPicPr>
            <a:picLocks noChangeAspect="1"/>
          </p:cNvPicPr>
          <p:nvPr/>
        </p:nvPicPr>
        <p:blipFill>
          <a:blip r:embed="rId2"/>
          <a:stretch>
            <a:fillRect/>
          </a:stretch>
        </p:blipFill>
        <p:spPr>
          <a:xfrm>
            <a:off x="10957255" y="511159"/>
            <a:ext cx="731520" cy="21212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753465"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753465"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IMAGERY</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Photography</a:t>
            </a:r>
          </a:p>
        </p:txBody>
      </p:sp>
      <p:sp>
        <p:nvSpPr>
          <p:cNvPr id="5" name="TextBox 4"/>
          <p:cNvSpPr txBox="1"/>
          <p:nvPr/>
        </p:nvSpPr>
        <p:spPr>
          <a:xfrm>
            <a:off x="502920" y="1371600"/>
            <a:ext cx="11185855" cy="457200"/>
          </a:xfrm>
          <a:prstGeom prst="rect">
            <a:avLst/>
          </a:prstGeom>
          <a:noFill/>
        </p:spPr>
        <p:txBody>
          <a:bodyPr wrap="square" lIns="0" rIns="0" tIns="0" bIns="0" anchor="t">
            <a:spAutoFit/>
          </a:bodyPr>
          <a:lstStyle/>
          <a:p>
            <a:pPr algn="l">
              <a:spcAft>
                <a:spcPts val="400"/>
              </a:spcAft>
            </a:pPr>
            <a:r>
              <a:rPr sz="1100" b="0" i="0">
                <a:solidFill>
                  <a:srgbClr val="6B778C"/>
                </a:solidFill>
                <a:latin typeface="Inter"/>
              </a:rPr>
              <a:t>Real practitioners at work, in natural light.</a:t>
            </a:r>
          </a:p>
        </p:txBody>
      </p:sp>
      <p:sp>
        <p:nvSpPr>
          <p:cNvPr id="6" name="TextBox 5"/>
          <p:cNvSpPr txBox="1"/>
          <p:nvPr/>
        </p:nvSpPr>
        <p:spPr>
          <a:xfrm>
            <a:off x="502920" y="1874519"/>
            <a:ext cx="5478627" cy="274320"/>
          </a:xfrm>
          <a:prstGeom prst="rect">
            <a:avLst/>
          </a:prstGeom>
          <a:noFill/>
        </p:spPr>
        <p:txBody>
          <a:bodyPr wrap="square" lIns="0" rIns="0" tIns="0" bIns="0" anchor="t">
            <a:spAutoFit/>
          </a:bodyPr>
          <a:lstStyle/>
          <a:p>
            <a:pPr algn="l">
              <a:spcAft>
                <a:spcPts val="400"/>
              </a:spcAft>
            </a:pPr>
            <a:r>
              <a:rPr sz="900" b="1" i="0" spc="150">
                <a:solidFill>
                  <a:srgbClr val="2E9E5B"/>
                </a:solidFill>
                <a:latin typeface="Inter"/>
              </a:rPr>
              <a:t>DO</a:t>
            </a:r>
          </a:p>
        </p:txBody>
      </p:sp>
      <p:sp>
        <p:nvSpPr>
          <p:cNvPr id="7" name="TextBox 6"/>
          <p:cNvSpPr txBox="1"/>
          <p:nvPr/>
        </p:nvSpPr>
        <p:spPr>
          <a:xfrm>
            <a:off x="6210147" y="1874519"/>
            <a:ext cx="5478627" cy="274320"/>
          </a:xfrm>
          <a:prstGeom prst="rect">
            <a:avLst/>
          </a:prstGeom>
          <a:noFill/>
        </p:spPr>
        <p:txBody>
          <a:bodyPr wrap="square" lIns="0" rIns="0" tIns="0" bIns="0" anchor="t">
            <a:spAutoFit/>
          </a:bodyPr>
          <a:lstStyle/>
          <a:p>
            <a:pPr algn="l">
              <a:spcAft>
                <a:spcPts val="400"/>
              </a:spcAft>
            </a:pPr>
            <a:r>
              <a:rPr sz="900" b="1" i="0" spc="150">
                <a:solidFill>
                  <a:srgbClr val="D93025"/>
                </a:solidFill>
                <a:latin typeface="Inter"/>
              </a:rPr>
              <a:t>DON'T</a:t>
            </a:r>
          </a:p>
        </p:txBody>
      </p:sp>
      <p:sp>
        <p:nvSpPr>
          <p:cNvPr id="8" name="Rectangle 7"/>
          <p:cNvSpPr/>
          <p:nvPr/>
        </p:nvSpPr>
        <p:spPr>
          <a:xfrm>
            <a:off x="502920" y="2194560"/>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2376" y="2514600"/>
            <a:ext cx="274320" cy="2743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376" y="250545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1" name="TextBox 10"/>
          <p:cNvSpPr txBox="1"/>
          <p:nvPr/>
        </p:nvSpPr>
        <p:spPr>
          <a:xfrm>
            <a:off x="1188720" y="226771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Real people: Candid, never posed.</a:t>
            </a:r>
          </a:p>
        </p:txBody>
      </p:sp>
      <p:sp>
        <p:nvSpPr>
          <p:cNvPr id="12" name="Rectangle 11"/>
          <p:cNvSpPr/>
          <p:nvPr/>
        </p:nvSpPr>
        <p:spPr>
          <a:xfrm>
            <a:off x="502920" y="3246120"/>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22376" y="3566160"/>
            <a:ext cx="274320" cy="2743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22376" y="355701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5" name="TextBox 14"/>
          <p:cNvSpPr txBox="1"/>
          <p:nvPr/>
        </p:nvSpPr>
        <p:spPr>
          <a:xfrm>
            <a:off x="1188720" y="331927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Natural light: Daylight, soft shadows.</a:t>
            </a:r>
          </a:p>
        </p:txBody>
      </p:sp>
      <p:sp>
        <p:nvSpPr>
          <p:cNvPr id="16" name="Rectangle 15"/>
          <p:cNvSpPr/>
          <p:nvPr/>
        </p:nvSpPr>
        <p:spPr>
          <a:xfrm>
            <a:off x="502920" y="4297679"/>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2376" y="4617719"/>
            <a:ext cx="274320" cy="27432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2376" y="4608575"/>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19" name="TextBox 18"/>
          <p:cNvSpPr txBox="1"/>
          <p:nvPr/>
        </p:nvSpPr>
        <p:spPr>
          <a:xfrm>
            <a:off x="1188720" y="4370831"/>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Calm focus: Concentration, not panic.</a:t>
            </a:r>
          </a:p>
        </p:txBody>
      </p:sp>
      <p:sp>
        <p:nvSpPr>
          <p:cNvPr id="20" name="Rectangle 19"/>
          <p:cNvSpPr/>
          <p:nvPr/>
        </p:nvSpPr>
        <p:spPr>
          <a:xfrm>
            <a:off x="6210147" y="2194560"/>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29603" y="2514600"/>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29603" y="250545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23" name="TextBox 22"/>
          <p:cNvSpPr txBox="1"/>
          <p:nvPr/>
        </p:nvSpPr>
        <p:spPr>
          <a:xfrm>
            <a:off x="6895947" y="226771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Hooded hackers or green code rain</a:t>
            </a:r>
          </a:p>
        </p:txBody>
      </p:sp>
      <p:sp>
        <p:nvSpPr>
          <p:cNvPr id="24" name="Rectangle 23"/>
          <p:cNvSpPr/>
          <p:nvPr/>
        </p:nvSpPr>
        <p:spPr>
          <a:xfrm>
            <a:off x="6210147" y="3246120"/>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429603" y="3566160"/>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29603" y="3557016"/>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27" name="TextBox 26"/>
          <p:cNvSpPr txBox="1"/>
          <p:nvPr/>
        </p:nvSpPr>
        <p:spPr>
          <a:xfrm>
            <a:off x="6895947" y="331927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Padlocks, shields, and stock 'cyber' clichés</a:t>
            </a:r>
          </a:p>
        </p:txBody>
      </p:sp>
      <p:sp>
        <p:nvSpPr>
          <p:cNvPr id="28" name="Rectangle 27"/>
          <p:cNvSpPr/>
          <p:nvPr/>
        </p:nvSpPr>
        <p:spPr>
          <a:xfrm>
            <a:off x="6210147" y="4297679"/>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429603" y="4617719"/>
            <a:ext cx="274320" cy="27432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29603" y="4608575"/>
            <a:ext cx="274320" cy="274320"/>
          </a:xfrm>
          <a:prstGeom prst="rect">
            <a:avLst/>
          </a:prstGeom>
          <a:noFill/>
        </p:spPr>
        <p:txBody>
          <a:bodyPr wrap="square" lIns="0" rIns="0" tIns="0" bIns="0" anchor="ctr">
            <a:spAutoFit/>
          </a:bodyPr>
          <a:lstStyle/>
          <a:p>
            <a:pPr algn="ctr">
              <a:spcAft>
                <a:spcPts val="400"/>
              </a:spcAft>
            </a:pPr>
            <a:r>
              <a:rPr sz="1100" b="1" i="0">
                <a:solidFill>
                  <a:srgbClr val="FFFFFF"/>
                </a:solidFill>
                <a:latin typeface="Arial"/>
              </a:rPr>
              <a:t>✕</a:t>
            </a:r>
          </a:p>
        </p:txBody>
      </p:sp>
      <p:sp>
        <p:nvSpPr>
          <p:cNvPr id="31" name="TextBox 30"/>
          <p:cNvSpPr txBox="1"/>
          <p:nvPr/>
        </p:nvSpPr>
        <p:spPr>
          <a:xfrm>
            <a:off x="6895947" y="4370831"/>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Staged handshakes</a:t>
            </a:r>
          </a:p>
        </p:txBody>
      </p:sp>
      <p:sp>
        <p:nvSpPr>
          <p:cNvPr id="32" name="TextBox 31"/>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Imagery</a:t>
            </a:r>
          </a:p>
        </p:txBody>
      </p:sp>
      <p:sp>
        <p:nvSpPr>
          <p:cNvPr id="33" name="TextBox 32"/>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33 / 41</a:t>
            </a:r>
          </a:p>
        </p:txBody>
      </p:sp>
      <p:pic>
        <p:nvPicPr>
          <p:cNvPr id="34" name="Picture 33"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TextBox 1"/>
          <p:cNvSpPr txBox="1"/>
          <p:nvPr/>
        </p:nvSpPr>
        <p:spPr>
          <a:xfrm>
            <a:off x="731520" y="2331720"/>
            <a:ext cx="2743200" cy="457200"/>
          </a:xfrm>
          <a:prstGeom prst="rect">
            <a:avLst/>
          </a:prstGeom>
          <a:noFill/>
        </p:spPr>
        <p:txBody>
          <a:bodyPr wrap="square" lIns="0" rIns="0" tIns="0" bIns="0" anchor="t">
            <a:spAutoFit/>
          </a:bodyPr>
          <a:lstStyle/>
          <a:p>
            <a:pPr algn="l">
              <a:spcAft>
                <a:spcPts val="400"/>
              </a:spcAft>
            </a:pPr>
            <a:r>
              <a:rPr sz="1400" b="1" i="0" spc="200">
                <a:solidFill>
                  <a:srgbClr val="1F5EFF"/>
                </a:solidFill>
                <a:latin typeface="Inter"/>
              </a:rPr>
              <a:t>06</a:t>
            </a:r>
          </a:p>
        </p:txBody>
      </p:sp>
      <p:sp>
        <p:nvSpPr>
          <p:cNvPr id="3" name="TextBox 2"/>
          <p:cNvSpPr txBox="1"/>
          <p:nvPr/>
        </p:nvSpPr>
        <p:spPr>
          <a:xfrm>
            <a:off x="731520" y="2697480"/>
            <a:ext cx="8229600" cy="1097280"/>
          </a:xfrm>
          <a:prstGeom prst="rect">
            <a:avLst/>
          </a:prstGeom>
          <a:noFill/>
        </p:spPr>
        <p:txBody>
          <a:bodyPr wrap="square" lIns="0" rIns="0" tIns="0" bIns="0" anchor="t">
            <a:spAutoFit/>
          </a:bodyPr>
          <a:lstStyle/>
          <a:p>
            <a:pPr algn="l">
              <a:spcAft>
                <a:spcPts val="400"/>
              </a:spcAft>
            </a:pPr>
            <a:r>
              <a:rPr sz="4800" b="0" i="0">
                <a:solidFill>
                  <a:srgbClr val="FFFFFF"/>
                </a:solidFill>
                <a:latin typeface="Inter Display"/>
              </a:rPr>
              <a:t>Writing Style</a:t>
            </a:r>
          </a:p>
        </p:txBody>
      </p:sp>
      <p:sp>
        <p:nvSpPr>
          <p:cNvPr id="4" name="TextBox 3"/>
          <p:cNvSpPr txBox="1"/>
          <p:nvPr/>
        </p:nvSpPr>
        <p:spPr>
          <a:xfrm>
            <a:off x="731520" y="3840480"/>
            <a:ext cx="6858000" cy="1097280"/>
          </a:xfrm>
          <a:prstGeom prst="rect">
            <a:avLst/>
          </a:prstGeom>
          <a:noFill/>
        </p:spPr>
        <p:txBody>
          <a:bodyPr wrap="square" lIns="0" rIns="0" tIns="0" bIns="0" anchor="t">
            <a:spAutoFit/>
          </a:bodyPr>
          <a:lstStyle/>
          <a:p>
            <a:pPr algn="l">
              <a:spcAft>
                <a:spcPts val="400"/>
              </a:spcAft>
            </a:pPr>
            <a:r>
              <a:rPr sz="1300" b="0" i="0">
                <a:solidFill>
                  <a:srgbClr val="B6C0D0"/>
                </a:solidFill>
                <a:latin typeface="Inter"/>
              </a:rPr>
              <a:t>How we write about ourselves and our products.</a:t>
            </a:r>
          </a:p>
        </p:txBody>
      </p:sp>
      <p:pic>
        <p:nvPicPr>
          <p:cNvPr id="5" name="Picture 4" descr="image.png"/>
          <p:cNvPicPr>
            <a:picLocks noChangeAspect="1"/>
          </p:cNvPicPr>
          <p:nvPr/>
        </p:nvPicPr>
        <p:blipFill>
          <a:blip r:embed="rId2"/>
          <a:stretch>
            <a:fillRect/>
          </a:stretch>
        </p:blipFill>
        <p:spPr>
          <a:xfrm>
            <a:off x="10957255" y="511159"/>
            <a:ext cx="731520" cy="21212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114848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114848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WRITING STYLE</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Company and Product Names</a:t>
            </a:r>
          </a:p>
        </p:txBody>
      </p:sp>
      <p:sp>
        <p:nvSpPr>
          <p:cNvPr id="5" name="Rectangle 4"/>
          <p:cNvSpPr/>
          <p:nvPr/>
        </p:nvSpPr>
        <p:spPr>
          <a:xfrm>
            <a:off x="502920" y="1645920"/>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04088" y="1947672"/>
            <a:ext cx="310896" cy="310896"/>
          </a:xfrm>
          <a:prstGeom prst="ellipse">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4088" y="1938527"/>
            <a:ext cx="310896" cy="310896"/>
          </a:xfrm>
          <a:prstGeom prst="rect">
            <a:avLst/>
          </a:prstGeom>
          <a:noFill/>
        </p:spPr>
        <p:txBody>
          <a:bodyPr wrap="square" lIns="0" rIns="0" tIns="0" bIns="0" anchor="ctr">
            <a:spAutoFit/>
          </a:bodyPr>
          <a:lstStyle/>
          <a:p>
            <a:pPr algn="ctr">
              <a:spcAft>
                <a:spcPts val="400"/>
              </a:spcAft>
            </a:pPr>
            <a:r>
              <a:rPr sz="1000" b="1" i="0">
                <a:solidFill>
                  <a:srgbClr val="FFFFFF"/>
                </a:solidFill>
                <a:latin typeface="Inter"/>
              </a:rPr>
              <a:t>1</a:t>
            </a:r>
          </a:p>
        </p:txBody>
      </p:sp>
      <p:sp>
        <p:nvSpPr>
          <p:cNvPr id="8" name="TextBox 7"/>
          <p:cNvSpPr txBox="1"/>
          <p:nvPr/>
        </p:nvSpPr>
        <p:spPr>
          <a:xfrm>
            <a:off x="1188720" y="1719072"/>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Halyard, never HALYARD or Halyard Labs</a:t>
            </a:r>
          </a:p>
        </p:txBody>
      </p:sp>
      <p:sp>
        <p:nvSpPr>
          <p:cNvPr id="9" name="Rectangle 8"/>
          <p:cNvSpPr/>
          <p:nvPr/>
        </p:nvSpPr>
        <p:spPr>
          <a:xfrm>
            <a:off x="502920" y="2697480"/>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04088" y="2999232"/>
            <a:ext cx="310896" cy="310896"/>
          </a:xfrm>
          <a:prstGeom prst="ellipse">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4088" y="2990088"/>
            <a:ext cx="310896" cy="310896"/>
          </a:xfrm>
          <a:prstGeom prst="rect">
            <a:avLst/>
          </a:prstGeom>
          <a:noFill/>
        </p:spPr>
        <p:txBody>
          <a:bodyPr wrap="square" lIns="0" rIns="0" tIns="0" bIns="0" anchor="ctr">
            <a:spAutoFit/>
          </a:bodyPr>
          <a:lstStyle/>
          <a:p>
            <a:pPr algn="ctr">
              <a:spcAft>
                <a:spcPts val="400"/>
              </a:spcAft>
            </a:pPr>
            <a:r>
              <a:rPr sz="1000" b="1" i="0">
                <a:solidFill>
                  <a:srgbClr val="FFFFFF"/>
                </a:solidFill>
                <a:latin typeface="Inter"/>
              </a:rPr>
              <a:t>2</a:t>
            </a:r>
          </a:p>
        </p:txBody>
      </p:sp>
      <p:sp>
        <p:nvSpPr>
          <p:cNvPr id="12" name="TextBox 11"/>
          <p:cNvSpPr txBox="1"/>
          <p:nvPr/>
        </p:nvSpPr>
        <p:spPr>
          <a:xfrm>
            <a:off x="1188720" y="2770632"/>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The Halyard platform on first reference, then Halyard</a:t>
            </a:r>
          </a:p>
        </p:txBody>
      </p:sp>
      <p:sp>
        <p:nvSpPr>
          <p:cNvPr id="13" name="Rectangle 12"/>
          <p:cNvSpPr/>
          <p:nvPr/>
        </p:nvSpPr>
        <p:spPr>
          <a:xfrm>
            <a:off x="502920" y="3749039"/>
            <a:ext cx="11185855"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04088" y="4050791"/>
            <a:ext cx="310896" cy="310896"/>
          </a:xfrm>
          <a:prstGeom prst="ellipse">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04088" y="4041648"/>
            <a:ext cx="310896" cy="310896"/>
          </a:xfrm>
          <a:prstGeom prst="rect">
            <a:avLst/>
          </a:prstGeom>
          <a:noFill/>
        </p:spPr>
        <p:txBody>
          <a:bodyPr wrap="square" lIns="0" rIns="0" tIns="0" bIns="0" anchor="ctr">
            <a:spAutoFit/>
          </a:bodyPr>
          <a:lstStyle/>
          <a:p>
            <a:pPr algn="ctr">
              <a:spcAft>
                <a:spcPts val="400"/>
              </a:spcAft>
            </a:pPr>
            <a:r>
              <a:rPr sz="1000" b="1" i="0">
                <a:solidFill>
                  <a:srgbClr val="FFFFFF"/>
                </a:solidFill>
                <a:latin typeface="Inter"/>
              </a:rPr>
              <a:t>3</a:t>
            </a:r>
          </a:p>
        </p:txBody>
      </p:sp>
      <p:sp>
        <p:nvSpPr>
          <p:cNvPr id="16" name="TextBox 15"/>
          <p:cNvSpPr txBox="1"/>
          <p:nvPr/>
        </p:nvSpPr>
        <p:spPr>
          <a:xfrm>
            <a:off x="1188720" y="3822191"/>
            <a:ext cx="10317175"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Do not add 'Halyard' in front of feature names</a:t>
            </a:r>
          </a:p>
        </p:txBody>
      </p:sp>
      <p:sp>
        <p:nvSpPr>
          <p:cNvPr id="17" name="TextBox 16"/>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Writing Style</a:t>
            </a:r>
          </a:p>
        </p:txBody>
      </p:sp>
      <p:sp>
        <p:nvSpPr>
          <p:cNvPr id="18" name="TextBox 17"/>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35 / 41</a:t>
            </a:r>
          </a:p>
        </p:txBody>
      </p:sp>
      <p:pic>
        <p:nvPicPr>
          <p:cNvPr id="19" name="Picture 18"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114848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114848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WRITING STYLE</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Preferred Terms</a:t>
            </a:r>
          </a:p>
        </p:txBody>
      </p:sp>
      <p:graphicFrame>
        <p:nvGraphicFramePr>
          <p:cNvPr id="5" name="Table 4"/>
          <p:cNvGraphicFramePr>
            <a:graphicFrameLocks noGrp="1"/>
          </p:cNvGraphicFramePr>
          <p:nvPr/>
        </p:nvGraphicFramePr>
        <p:xfrm>
          <a:off x="502920" y="1600200"/>
          <a:ext cx="11185855" cy="1920240"/>
        </p:xfrm>
        <a:graphic>
          <a:graphicData uri="http://schemas.openxmlformats.org/drawingml/2006/table">
            <a:tbl>
              <a:tblPr firstRow="1" bandRow="1">
                <a:tableStyleId>{5C22544A-7EE6-4342-B048-85BDC9FD1C3A}</a:tableStyleId>
              </a:tblPr>
              <a:tblGrid>
                <a:gridCol w="2926080"/>
                <a:gridCol w="2926080"/>
                <a:gridCol w="5333695"/>
              </a:tblGrid>
              <a:tr h="384048">
                <a:tc>
                  <a:txBody>
                    <a:bodyPr/>
                    <a:lstStyle/>
                    <a:p>
                      <a:r>
                        <a:rPr sz="1000" b="1">
                          <a:solidFill>
                            <a:srgbClr val="FFFFFF"/>
                          </a:solidFill>
                          <a:latin typeface="Inter"/>
                        </a:rPr>
                        <a:t>Use</a:t>
                      </a:r>
                    </a:p>
                  </a:txBody>
                  <a:tcPr anchor="ctr">
                    <a:solidFill>
                      <a:srgbClr val="0E1525"/>
                    </a:solidFill>
                  </a:tcPr>
                </a:tc>
                <a:tc>
                  <a:txBody>
                    <a:bodyPr/>
                    <a:lstStyle/>
                    <a:p>
                      <a:r>
                        <a:rPr sz="1000" b="1">
                          <a:solidFill>
                            <a:srgbClr val="FFFFFF"/>
                          </a:solidFill>
                          <a:latin typeface="Inter"/>
                        </a:rPr>
                        <a:t>Instead of</a:t>
                      </a:r>
                    </a:p>
                  </a:txBody>
                  <a:tcPr anchor="ctr">
                    <a:solidFill>
                      <a:srgbClr val="0E1525"/>
                    </a:solidFill>
                  </a:tcPr>
                </a:tc>
                <a:tc>
                  <a:txBody>
                    <a:bodyPr/>
                    <a:lstStyle/>
                    <a:p>
                      <a:r>
                        <a:rPr sz="1000" b="1">
                          <a:solidFill>
                            <a:srgbClr val="FFFFFF"/>
                          </a:solidFill>
                          <a:latin typeface="Inter"/>
                        </a:rPr>
                        <a:t>Why / note</a:t>
                      </a:r>
                    </a:p>
                  </a:txBody>
                  <a:tcPr anchor="ctr">
                    <a:solidFill>
                      <a:srgbClr val="0E1525"/>
                    </a:solidFill>
                  </a:tcPr>
                </a:tc>
              </a:tr>
              <a:tr h="384048">
                <a:tc>
                  <a:txBody>
                    <a:bodyPr/>
                    <a:lstStyle/>
                    <a:p>
                      <a:r>
                        <a:rPr sz="1000" b="1">
                          <a:solidFill>
                            <a:srgbClr val="0E1525"/>
                          </a:solidFill>
                          <a:latin typeface="Inter"/>
                        </a:rPr>
                        <a:t>threat</a:t>
                      </a:r>
                    </a:p>
                  </a:txBody>
                  <a:tcPr anchor="ctr">
                    <a:solidFill>
                      <a:srgbClr val="FFFFFF"/>
                    </a:solidFill>
                  </a:tcPr>
                </a:tc>
                <a:tc>
                  <a:txBody>
                    <a:bodyPr/>
                    <a:lstStyle/>
                    <a:p>
                      <a:r>
                        <a:rPr sz="1000" b="0">
                          <a:solidFill>
                            <a:srgbClr val="C0392B"/>
                          </a:solidFill>
                          <a:latin typeface="Inter"/>
                        </a:rPr>
                        <a:t>attack (when the tactic is unknown)</a:t>
                      </a:r>
                    </a:p>
                  </a:txBody>
                  <a:tcPr anchor="ctr">
                    <a:solidFill>
                      <a:srgbClr val="FFFFFF"/>
                    </a:solidFill>
                  </a:tcPr>
                </a:tc>
                <a:tc>
                  <a:txBody>
                    <a:bodyPr/>
                    <a:lstStyle/>
                    <a:p>
                      <a:r>
                        <a:rPr sz="1000" b="0">
                          <a:solidFill>
                            <a:srgbClr val="6B778C"/>
                          </a:solidFill>
                          <a:latin typeface="Inter"/>
                        </a:rPr>
                        <a:t>Broader and more accurate</a:t>
                      </a:r>
                    </a:p>
                  </a:txBody>
                  <a:tcPr anchor="ctr">
                    <a:solidFill>
                      <a:srgbClr val="FFFFFF"/>
                    </a:solidFill>
                  </a:tcPr>
                </a:tc>
              </a:tr>
              <a:tr h="384048">
                <a:tc>
                  <a:txBody>
                    <a:bodyPr/>
                    <a:lstStyle/>
                    <a:p>
                      <a:r>
                        <a:rPr sz="1000" b="1">
                          <a:solidFill>
                            <a:srgbClr val="0E1525"/>
                          </a:solidFill>
                          <a:latin typeface="Inter"/>
                        </a:rPr>
                        <a:t>AI</a:t>
                      </a:r>
                    </a:p>
                  </a:txBody>
                  <a:tcPr anchor="ctr">
                    <a:solidFill>
                      <a:srgbClr val="F4F6FA"/>
                    </a:solidFill>
                  </a:tcPr>
                </a:tc>
                <a:tc>
                  <a:txBody>
                    <a:bodyPr/>
                    <a:lstStyle/>
                    <a:p>
                      <a:r>
                        <a:rPr sz="1000" b="0">
                          <a:solidFill>
                            <a:srgbClr val="C0392B"/>
                          </a:solidFill>
                          <a:latin typeface="Inter"/>
                        </a:rPr>
                        <a:t>AI and machine learning</a:t>
                      </a:r>
                    </a:p>
                  </a:txBody>
                  <a:tcPr anchor="ctr">
                    <a:solidFill>
                      <a:srgbClr val="F4F6FA"/>
                    </a:solidFill>
                  </a:tcPr>
                </a:tc>
                <a:tc>
                  <a:txBody>
                    <a:bodyPr/>
                    <a:lstStyle/>
                    <a:p>
                      <a:r>
                        <a:rPr sz="1000" b="0">
                          <a:solidFill>
                            <a:srgbClr val="6B778C"/>
                          </a:solidFill>
                          <a:latin typeface="Inter"/>
                        </a:rPr>
                        <a:t>Redundant together</a:t>
                      </a:r>
                    </a:p>
                  </a:txBody>
                  <a:tcPr anchor="ctr">
                    <a:solidFill>
                      <a:srgbClr val="F4F6FA"/>
                    </a:solidFill>
                  </a:tcPr>
                </a:tc>
              </a:tr>
              <a:tr h="384048">
                <a:tc>
                  <a:txBody>
                    <a:bodyPr/>
                    <a:lstStyle/>
                    <a:p>
                      <a:r>
                        <a:rPr sz="1000" b="1">
                          <a:solidFill>
                            <a:srgbClr val="0E1525"/>
                          </a:solidFill>
                          <a:latin typeface="Inter"/>
                        </a:rPr>
                        <a:t>cybersecurity</a:t>
                      </a:r>
                    </a:p>
                  </a:txBody>
                  <a:tcPr anchor="ctr">
                    <a:solidFill>
                      <a:srgbClr val="FFFFFF"/>
                    </a:solidFill>
                  </a:tcPr>
                </a:tc>
                <a:tc>
                  <a:txBody>
                    <a:bodyPr/>
                    <a:lstStyle/>
                    <a:p>
                      <a:r>
                        <a:rPr sz="1000" b="0">
                          <a:solidFill>
                            <a:srgbClr val="C0392B"/>
                          </a:solidFill>
                          <a:latin typeface="Inter"/>
                        </a:rPr>
                        <a:t>cyber security</a:t>
                      </a:r>
                    </a:p>
                  </a:txBody>
                  <a:tcPr anchor="ctr">
                    <a:solidFill>
                      <a:srgbClr val="FFFFFF"/>
                    </a:solidFill>
                  </a:tcPr>
                </a:tc>
                <a:tc>
                  <a:txBody>
                    <a:bodyPr/>
                    <a:lstStyle/>
                    <a:p>
                      <a:r>
                        <a:rPr sz="1000" b="0">
                          <a:solidFill>
                            <a:srgbClr val="6B778C"/>
                          </a:solidFill>
                          <a:latin typeface="Inter"/>
                        </a:rPr>
                        <a:t>One word</a:t>
                      </a:r>
                    </a:p>
                  </a:txBody>
                  <a:tcPr anchor="ctr">
                    <a:solidFill>
                      <a:srgbClr val="FFFFFF"/>
                    </a:solidFill>
                  </a:tcPr>
                </a:tc>
              </a:tr>
              <a:tr h="384048">
                <a:tc>
                  <a:txBody>
                    <a:bodyPr/>
                    <a:lstStyle/>
                    <a:p>
                      <a:r>
                        <a:rPr sz="1000" b="1">
                          <a:solidFill>
                            <a:srgbClr val="0E1525"/>
                          </a:solidFill>
                          <a:latin typeface="Inter"/>
                        </a:rPr>
                        <a:t>sign in</a:t>
                      </a:r>
                    </a:p>
                  </a:txBody>
                  <a:tcPr anchor="ctr">
                    <a:solidFill>
                      <a:srgbClr val="F4F6FA"/>
                    </a:solidFill>
                  </a:tcPr>
                </a:tc>
                <a:tc>
                  <a:txBody>
                    <a:bodyPr/>
                    <a:lstStyle/>
                    <a:p>
                      <a:r>
                        <a:rPr sz="1000" b="0">
                          <a:solidFill>
                            <a:srgbClr val="C0392B"/>
                          </a:solidFill>
                          <a:latin typeface="Inter"/>
                        </a:rPr>
                        <a:t>login (as a verb)</a:t>
                      </a:r>
                    </a:p>
                  </a:txBody>
                  <a:tcPr anchor="ctr">
                    <a:solidFill>
                      <a:srgbClr val="F4F6FA"/>
                    </a:solidFill>
                  </a:tcPr>
                </a:tc>
                <a:tc>
                  <a:txBody>
                    <a:bodyPr/>
                    <a:lstStyle/>
                    <a:p>
                      <a:r>
                        <a:rPr sz="1000" b="0">
                          <a:solidFill>
                            <a:srgbClr val="6B778C"/>
                          </a:solidFill>
                          <a:latin typeface="Inter"/>
                        </a:rPr>
                        <a:t>Login is a noun</a:t>
                      </a:r>
                    </a:p>
                  </a:txBody>
                  <a:tcPr anchor="ctr">
                    <a:solidFill>
                      <a:srgbClr val="F4F6FA"/>
                    </a:solidFill>
                  </a:tcPr>
                </a:tc>
              </a:tr>
            </a:tbl>
          </a:graphicData>
        </a:graphic>
      </p:graphicFrame>
      <p:sp>
        <p:nvSpPr>
          <p:cNvPr id="6" name="TextBox 5"/>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Writing Style</a:t>
            </a:r>
          </a:p>
        </p:txBody>
      </p:sp>
      <p:sp>
        <p:nvSpPr>
          <p:cNvPr id="7" name="TextBox 6"/>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36 / 41</a:t>
            </a:r>
          </a:p>
        </p:txBody>
      </p:sp>
      <p:pic>
        <p:nvPicPr>
          <p:cNvPr id="8" name="Picture 7"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114848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114848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WRITING STYLE</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Formatting Rules</a:t>
            </a:r>
          </a:p>
        </p:txBody>
      </p:sp>
      <p:sp>
        <p:nvSpPr>
          <p:cNvPr id="5" name="TextBox 4"/>
          <p:cNvSpPr txBox="1"/>
          <p:nvPr/>
        </p:nvSpPr>
        <p:spPr>
          <a:xfrm>
            <a:off x="502920" y="1371600"/>
            <a:ext cx="11185855" cy="457200"/>
          </a:xfrm>
          <a:prstGeom prst="rect">
            <a:avLst/>
          </a:prstGeom>
          <a:noFill/>
        </p:spPr>
        <p:txBody>
          <a:bodyPr wrap="square" lIns="0" rIns="0" tIns="0" bIns="0" anchor="t">
            <a:spAutoFit/>
          </a:bodyPr>
          <a:lstStyle/>
          <a:p>
            <a:pPr algn="l">
              <a:spcAft>
                <a:spcPts val="400"/>
              </a:spcAft>
            </a:pPr>
            <a:r>
              <a:rPr sz="1100" b="0" i="0">
                <a:solidFill>
                  <a:srgbClr val="6B778C"/>
                </a:solidFill>
                <a:latin typeface="Inter"/>
              </a:rPr>
              <a:t>For anything not covered here, follow the AP Stylebook.</a:t>
            </a:r>
          </a:p>
        </p:txBody>
      </p:sp>
      <p:sp>
        <p:nvSpPr>
          <p:cNvPr id="6" name="Rectangle 5"/>
          <p:cNvSpPr/>
          <p:nvPr/>
        </p:nvSpPr>
        <p:spPr>
          <a:xfrm>
            <a:off x="502920" y="1874519"/>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04088" y="2176272"/>
            <a:ext cx="310896" cy="310896"/>
          </a:xfrm>
          <a:prstGeom prst="ellipse">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4088" y="2167127"/>
            <a:ext cx="310896" cy="310896"/>
          </a:xfrm>
          <a:prstGeom prst="rect">
            <a:avLst/>
          </a:prstGeom>
          <a:noFill/>
        </p:spPr>
        <p:txBody>
          <a:bodyPr wrap="square" lIns="0" rIns="0" tIns="0" bIns="0" anchor="ctr">
            <a:spAutoFit/>
          </a:bodyPr>
          <a:lstStyle/>
          <a:p>
            <a:pPr algn="ctr">
              <a:spcAft>
                <a:spcPts val="400"/>
              </a:spcAft>
            </a:pPr>
            <a:r>
              <a:rPr sz="1000" b="1" i="0">
                <a:solidFill>
                  <a:srgbClr val="FFFFFF"/>
                </a:solidFill>
                <a:latin typeface="Inter"/>
              </a:rPr>
              <a:t>1</a:t>
            </a:r>
          </a:p>
        </p:txBody>
      </p:sp>
      <p:sp>
        <p:nvSpPr>
          <p:cNvPr id="9" name="TextBox 8"/>
          <p:cNvSpPr txBox="1"/>
          <p:nvPr/>
        </p:nvSpPr>
        <p:spPr>
          <a:xfrm>
            <a:off x="1188720" y="194767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Always use the Oxford comma</a:t>
            </a:r>
          </a:p>
        </p:txBody>
      </p:sp>
      <p:sp>
        <p:nvSpPr>
          <p:cNvPr id="10" name="Rectangle 9"/>
          <p:cNvSpPr/>
          <p:nvPr/>
        </p:nvSpPr>
        <p:spPr>
          <a:xfrm>
            <a:off x="6210147" y="1874519"/>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11315" y="2176272"/>
            <a:ext cx="310896" cy="310896"/>
          </a:xfrm>
          <a:prstGeom prst="ellipse">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11315" y="2167127"/>
            <a:ext cx="310896" cy="310896"/>
          </a:xfrm>
          <a:prstGeom prst="rect">
            <a:avLst/>
          </a:prstGeom>
          <a:noFill/>
        </p:spPr>
        <p:txBody>
          <a:bodyPr wrap="square" lIns="0" rIns="0" tIns="0" bIns="0" anchor="ctr">
            <a:spAutoFit/>
          </a:bodyPr>
          <a:lstStyle/>
          <a:p>
            <a:pPr algn="ctr">
              <a:spcAft>
                <a:spcPts val="400"/>
              </a:spcAft>
            </a:pPr>
            <a:r>
              <a:rPr sz="1000" b="1" i="0">
                <a:solidFill>
                  <a:srgbClr val="FFFFFF"/>
                </a:solidFill>
                <a:latin typeface="Inter"/>
              </a:rPr>
              <a:t>2</a:t>
            </a:r>
          </a:p>
        </p:txBody>
      </p:sp>
      <p:sp>
        <p:nvSpPr>
          <p:cNvPr id="13" name="TextBox 12"/>
          <p:cNvSpPr txBox="1"/>
          <p:nvPr/>
        </p:nvSpPr>
        <p:spPr>
          <a:xfrm>
            <a:off x="6895947" y="194767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Never use &amp; or + in place of 'and' in body copy</a:t>
            </a:r>
          </a:p>
        </p:txBody>
      </p:sp>
      <p:sp>
        <p:nvSpPr>
          <p:cNvPr id="14" name="Rectangle 13"/>
          <p:cNvSpPr/>
          <p:nvPr/>
        </p:nvSpPr>
        <p:spPr>
          <a:xfrm>
            <a:off x="502920" y="2926079"/>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04088" y="3227832"/>
            <a:ext cx="310896" cy="310896"/>
          </a:xfrm>
          <a:prstGeom prst="ellipse">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04088" y="3218687"/>
            <a:ext cx="310896" cy="310896"/>
          </a:xfrm>
          <a:prstGeom prst="rect">
            <a:avLst/>
          </a:prstGeom>
          <a:noFill/>
        </p:spPr>
        <p:txBody>
          <a:bodyPr wrap="square" lIns="0" rIns="0" tIns="0" bIns="0" anchor="ctr">
            <a:spAutoFit/>
          </a:bodyPr>
          <a:lstStyle/>
          <a:p>
            <a:pPr algn="ctr">
              <a:spcAft>
                <a:spcPts val="400"/>
              </a:spcAft>
            </a:pPr>
            <a:r>
              <a:rPr sz="1000" b="1" i="0">
                <a:solidFill>
                  <a:srgbClr val="FFFFFF"/>
                </a:solidFill>
                <a:latin typeface="Inter"/>
              </a:rPr>
              <a:t>3</a:t>
            </a:r>
          </a:p>
        </p:txBody>
      </p:sp>
      <p:sp>
        <p:nvSpPr>
          <p:cNvPr id="17" name="TextBox 16"/>
          <p:cNvSpPr txBox="1"/>
          <p:nvPr/>
        </p:nvSpPr>
        <p:spPr>
          <a:xfrm>
            <a:off x="1188720" y="299923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Dates: October 28, 2026</a:t>
            </a:r>
          </a:p>
        </p:txBody>
      </p:sp>
      <p:sp>
        <p:nvSpPr>
          <p:cNvPr id="18" name="Rectangle 17"/>
          <p:cNvSpPr/>
          <p:nvPr/>
        </p:nvSpPr>
        <p:spPr>
          <a:xfrm>
            <a:off x="6210147" y="2926079"/>
            <a:ext cx="5478627" cy="9144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11315" y="3227832"/>
            <a:ext cx="310896" cy="310896"/>
          </a:xfrm>
          <a:prstGeom prst="ellipse">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1315" y="3218687"/>
            <a:ext cx="310896" cy="310896"/>
          </a:xfrm>
          <a:prstGeom prst="rect">
            <a:avLst/>
          </a:prstGeom>
          <a:noFill/>
        </p:spPr>
        <p:txBody>
          <a:bodyPr wrap="square" lIns="0" rIns="0" tIns="0" bIns="0" anchor="ctr">
            <a:spAutoFit/>
          </a:bodyPr>
          <a:lstStyle/>
          <a:p>
            <a:pPr algn="ctr">
              <a:spcAft>
                <a:spcPts val="400"/>
              </a:spcAft>
            </a:pPr>
            <a:r>
              <a:rPr sz="1000" b="1" i="0">
                <a:solidFill>
                  <a:srgbClr val="FFFFFF"/>
                </a:solidFill>
                <a:latin typeface="Inter"/>
              </a:rPr>
              <a:t>4</a:t>
            </a:r>
          </a:p>
        </p:txBody>
      </p:sp>
      <p:sp>
        <p:nvSpPr>
          <p:cNvPr id="21" name="TextBox 20"/>
          <p:cNvSpPr txBox="1"/>
          <p:nvPr/>
        </p:nvSpPr>
        <p:spPr>
          <a:xfrm>
            <a:off x="6895947" y="2999232"/>
            <a:ext cx="4609947" cy="768096"/>
          </a:xfrm>
          <a:prstGeom prst="rect">
            <a:avLst/>
          </a:prstGeom>
          <a:noFill/>
        </p:spPr>
        <p:txBody>
          <a:bodyPr wrap="square" lIns="0" rIns="0" tIns="0" bIns="0" anchor="ctr">
            <a:spAutoFit/>
          </a:bodyPr>
          <a:lstStyle/>
          <a:p>
            <a:pPr algn="l">
              <a:spcAft>
                <a:spcPts val="400"/>
              </a:spcAft>
            </a:pPr>
            <a:r>
              <a:rPr sz="1250" b="0" i="0">
                <a:solidFill>
                  <a:srgbClr val="0E1525"/>
                </a:solidFill>
                <a:latin typeface="Inter"/>
              </a:rPr>
              <a:t>Phone: +1-303-555-0100</a:t>
            </a:r>
          </a:p>
        </p:txBody>
      </p:sp>
      <p:sp>
        <p:nvSpPr>
          <p:cNvPr id="22" name="TextBox 21"/>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Writing Style</a:t>
            </a:r>
          </a:p>
        </p:txBody>
      </p:sp>
      <p:sp>
        <p:nvSpPr>
          <p:cNvPr id="23" name="TextBox 22"/>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37 / 41</a:t>
            </a:r>
          </a:p>
        </p:txBody>
      </p:sp>
      <p:pic>
        <p:nvPicPr>
          <p:cNvPr id="24" name="Picture 23"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TextBox 1"/>
          <p:cNvSpPr txBox="1"/>
          <p:nvPr/>
        </p:nvSpPr>
        <p:spPr>
          <a:xfrm>
            <a:off x="731520" y="2331720"/>
            <a:ext cx="2743200" cy="457200"/>
          </a:xfrm>
          <a:prstGeom prst="rect">
            <a:avLst/>
          </a:prstGeom>
          <a:noFill/>
        </p:spPr>
        <p:txBody>
          <a:bodyPr wrap="square" lIns="0" rIns="0" tIns="0" bIns="0" anchor="t">
            <a:spAutoFit/>
          </a:bodyPr>
          <a:lstStyle/>
          <a:p>
            <a:pPr algn="l">
              <a:spcAft>
                <a:spcPts val="400"/>
              </a:spcAft>
            </a:pPr>
            <a:r>
              <a:rPr sz="1400" b="1" i="0" spc="200">
                <a:solidFill>
                  <a:srgbClr val="1F5EFF"/>
                </a:solidFill>
                <a:latin typeface="Inter"/>
              </a:rPr>
              <a:t>07</a:t>
            </a:r>
          </a:p>
        </p:txBody>
      </p:sp>
      <p:sp>
        <p:nvSpPr>
          <p:cNvPr id="3" name="TextBox 2"/>
          <p:cNvSpPr txBox="1"/>
          <p:nvPr/>
        </p:nvSpPr>
        <p:spPr>
          <a:xfrm>
            <a:off x="731520" y="2697480"/>
            <a:ext cx="8229600" cy="1097280"/>
          </a:xfrm>
          <a:prstGeom prst="rect">
            <a:avLst/>
          </a:prstGeom>
          <a:noFill/>
        </p:spPr>
        <p:txBody>
          <a:bodyPr wrap="square" lIns="0" rIns="0" tIns="0" bIns="0" anchor="t">
            <a:spAutoFit/>
          </a:bodyPr>
          <a:lstStyle/>
          <a:p>
            <a:pPr algn="l">
              <a:spcAft>
                <a:spcPts val="400"/>
              </a:spcAft>
            </a:pPr>
            <a:r>
              <a:rPr sz="4800" b="0" i="0">
                <a:solidFill>
                  <a:srgbClr val="FFFFFF"/>
                </a:solidFill>
                <a:latin typeface="Inter Display"/>
              </a:rPr>
              <a:t>Using This Guide</a:t>
            </a:r>
          </a:p>
        </p:txBody>
      </p:sp>
      <p:pic>
        <p:nvPicPr>
          <p:cNvPr id="4" name="Picture 3" descr="image.png"/>
          <p:cNvPicPr>
            <a:picLocks noChangeAspect="1"/>
          </p:cNvPicPr>
          <p:nvPr/>
        </p:nvPicPr>
        <p:blipFill>
          <a:blip r:embed="rId2"/>
          <a:stretch>
            <a:fillRect/>
          </a:stretch>
        </p:blipFill>
        <p:spPr>
          <a:xfrm>
            <a:off x="10957255" y="511159"/>
            <a:ext cx="731520" cy="21212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502920"/>
            <a:ext cx="134599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502920"/>
            <a:ext cx="134599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USING THIS GUIDE</a:t>
            </a:r>
          </a:p>
        </p:txBody>
      </p:sp>
      <p:sp>
        <p:nvSpPr>
          <p:cNvPr id="4" name="TextBox 3"/>
          <p:cNvSpPr txBox="1"/>
          <p:nvPr/>
        </p:nvSpPr>
        <p:spPr>
          <a:xfrm>
            <a:off x="502920" y="841248"/>
            <a:ext cx="11185855" cy="548640"/>
          </a:xfrm>
          <a:prstGeom prst="rect">
            <a:avLst/>
          </a:prstGeom>
          <a:noFill/>
        </p:spPr>
        <p:txBody>
          <a:bodyPr wrap="square" lIns="0" rIns="0" tIns="0" bIns="0" anchor="t">
            <a:spAutoFit/>
          </a:bodyPr>
          <a:lstStyle/>
          <a:p>
            <a:pPr algn="l">
              <a:spcAft>
                <a:spcPts val="400"/>
              </a:spcAft>
            </a:pPr>
            <a:r>
              <a:rPr sz="2600" b="0" i="0">
                <a:solidFill>
                  <a:srgbClr val="0E1525"/>
                </a:solidFill>
                <a:latin typeface="Inter Display"/>
              </a:rPr>
              <a:t>Brand Checklist</a:t>
            </a:r>
          </a:p>
        </p:txBody>
      </p:sp>
      <p:sp>
        <p:nvSpPr>
          <p:cNvPr id="5" name="TextBox 4"/>
          <p:cNvSpPr txBox="1"/>
          <p:nvPr/>
        </p:nvSpPr>
        <p:spPr>
          <a:xfrm>
            <a:off x="502920" y="1371600"/>
            <a:ext cx="11185855" cy="457200"/>
          </a:xfrm>
          <a:prstGeom prst="rect">
            <a:avLst/>
          </a:prstGeom>
          <a:noFill/>
        </p:spPr>
        <p:txBody>
          <a:bodyPr wrap="square" lIns="0" rIns="0" tIns="0" bIns="0" anchor="t">
            <a:spAutoFit/>
          </a:bodyPr>
          <a:lstStyle/>
          <a:p>
            <a:pPr algn="l">
              <a:spcAft>
                <a:spcPts val="400"/>
              </a:spcAft>
            </a:pPr>
            <a:r>
              <a:rPr sz="1100" b="0" i="0">
                <a:solidFill>
                  <a:srgbClr val="6B778C"/>
                </a:solidFill>
                <a:latin typeface="Inter"/>
              </a:rPr>
              <a:t>Run through this before anything ships.</a:t>
            </a:r>
          </a:p>
        </p:txBody>
      </p:sp>
      <p:sp>
        <p:nvSpPr>
          <p:cNvPr id="6" name="Rounded Rectangle 5"/>
          <p:cNvSpPr/>
          <p:nvPr/>
        </p:nvSpPr>
        <p:spPr>
          <a:xfrm>
            <a:off x="502920" y="1874519"/>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828800"/>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Is this the current logo file from the official source?</a:t>
            </a:r>
          </a:p>
        </p:txBody>
      </p:sp>
      <p:sp>
        <p:nvSpPr>
          <p:cNvPr id="8" name="Rounded Rectangle 7"/>
          <p:cNvSpPr/>
          <p:nvPr/>
        </p:nvSpPr>
        <p:spPr>
          <a:xfrm>
            <a:off x="502920" y="2496312"/>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2450592"/>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Is the logo version right for the background (light vs. dark)?</a:t>
            </a:r>
          </a:p>
        </p:txBody>
      </p:sp>
      <p:sp>
        <p:nvSpPr>
          <p:cNvPr id="10" name="Rounded Rectangle 9"/>
          <p:cNvSpPr/>
          <p:nvPr/>
        </p:nvSpPr>
        <p:spPr>
          <a:xfrm>
            <a:off x="502920" y="3118104"/>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60120" y="3072384"/>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Is the logo clear space respected and above minimum size?</a:t>
            </a:r>
          </a:p>
        </p:txBody>
      </p:sp>
      <p:sp>
        <p:nvSpPr>
          <p:cNvPr id="12" name="Rounded Rectangle 11"/>
          <p:cNvSpPr/>
          <p:nvPr/>
        </p:nvSpPr>
        <p:spPr>
          <a:xfrm>
            <a:off x="502920" y="3739896"/>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0120" y="3694176"/>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Are all colors from the approved palette, using exact values?</a:t>
            </a:r>
          </a:p>
        </p:txBody>
      </p:sp>
      <p:sp>
        <p:nvSpPr>
          <p:cNvPr id="14" name="Rounded Rectangle 13"/>
          <p:cNvSpPr/>
          <p:nvPr/>
        </p:nvSpPr>
        <p:spPr>
          <a:xfrm>
            <a:off x="502920" y="4361688"/>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0120" y="4315968"/>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Do text and background pairs meet contrast guidelines?</a:t>
            </a:r>
          </a:p>
        </p:txBody>
      </p:sp>
      <p:sp>
        <p:nvSpPr>
          <p:cNvPr id="16" name="Rounded Rectangle 15"/>
          <p:cNvSpPr/>
          <p:nvPr/>
        </p:nvSpPr>
        <p:spPr>
          <a:xfrm>
            <a:off x="6172200" y="1874519"/>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629400" y="1828800"/>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Are the brand typefaces (or approved fallbacks) used?</a:t>
            </a:r>
          </a:p>
        </p:txBody>
      </p:sp>
      <p:sp>
        <p:nvSpPr>
          <p:cNvPr id="18" name="Rounded Rectangle 17"/>
          <p:cNvSpPr/>
          <p:nvPr/>
        </p:nvSpPr>
        <p:spPr>
          <a:xfrm>
            <a:off x="6172200" y="2496312"/>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629400" y="2450592"/>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Are company and product names written correctly?</a:t>
            </a:r>
          </a:p>
        </p:txBody>
      </p:sp>
      <p:sp>
        <p:nvSpPr>
          <p:cNvPr id="20" name="Rounded Rectangle 19"/>
          <p:cNvSpPr/>
          <p:nvPr/>
        </p:nvSpPr>
        <p:spPr>
          <a:xfrm>
            <a:off x="6172200" y="3118104"/>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629400" y="3072384"/>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Does photography match the brand direction?</a:t>
            </a:r>
          </a:p>
        </p:txBody>
      </p:sp>
      <p:sp>
        <p:nvSpPr>
          <p:cNvPr id="22" name="Rounded Rectangle 21"/>
          <p:cNvSpPr/>
          <p:nvPr/>
        </p:nvSpPr>
        <p:spPr>
          <a:xfrm>
            <a:off x="6172200" y="3739896"/>
            <a:ext cx="274320" cy="274320"/>
          </a:xfrm>
          <a:prstGeom prst="roundRect">
            <a:avLst>
              <a:gd name="adj" fmla="val 15000"/>
            </a:avLst>
          </a:prstGeom>
          <a:noFill/>
          <a:ln w="9525">
            <a:solidFill>
              <a:srgbClr val="1F5E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629400" y="3694176"/>
            <a:ext cx="5029200" cy="548640"/>
          </a:xfrm>
          <a:prstGeom prst="rect">
            <a:avLst/>
          </a:prstGeom>
          <a:noFill/>
        </p:spPr>
        <p:txBody>
          <a:bodyPr wrap="square" lIns="0" rIns="0" tIns="0" bIns="0" anchor="t">
            <a:spAutoFit/>
          </a:bodyPr>
          <a:lstStyle/>
          <a:p>
            <a:pPr algn="l">
              <a:spcAft>
                <a:spcPts val="400"/>
              </a:spcAft>
            </a:pPr>
            <a:r>
              <a:rPr sz="1200" b="0" i="0">
                <a:solidFill>
                  <a:srgbClr val="0E1525"/>
                </a:solidFill>
                <a:latin typeface="Inter"/>
              </a:rPr>
              <a:t>Are partner logos balanced and spaced per co-branding rules?</a:t>
            </a:r>
          </a:p>
        </p:txBody>
      </p:sp>
      <p:sp>
        <p:nvSpPr>
          <p:cNvPr id="24" name="TextBox 23"/>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Using This Guide</a:t>
            </a:r>
          </a:p>
        </p:txBody>
      </p:sp>
      <p:sp>
        <p:nvSpPr>
          <p:cNvPr id="25" name="TextBox 24"/>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39 / 41</a:t>
            </a:r>
          </a:p>
        </p:txBody>
      </p:sp>
      <p:pic>
        <p:nvPicPr>
          <p:cNvPr id="26" name="Picture 25"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977639" y="0"/>
            <a:ext cx="821405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777240"/>
            <a:ext cx="1345996"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777240"/>
            <a:ext cx="1345996"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USING THIS GUIDE</a:t>
            </a:r>
          </a:p>
        </p:txBody>
      </p:sp>
      <p:sp>
        <p:nvSpPr>
          <p:cNvPr id="5" name="TextBox 4"/>
          <p:cNvSpPr txBox="1"/>
          <p:nvPr/>
        </p:nvSpPr>
        <p:spPr>
          <a:xfrm>
            <a:off x="502920" y="1143000"/>
            <a:ext cx="3154679" cy="1188720"/>
          </a:xfrm>
          <a:prstGeom prst="rect">
            <a:avLst/>
          </a:prstGeom>
          <a:noFill/>
        </p:spPr>
        <p:txBody>
          <a:bodyPr wrap="square" lIns="0" rIns="0" tIns="0" bIns="0" anchor="t">
            <a:spAutoFit/>
          </a:bodyPr>
          <a:lstStyle/>
          <a:p>
            <a:pPr algn="l">
              <a:lnSpc>
                <a:spcPct val="95000"/>
              </a:lnSpc>
              <a:spcAft>
                <a:spcPts val="400"/>
              </a:spcAft>
            </a:pPr>
            <a:r>
              <a:rPr sz="2800" b="0" i="0">
                <a:solidFill>
                  <a:srgbClr val="0E1525"/>
                </a:solidFill>
                <a:latin typeface="Inter Display"/>
              </a:rPr>
              <a:t>Questions and Resources</a:t>
            </a:r>
          </a:p>
        </p:txBody>
      </p:sp>
      <p:sp>
        <p:nvSpPr>
          <p:cNvPr id="6" name="TextBox 5"/>
          <p:cNvSpPr txBox="1"/>
          <p:nvPr/>
        </p:nvSpPr>
        <p:spPr>
          <a:xfrm>
            <a:off x="502920" y="2331720"/>
            <a:ext cx="3108959" cy="2743200"/>
          </a:xfrm>
          <a:prstGeom prst="rect">
            <a:avLst/>
          </a:prstGeom>
          <a:noFill/>
        </p:spPr>
        <p:txBody>
          <a:bodyPr wrap="square" lIns="0" rIns="0" tIns="0" bIns="0" anchor="t">
            <a:spAutoFit/>
          </a:bodyPr>
          <a:lstStyle/>
          <a:p>
            <a:pPr algn="l">
              <a:lnSpc>
                <a:spcPct val="115000"/>
              </a:lnSpc>
              <a:spcAft>
                <a:spcPts val="700"/>
              </a:spcAft>
            </a:pPr>
            <a:r>
              <a:rPr sz="1100" b="0" i="0">
                <a:solidFill>
                  <a:srgbClr val="6B778C"/>
                </a:solidFill>
                <a:latin typeface="Inter"/>
              </a:rPr>
              <a:t>When in doubt, ask before you publish.</a:t>
            </a:r>
          </a:p>
        </p:txBody>
      </p:sp>
      <p:sp>
        <p:nvSpPr>
          <p:cNvPr id="7" name="Rectangle 6"/>
          <p:cNvSpPr/>
          <p:nvPr/>
        </p:nvSpPr>
        <p:spPr>
          <a:xfrm>
            <a:off x="4343400" y="822960"/>
            <a:ext cx="7436815" cy="777240"/>
          </a:xfrm>
          <a:prstGeom prst="rect">
            <a:avLst/>
          </a:prstGeom>
          <a:solidFill>
            <a:srgbClr val="FFFFFF"/>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17720" y="932688"/>
            <a:ext cx="6888175" cy="594360"/>
          </a:xfrm>
          <a:prstGeom prst="rect">
            <a:avLst/>
          </a:prstGeom>
          <a:noFill/>
        </p:spPr>
        <p:txBody>
          <a:bodyPr wrap="square" lIns="0" rIns="0" tIns="0" bIns="0" anchor="t">
            <a:spAutoFit/>
          </a:bodyPr>
          <a:lstStyle/>
          <a:p>
            <a:pPr algn="l">
              <a:spcAft>
                <a:spcPts val="200"/>
              </a:spcAft>
            </a:pPr>
            <a:r>
              <a:rPr sz="900" b="1" i="0">
                <a:solidFill>
                  <a:srgbClr val="1F5EFF"/>
                </a:solidFill>
                <a:latin typeface="Inter"/>
              </a:rPr>
              <a:t>Brand approvals</a:t>
            </a:r>
          </a:p>
          <a:p>
            <a:pPr algn="l">
              <a:spcAft>
                <a:spcPts val="200"/>
              </a:spcAft>
            </a:pPr>
            <a:r>
              <a:rPr sz="1200" b="0" i="0">
                <a:solidFill>
                  <a:srgbClr val="0E1525"/>
                </a:solidFill>
                <a:latin typeface="Inter"/>
              </a:rPr>
              <a:t>Brand team  |  brand@halyard.example</a:t>
            </a:r>
          </a:p>
        </p:txBody>
      </p:sp>
      <p:sp>
        <p:nvSpPr>
          <p:cNvPr id="9" name="TextBox 8"/>
          <p:cNvSpPr txBox="1"/>
          <p:nvPr/>
        </p:nvSpPr>
        <p:spPr>
          <a:xfrm>
            <a:off x="4343400" y="1828800"/>
            <a:ext cx="7436815" cy="548640"/>
          </a:xfrm>
          <a:prstGeom prst="rect">
            <a:avLst/>
          </a:prstGeom>
          <a:noFill/>
        </p:spPr>
        <p:txBody>
          <a:bodyPr wrap="square" lIns="0" rIns="0" tIns="0" bIns="0" anchor="t">
            <a:spAutoFit/>
          </a:bodyPr>
          <a:lstStyle/>
          <a:p>
            <a:pPr algn="l">
              <a:spcAft>
                <a:spcPts val="400"/>
              </a:spcAft>
            </a:pPr>
            <a:r>
              <a:rPr sz="1100" b="1" i="0">
                <a:solidFill>
                  <a:srgbClr val="0E1525"/>
                </a:solidFill>
                <a:latin typeface="Inter"/>
              </a:rPr>
              <a:t>Logo files, fonts, and templates: </a:t>
            </a:r>
            <a:r>
              <a:rPr sz="1100" b="0" i="0">
                <a:solidFill>
                  <a:srgbClr val="0E1525"/>
                </a:solidFill>
                <a:latin typeface="Inter"/>
              </a:rPr>
              <a:t>brand.halyard.example (logos, fonts, templates)</a:t>
            </a:r>
          </a:p>
        </p:txBody>
      </p:sp>
      <p:sp>
        <p:nvSpPr>
          <p:cNvPr id="10" name="TextBox 9"/>
          <p:cNvSpPr txBox="1"/>
          <p:nvPr/>
        </p:nvSpPr>
        <p:spPr>
          <a:xfrm>
            <a:off x="4343400" y="2560320"/>
            <a:ext cx="7436815" cy="274320"/>
          </a:xfrm>
          <a:prstGeom prst="rect">
            <a:avLst/>
          </a:prstGeom>
          <a:noFill/>
        </p:spPr>
        <p:txBody>
          <a:bodyPr wrap="square" lIns="0" rIns="0" tIns="0" bIns="0" anchor="t">
            <a:spAutoFit/>
          </a:bodyPr>
          <a:lstStyle/>
          <a:p>
            <a:pPr algn="l">
              <a:spcAft>
                <a:spcPts val="400"/>
              </a:spcAft>
            </a:pPr>
            <a:r>
              <a:rPr sz="850" b="1" i="0" spc="150">
                <a:solidFill>
                  <a:srgbClr val="1F5EFF"/>
                </a:solidFill>
                <a:latin typeface="Inter"/>
              </a:rPr>
              <a:t>VERSION HISTORY</a:t>
            </a:r>
          </a:p>
        </p:txBody>
      </p:sp>
      <p:sp>
        <p:nvSpPr>
          <p:cNvPr id="11" name="TextBox 10"/>
          <p:cNvSpPr txBox="1"/>
          <p:nvPr/>
        </p:nvSpPr>
        <p:spPr>
          <a:xfrm>
            <a:off x="4343400" y="2880360"/>
            <a:ext cx="7436815" cy="1828800"/>
          </a:xfrm>
          <a:prstGeom prst="rect">
            <a:avLst/>
          </a:prstGeom>
          <a:noFill/>
        </p:spPr>
        <p:txBody>
          <a:bodyPr wrap="square" lIns="0" rIns="0" tIns="0" bIns="0" anchor="t">
            <a:spAutoFit/>
          </a:bodyPr>
          <a:lstStyle/>
          <a:p>
            <a:pPr algn="l">
              <a:spcAft>
                <a:spcPts val="400"/>
              </a:spcAft>
            </a:pPr>
            <a:r>
              <a:rPr sz="1000" b="0" i="0">
                <a:solidFill>
                  <a:srgbClr val="6B778C"/>
                </a:solidFill>
                <a:latin typeface="Inter"/>
              </a:rPr>
              <a:t>1.0  October 2026  First edition</a:t>
            </a:r>
          </a:p>
        </p:txBody>
      </p:sp>
      <p:sp>
        <p:nvSpPr>
          <p:cNvPr id="12" name="TextBox 11"/>
          <p:cNvSpPr txBox="1"/>
          <p:nvPr/>
        </p:nvSpPr>
        <p:spPr>
          <a:xfrm>
            <a:off x="502920" y="6473952"/>
            <a:ext cx="5486400" cy="228600"/>
          </a:xfrm>
          <a:prstGeom prst="rect">
            <a:avLst/>
          </a:prstGeom>
          <a:noFill/>
        </p:spPr>
        <p:txBody>
          <a:bodyPr wrap="square" lIns="0" rIns="0" tIns="0" bIns="0" anchor="t">
            <a:spAutoFit/>
          </a:bodyPr>
          <a:lstStyle/>
          <a:p>
            <a:pPr algn="l">
              <a:spcAft>
                <a:spcPts val="400"/>
              </a:spcAft>
            </a:pPr>
            <a:r>
              <a:rPr sz="750" b="0" i="0">
                <a:solidFill>
                  <a:srgbClr val="6B778C"/>
                </a:solidFill>
                <a:latin typeface="Inter"/>
              </a:rPr>
              <a:t>Halyard  |  Brand Guidelines  |  Using This Guide</a:t>
            </a:r>
          </a:p>
        </p:txBody>
      </p:sp>
      <p:sp>
        <p:nvSpPr>
          <p:cNvPr id="13" name="TextBox 12"/>
          <p:cNvSpPr txBox="1"/>
          <p:nvPr/>
        </p:nvSpPr>
        <p:spPr>
          <a:xfrm>
            <a:off x="11002975" y="6473952"/>
            <a:ext cx="731520" cy="228600"/>
          </a:xfrm>
          <a:prstGeom prst="rect">
            <a:avLst/>
          </a:prstGeom>
          <a:noFill/>
        </p:spPr>
        <p:txBody>
          <a:bodyPr wrap="square" lIns="0" rIns="0" tIns="0" bIns="0" anchor="t">
            <a:spAutoFit/>
          </a:bodyPr>
          <a:lstStyle/>
          <a:p>
            <a:pPr algn="r">
              <a:spcAft>
                <a:spcPts val="400"/>
              </a:spcAft>
            </a:pPr>
            <a:r>
              <a:rPr sz="750" b="0" i="0">
                <a:solidFill>
                  <a:srgbClr val="6B778C"/>
                </a:solidFill>
                <a:latin typeface="Inter"/>
              </a:rPr>
              <a:t>40 / 41</a:t>
            </a:r>
          </a:p>
        </p:txBody>
      </p:sp>
      <p:pic>
        <p:nvPicPr>
          <p:cNvPr id="14" name="Picture 13" descr="image.png"/>
          <p:cNvPicPr>
            <a:picLocks noChangeAspect="1"/>
          </p:cNvPicPr>
          <p:nvPr/>
        </p:nvPicPr>
        <p:blipFill>
          <a:blip r:embed="rId2"/>
          <a:stretch>
            <a:fillRect/>
          </a:stretch>
        </p:blipFill>
        <p:spPr>
          <a:xfrm>
            <a:off x="11441887" y="365760"/>
            <a:ext cx="292608" cy="29260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Rounded Rectangle 1"/>
          <p:cNvSpPr/>
          <p:nvPr/>
        </p:nvSpPr>
        <p:spPr>
          <a:xfrm>
            <a:off x="822960" y="2240280"/>
            <a:ext cx="1016812" cy="237744"/>
          </a:xfrm>
          <a:prstGeom prst="roundRect">
            <a:avLst>
              <a:gd name="adj" fmla="val 15000"/>
            </a:avLst>
          </a:prstGeom>
          <a:solidFill>
            <a:srgbClr val="1F5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2240280"/>
            <a:ext cx="1016812" cy="237744"/>
          </a:xfrm>
          <a:prstGeom prst="rect">
            <a:avLst/>
          </a:prstGeom>
          <a:noFill/>
        </p:spPr>
        <p:txBody>
          <a:bodyPr wrap="square" lIns="0" rIns="0" tIns="0" bIns="0" anchor="ctr">
            <a:spAutoFit/>
          </a:bodyPr>
          <a:lstStyle/>
          <a:p>
            <a:pPr algn="ctr">
              <a:spcAft>
                <a:spcPts val="400"/>
              </a:spcAft>
            </a:pPr>
            <a:r>
              <a:rPr sz="800" b="1" i="0" spc="100">
                <a:solidFill>
                  <a:srgbClr val="FFFFFF"/>
                </a:solidFill>
                <a:latin typeface="Inter"/>
              </a:rPr>
              <a:t>OUR MISSION</a:t>
            </a:r>
          </a:p>
        </p:txBody>
      </p:sp>
      <p:sp>
        <p:nvSpPr>
          <p:cNvPr id="4" name="TextBox 3"/>
          <p:cNvSpPr txBox="1"/>
          <p:nvPr/>
        </p:nvSpPr>
        <p:spPr>
          <a:xfrm>
            <a:off x="822960" y="2606040"/>
            <a:ext cx="9601200" cy="2194560"/>
          </a:xfrm>
          <a:prstGeom prst="rect">
            <a:avLst/>
          </a:prstGeom>
          <a:noFill/>
        </p:spPr>
        <p:txBody>
          <a:bodyPr wrap="square" lIns="0" rIns="0" tIns="0" bIns="0" anchor="t">
            <a:spAutoFit/>
          </a:bodyPr>
          <a:lstStyle/>
          <a:p>
            <a:pPr algn="l">
              <a:lnSpc>
                <a:spcPct val="105000"/>
              </a:lnSpc>
              <a:spcAft>
                <a:spcPts val="400"/>
              </a:spcAft>
            </a:pPr>
            <a:r>
              <a:rPr sz="3800" b="0" i="0">
                <a:solidFill>
                  <a:srgbClr val="FFFFFF"/>
                </a:solidFill>
                <a:latin typeface="Inter Display"/>
              </a:rPr>
              <a:t>Give every security team the calm, clear signal they need to act.</a:t>
            </a:r>
          </a:p>
        </p:txBody>
      </p:sp>
      <p:pic>
        <p:nvPicPr>
          <p:cNvPr id="5" name="Picture 4" descr="image.png"/>
          <p:cNvPicPr>
            <a:picLocks noChangeAspect="1"/>
          </p:cNvPicPr>
          <p:nvPr/>
        </p:nvPicPr>
        <p:blipFill>
          <a:blip r:embed="rId2"/>
          <a:stretch>
            <a:fillRect/>
          </a:stretch>
        </p:blipFill>
        <p:spPr>
          <a:xfrm>
            <a:off x="9568136" y="5715000"/>
            <a:ext cx="1892038"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Halyard Brand Guidelines</dc:title>
  <dc:subject/>
  <dc:creator>Halyard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